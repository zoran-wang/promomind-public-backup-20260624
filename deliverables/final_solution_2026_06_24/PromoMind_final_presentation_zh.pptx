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ca62553596a4418" /><Relationship Type="http://schemas.openxmlformats.org/officeDocument/2006/relationships/extended-properties" Target="/docProps/app.xml" Id="R0d1c27830eaa4d00" /><Relationship Type="http://schemas.openxmlformats.org/officeDocument/2006/relationships/officeDocument" Target="/ppt/presentation.xml" Id="R71b10b9bd75140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e9be510b27b45d4"/>
  </p:sldMasterIdLst>
  <p:notesMasterIdLst>
    <p:notesMasterId xmlns:r="http://schemas.openxmlformats.org/officeDocument/2006/relationships" r:id="Rd5b5efea097f4b02"/>
  </p:notesMasterIdLst>
  <p:sldIdLst>
    <p:sldId xmlns:r="http://schemas.openxmlformats.org/officeDocument/2006/relationships" id="256" r:id="Ra572f5db470341bc"/>
    <p:sldId xmlns:r="http://schemas.openxmlformats.org/officeDocument/2006/relationships" id="257" r:id="R96d2311645b743ae"/>
    <p:sldId xmlns:r="http://schemas.openxmlformats.org/officeDocument/2006/relationships" id="258" r:id="R1c160e697b7e4cb9"/>
    <p:sldId xmlns:r="http://schemas.openxmlformats.org/officeDocument/2006/relationships" id="259" r:id="R1dd83a4168cd4940"/>
    <p:sldId xmlns:r="http://schemas.openxmlformats.org/officeDocument/2006/relationships" id="260" r:id="R26eac9dd96794089"/>
    <p:sldId xmlns:r="http://schemas.openxmlformats.org/officeDocument/2006/relationships" id="261" r:id="Rabc8d45f328f40a7"/>
    <p:sldId xmlns:r="http://schemas.openxmlformats.org/officeDocument/2006/relationships" id="262" r:id="R285b05ccc8ee4f6c"/>
    <p:sldId xmlns:r="http://schemas.openxmlformats.org/officeDocument/2006/relationships" id="263" r:id="Re72921de4f8a4eff"/>
    <p:sldId xmlns:r="http://schemas.openxmlformats.org/officeDocument/2006/relationships" id="264" r:id="R14db47b629cc4829"/>
    <p:sldId xmlns:r="http://schemas.openxmlformats.org/officeDocument/2006/relationships" id="265" r:id="R6c2423644a124632"/>
    <p:sldId xmlns:r="http://schemas.openxmlformats.org/officeDocument/2006/relationships" id="266" r:id="Re6fe450651c74fa9"/>
    <p:sldId xmlns:r="http://schemas.openxmlformats.org/officeDocument/2006/relationships" id="267" r:id="R0e8b0eb9878542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633198260a43c0" /><Relationship Type="http://schemas.openxmlformats.org/officeDocument/2006/relationships/slideMaster" Target="/ppt/slideMasters/slideMaster1.xml" Id="Rfe9be510b27b45d4" /><Relationship Type="http://schemas.openxmlformats.org/officeDocument/2006/relationships/notesMaster" Target="/ppt/notesMasters/notesMaster1.xml" Id="Rd5b5efea097f4b02" /><Relationship Type="http://schemas.openxmlformats.org/officeDocument/2006/relationships/presProps" Target="/ppt/presProps.xml" Id="R2fd495fcf3e749f2" /><Relationship Type="http://schemas.openxmlformats.org/officeDocument/2006/relationships/tableStyles" Target="/ppt/tableStyles.xml" Id="Rd6ca9c4767cb4546" /><Relationship Type="http://schemas.openxmlformats.org/officeDocument/2006/relationships/slide" Target="/ppt/slides/slide1.xml" Id="Ra572f5db470341bc" /><Relationship Type="http://schemas.openxmlformats.org/officeDocument/2006/relationships/slide" Target="/ppt/slides/slide2.xml" Id="R96d2311645b743ae" /><Relationship Type="http://schemas.openxmlformats.org/officeDocument/2006/relationships/slide" Target="/ppt/slides/slide3.xml" Id="R1c160e697b7e4cb9" /><Relationship Type="http://schemas.openxmlformats.org/officeDocument/2006/relationships/slide" Target="/ppt/slides/slide4.xml" Id="R1dd83a4168cd4940" /><Relationship Type="http://schemas.openxmlformats.org/officeDocument/2006/relationships/slide" Target="/ppt/slides/slide5.xml" Id="R26eac9dd96794089" /><Relationship Type="http://schemas.openxmlformats.org/officeDocument/2006/relationships/slide" Target="/ppt/slides/slide6.xml" Id="Rabc8d45f328f40a7" /><Relationship Type="http://schemas.openxmlformats.org/officeDocument/2006/relationships/slide" Target="/ppt/slides/slide7.xml" Id="R285b05ccc8ee4f6c" /><Relationship Type="http://schemas.openxmlformats.org/officeDocument/2006/relationships/slide" Target="/ppt/slides/slide8.xml" Id="Re72921de4f8a4eff" /><Relationship Type="http://schemas.openxmlformats.org/officeDocument/2006/relationships/slide" Target="/ppt/slides/slide9.xml" Id="R14db47b629cc4829" /><Relationship Type="http://schemas.openxmlformats.org/officeDocument/2006/relationships/slide" Target="/ppt/slides/slide10.xml" Id="R6c2423644a124632" /><Relationship Type="http://schemas.openxmlformats.org/officeDocument/2006/relationships/slide" Target="/ppt/slides/slide11.xml" Id="Re6fe450651c74fa9" /><Relationship Type="http://schemas.openxmlformats.org/officeDocument/2006/relationships/slide" Target="/ppt/slides/slide12.xml" Id="R0e8b0eb9878542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fb0c98141c647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7cd0dba1cca48b2" /><Relationship Type="http://schemas.openxmlformats.org/officeDocument/2006/relationships/notesMaster" Target="/ppt/notesMasters/notesMaster1.xml" Id="Rf38ad6607d534b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d1c9a372a144b58" /><Relationship Type="http://schemas.openxmlformats.org/officeDocument/2006/relationships/notesMaster" Target="/ppt/notesMasters/notesMaster1.xml" Id="R1e45c5ef10944e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c2784ad09d4cb4" /><Relationship Type="http://schemas.openxmlformats.org/officeDocument/2006/relationships/notesMaster" Target="/ppt/notesMasters/notesMaster1.xml" Id="R6a630786b0fd41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edbbe63228473b" /><Relationship Type="http://schemas.openxmlformats.org/officeDocument/2006/relationships/notesMaster" Target="/ppt/notesMasters/notesMaster1.xml" Id="Rabd8f6c4515c46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df4e2617c1b4854" /><Relationship Type="http://schemas.openxmlformats.org/officeDocument/2006/relationships/notesMaster" Target="/ppt/notesMasters/notesMaster1.xml" Id="Rc1b92588ab9945a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d1606ffd38e4af0" /><Relationship Type="http://schemas.openxmlformats.org/officeDocument/2006/relationships/notesMaster" Target="/ppt/notesMasters/notesMaster1.xml" Id="Rcc0045e53a88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3a6554a0974d24" /><Relationship Type="http://schemas.openxmlformats.org/officeDocument/2006/relationships/notesMaster" Target="/ppt/notesMasters/notesMaster1.xml" Id="R33b448617df8423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e97f6bcb73499a" /><Relationship Type="http://schemas.openxmlformats.org/officeDocument/2006/relationships/notesMaster" Target="/ppt/notesMasters/notesMaster1.xml" Id="Red85c265ed1e492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c866089f4841cd" /><Relationship Type="http://schemas.openxmlformats.org/officeDocument/2006/relationships/notesMaster" Target="/ppt/notesMasters/notesMaster1.xml" Id="R38af46d1a73a47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bfb86c8b214fe9" /><Relationship Type="http://schemas.openxmlformats.org/officeDocument/2006/relationships/notesMaster" Target="/ppt/notesMasters/notesMaster1.xml" Id="R766ac3a65ae4449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572c1d775bd4798" /><Relationship Type="http://schemas.openxmlformats.org/officeDocument/2006/relationships/notesMaster" Target="/ppt/notesMasters/notesMaster1.xml" Id="R6a97b4cf4abb45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bd1471778034f14" /><Relationship Type="http://schemas.openxmlformats.org/officeDocument/2006/relationships/notesMaster" Target="/ppt/notesMasters/notesMaster1.xml" Id="R8d81fe2ba02e41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开场先讲业务问题。</a:t>
            </a:r>
          </a:p>
          <a:p xmlns:a="http://schemas.openxmlformats.org/drawingml/2006/main">
            <a:r>
              <a:t>这不是普通电影推荐，是 grocery coupon response ranking。</a:t>
            </a:r>
          </a:p>
          <a:p xmlns:a="http://schemas.openxmlformats.org/drawingml/2006/main">
            <a:r>
              <a:t>最终结果只在我们的 Complete Journey coupon-response protocol 下成立。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这一页用于告诉老师：final solution 要求全部覆盖。</a:t>
            </a:r>
          </a:p>
          <a:p xmlns:a="http://schemas.openxmlformats.org/drawingml/2006/main">
            <a:r>
              <a:t>不要展开每个技术细节，后面各页逐一证明。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强调数据是真实零售数据，不是 MovieLens 类评分数据。</a:t>
            </a:r>
          </a:p>
          <a:p xmlns:a="http://schemas.openxmlformats.org/drawingml/2006/main">
            <a:r>
              <a:t>说明 redemption 稀疏，所以不把 redemption 当唯一 label。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这页要讲清楚任务定义变化。</a:t>
            </a:r>
          </a:p>
          <a:p xmlns:a="http://schemas.openxmlformats.org/drawingml/2006/main">
            <a:r>
              <a:t>这是观察数据 response ranking，不是随机实验 uplift。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用架构说明每个模块的角色。</a:t>
            </a:r>
          </a:p>
          <a:p xmlns:a="http://schemas.openxmlformats.org/drawingml/2006/main">
            <a:r>
              <a:t>候选生成和 coupon-response ranking 是两个不同任务。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候选模型不是最终主指标，但证明我们覆盖了推荐算法比较。</a:t>
            </a:r>
          </a:p>
          <a:p xmlns:a="http://schemas.openxmlformats.org/drawingml/2006/main">
            <a:r>
              <a:t>Cornac TIFUKNN 和 rank ensemble 是候选阶段最强证据。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说明最终模型不是简单公式调权，而是监督式排序。</a:t>
            </a:r>
          </a:p>
          <a:p xmlns:a="http://schemas.openxmlformats.org/drawingml/2006/main">
            <a:r>
              <a:t>pull-forward label 是业务假设：提前发券窗口与历史复购节奏相关。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这页是核心结果。</a:t>
            </a:r>
          </a:p>
          <a:p xmlns:a="http://schemas.openxmlformats.org/drawingml/2006/main">
            <a:r>
              <a:t>强调所有最终数值来自 held-out campaign test split。</a:t>
            </a:r>
          </a:p>
          <a:p xmlns:a="http://schemas.openxmlformats.org/drawingml/2006/main">
            <a:r>
              <a:t>不要说 universal SOTA。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这一页满足 attempted extensions with evidence。</a:t>
            </a:r>
          </a:p>
          <a:p xmlns:a="http://schemas.openxmlformats.org/drawingml/2006/main">
            <a:r>
              <a:t>把失败实验讲成研究证据，不讲成工作失败。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这是防守页。</a:t>
            </a:r>
          </a:p>
          <a:p xmlns:a="http://schemas.openxmlformats.org/drawingml/2006/main">
            <a:r>
              <a:t>老师如果问 profit 或 uplift，直接说我们的数据不支持因果利润结论。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现场演示时只需要跑 Streamlit。</a:t>
            </a:r>
          </a:p>
          <a:p xmlns:a="http://schemas.openxmlformats.org/drawingml/2006/main">
            <a:r>
              <a:t>如果 outputs 缺失，用提交的 Top-10 sample 讲结果表。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结束时回到研究结论。</a:t>
            </a:r>
          </a:p>
          <a:p xmlns:a="http://schemas.openxmlformats.org/drawingml/2006/main">
            <a:r>
              <a:t>未来工作承认边界，也说明项目可以继续扩展。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ee754c089f4be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725325f34a4c93" /><Relationship Type="http://schemas.openxmlformats.org/officeDocument/2006/relationships/slideLayout" Target="/ppt/slideLayouts/slideLayout1.xml" Id="R7e74c8e305824f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74c8e305824f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6027be94c04d6b" /><Relationship Type="http://schemas.openxmlformats.org/officeDocument/2006/relationships/notesSlide" Target="/ppt/notesSlides/notesSlide1.xml" Id="Reabd03c5408444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de437d60f7454a" /><Relationship Type="http://schemas.openxmlformats.org/officeDocument/2006/relationships/notesSlide" Target="/ppt/notesSlides/notesSlide2.xml" Id="Red2721785c284f3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4391523b414ecd" /><Relationship Type="http://schemas.openxmlformats.org/officeDocument/2006/relationships/notesSlide" Target="/ppt/notesSlides/notesSlide3.xml" Id="Rb44b6d242af1466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e6430cf5a497c" /><Relationship Type="http://schemas.openxmlformats.org/officeDocument/2006/relationships/notesSlide" Target="/ppt/notesSlides/notesSlide4.xml" Id="R598144c3526946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9b005d8ca14456" /><Relationship Type="http://schemas.openxmlformats.org/officeDocument/2006/relationships/notesSlide" Target="/ppt/notesSlides/notesSlide5.xml" Id="R54e153bed41b45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132b0ca4141b0" /><Relationship Type="http://schemas.openxmlformats.org/officeDocument/2006/relationships/notesSlide" Target="/ppt/notesSlides/notesSlide6.xml" Id="R1472c5539f2547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0b71f10d7b41ad" /><Relationship Type="http://schemas.openxmlformats.org/officeDocument/2006/relationships/notesSlide" Target="/ppt/notesSlides/notesSlide7.xml" Id="R88caa886d6da45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33a652953441f" /><Relationship Type="http://schemas.openxmlformats.org/officeDocument/2006/relationships/chart" Target="/ppt/slides/charts/chart1.xml" Id="R17899108997e465e" /><Relationship Type="http://schemas.openxmlformats.org/officeDocument/2006/relationships/notesSlide" Target="/ppt/notesSlides/notesSlide8.xml" Id="Rc8f3ff3d459040f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c048034894d52" /><Relationship Type="http://schemas.openxmlformats.org/officeDocument/2006/relationships/notesSlide" Target="/ppt/notesSlides/notesSlide9.xml" Id="R90d70abf6da848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eed778cbf84ab9" /><Relationship Type="http://schemas.openxmlformats.org/officeDocument/2006/relationships/notesSlide" Target="/ppt/notesSlides/notesSlide10.xml" Id="R1109333567974cb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32d4f0b844898" /><Relationship Type="http://schemas.openxmlformats.org/officeDocument/2006/relationships/notesSlide" Target="/ppt/notesSlides/notesSlide11.xml" Id="R07aa862ea31e43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41ca016404177" /><Relationship Type="http://schemas.openxmlformats.org/officeDocument/2006/relationships/notesSlide" Target="/ppt/notesSlides/notesSlide12.xml" Id="Rac67172a96964a6b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grouping val="clustered"/>
        <c:varyColors val="0"/>
        <c:ser>
          <c:idx val="0"/>
          <c:order val="0"/>
          <c:tx>
            <c:v>Candidate-only baseline</c:v>
          </c:tx>
          <c:spPr>
            <a:solidFill xmlns:a="http://schemas.openxmlformats.org/drawingml/2006/main">
              <a:srgbClr val="EA6B5A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Recall@10</c:v>
              </c:pt>
              <c:pt idx="1">
                <c:v>NDCG@10</c:v>
              </c:pt>
              <c:pt idx="2">
                <c:v>Hit@10</c:v>
              </c:pt>
            </c:strLit>
          </c:cat>
          <c:val>
            <c:numLit>
              <c:formatCode>0.0</c:formatCode>
              <c:ptCount val="3"/>
              <c:pt idx="0">
                <c:v>0.157</c:v>
              </c:pt>
              <c:pt idx="1">
                <c:v>0.1489</c:v>
              </c:pt>
              <c:pt idx="2">
                <c:v>0.1927</c:v>
              </c:pt>
            </c:numLit>
          </c:val>
        </c:ser>
        <c:ser>
          <c:idx val="1"/>
          <c:order val="1"/>
          <c:tx>
            <c:v>Final tail fusion</c:v>
          </c:tx>
          <c:spPr>
            <a:solidFill xmlns:a="http://schemas.openxmlformats.org/drawingml/2006/main">
              <a:srgbClr val="0F766E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3"/>
              <c:pt idx="0">
                <c:v>Recall@10</c:v>
              </c:pt>
              <c:pt idx="1">
                <c:v>NDCG@10</c:v>
              </c:pt>
              <c:pt idx="2">
                <c:v>Hit@10</c:v>
              </c:pt>
            </c:strLit>
          </c:cat>
          <c:val>
            <c:numLit>
              <c:formatCode>0.0</c:formatCode>
              <c:ptCount val="3"/>
              <c:pt idx="0">
                <c:v>0.4138</c:v>
              </c:pt>
              <c:pt idx="1">
                <c:v>0.3225</c:v>
              </c:pt>
              <c:pt idx="2">
                <c:v>0.5321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821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8212B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6"/>
        </c:scaling>
        <c:delete val="0"/>
        <c:axPos val="l"/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D6673"/>
                </a:solidFill>
              </a:defRPr>
            </a:pPr>
          </a:p>
        </c:txPr>
        <c:crossAx val="48650112"/>
        <c:crosses val="autoZero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solidFill>
                <a:srgbClr val="18212B"/>
              </a:solidFill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089CAD5-D2D5-477C-932A-49C4E6939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12B"/>
                </a:solidFill>
              </a:defRPr>
            </a:pPr>
            <a:r>
              <a:rPr sz="4350" b="1">
                <a:solidFill>
                  <a:srgbClr val="18212B"/>
                </a:solidFill>
              </a:rPr>
              <a:t>PromoMind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BEA0FA-2D97-4B81-852D-EBFC91DF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81150"/>
            <a:ext cx="752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面向零售营销优化的促销感知购物篮与优惠券推荐系统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37C8C8-0B8C-4D26-984A-2F116841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673"/>
                </a:solidFill>
              </a:defRPr>
            </a:pPr>
            <a:r>
              <a:rPr sz="1500" b="0">
                <a:solidFill>
                  <a:srgbClr val="5D6673"/>
                </a:solidFill>
              </a:rPr>
              <a:t>Final Project Solution Presentation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EFFAC-E5DE-4618-ADCC-44408E70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12B"/>
                </a:solidFill>
              </a:defRPr>
            </a:pPr>
            <a:r>
              <a:rPr sz="1875" b="0">
                <a:solidFill>
                  <a:srgbClr val="18212B"/>
                </a:solidFill>
              </a:rPr>
              <a:t>核心问题：在有限营销预算下，哪些 campaign coupon products 更值得推荐给某个家庭？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4D6AD-9304-4AAC-9B1E-F1679149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823CF5-80E4-468E-B73C-4157145DE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811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0.4138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E8AF3-A2EF-4F9B-9F20-3F29665E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002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Held-out Recall@10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53F3A5-81E7-419F-A36C-AFEE2F98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860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2430F-26B2-4BBF-BA89-45FB3CAAD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384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0.3225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CDE19A-EC49-4A65-8E92-C9E507B7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2575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NDCG@10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FE63BD-C0AC-4E12-A26E-CEE5A6B6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43350"/>
            <a:ext cx="2857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EB0D56-7F05-44CE-82EE-A8CC5D133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95750"/>
            <a:ext cx="2514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8A5B"/>
                </a:solidFill>
              </a:defRPr>
            </a:pPr>
            <a:r>
              <a:rPr sz="2250" b="1">
                <a:solidFill>
                  <a:srgbClr val="1F8A5B"/>
                </a:solidFill>
              </a:rPr>
              <a:t>53.21%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BF88D-8E0C-4246-8232-5A445D5A0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Positive Event Hit@10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82FA82-4B4F-49D8-A868-C681D036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FA1B4-E70D-4BE9-923C-EAECEEEDE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72209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4FF5C4-B926-4919-A890-04C8B5B20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4206B4-0962-4B56-A13B-AA735BDC2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课程要求如何被覆盖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93A6D-A760-4CD2-838A-FC1AA768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81050" y="1676400"/>
          <a:ext xmlns:a="http://schemas.openxmlformats.org/drawingml/2006/main" cx="10287000" cy="36385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6858000"/>
              </a:tblGrid>
              <a:tr h="6064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课程要求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FFFFFF"/>
                          </a:solidFill>
                        </a:rPr>
                        <a:t>本项目交付证据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</a:tr>
              <a:tr h="6064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Finalized dataset / problem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The Complete Journey；household-campaign coupon-product ranking</a:t>
                      </a:r>
                    </a:p>
                  </a:txBody>
                  <a:tcPr marL="91440" marR="91440" marT="45720" marB="45720"/>
                </a:tc>
              </a:tr>
              <a:tr h="6064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Algorithms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Popularity、ItemKNN、ALS/BPR、TIFU-KNN、Cornac TIFUKNN、XGBoost LTR</a:t>
                      </a:r>
                    </a:p>
                  </a:txBody>
                  <a:tcPr marL="91440" marR="91440" marT="45720" marB="45720"/>
                </a:tc>
              </a:tr>
              <a:tr h="6064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Experimental results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held-out campaign test split；Recall/NDCG/Positive Event Hit</a:t>
                      </a:r>
                    </a:p>
                  </a:txBody>
                  <a:tcPr marL="91440" marR="91440" marT="45720" marB="45720"/>
                </a:tc>
              </a:tr>
              <a:tr h="6064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Extensions with evidence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neural ranker、text features、category embedding、tail fusion</a:t>
                      </a:r>
                    </a:p>
                  </a:txBody>
                  <a:tcPr marL="91440" marR="91440" marT="45720" marB="45720"/>
                </a:tc>
              </a:tr>
              <a:tr h="606425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Working demo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Streamlit demo + Top-10 fallback sample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8196DE-4275-457D-8413-40A842A0D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5816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汇报结构直接对应 June 24 final solution guideline。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4593F0-0155-47A3-926F-01F2C139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960F25-1609-4967-B32D-36AB23A8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53841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F4545F1-770F-4A05-A4DD-008D2106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8ECE4-8393-4C2B-A6F1-DE05AF396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数据集：The Complete Journey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7DD3FC-08D9-487C-A085-3509E909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F1174A-A5D3-4869-A705-FCA24635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581025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2,469 个家庭，一年级别真实 grocery transaction 数据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约 147 万条商品级交易记录，覆盖完整家庭购物行为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包含 transactions、products、promotions、campaigns、coupons、coupon redemptions、demographics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Coupon redemption 和 demographics 稀疏，作为辅助信号与解释字段使用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EF54D2-4A00-43D7-85C9-83468A5A4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29150"/>
            <a:ext cx="990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43241"/>
          </a:solidFill>
          <a:ln xmlns:a="http://schemas.openxmlformats.org/drawingml/2006/main" w="0">
            <a:solidFill>
              <a:srgbClr val="24324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613EDB-738F-48E6-B69C-61855629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43450"/>
            <a:ext cx="956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主监督目标不是 redemption，而是 campaign start 后 5 天内的 coupon-product purchase response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953250" y="1695450"/>
          <a:ext xmlns:a="http://schemas.openxmlformats.org/drawingml/2006/main" cx="4095750" cy="2476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35906"/>
                <a:gridCol w="2559844"/>
              </a:tblGrid>
              <a:tr h="4953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Table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Role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transactions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future response label + purchase history</a:t>
                      </a:r>
                    </a:p>
                  </a:txBody>
                  <a:tcPr marL="91440" marR="91440" marT="45720" marB="45720"/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products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department / category / brand metadata</a:t>
                      </a:r>
                    </a:p>
                  </a:txBody>
                  <a:tcPr marL="91440" marR="91440" marT="45720" marB="45720"/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campaigns + coupons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exposure window and coupon product pool</a:t>
                      </a:r>
                    </a:p>
                  </a:txBody>
                  <a:tcPr marL="91440" marR="91440" marT="45720" marB="45720"/>
                </a:tc>
              </a:tr>
              <a:tr h="4953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promotions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display / mailer context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4F7DCC-299A-4B98-8018-CD8D23548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F27F58-A0E0-4C3E-AD84-CE4AD40BA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859661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BCC332-4813-4E09-BC59-10EA0841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D7175B-11CE-4E99-B9E2-3619CDB5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最终推荐问题定义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7CF5B7-2AE9-440D-B34C-DBC672D0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F48EF1-ABF9-4D96-A1A2-83FCE9DE4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8212B"/>
                </a:solidFill>
              </a:defRPr>
            </a:pPr>
            <a:r>
              <a:rPr sz="2100" b="1">
                <a:solidFill>
                  <a:srgbClr val="18212B"/>
                </a:solidFill>
              </a:rPr>
              <a:t>对于每个 household-campaign exposure，排序该活动中的 coupon products。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3EEE17-88F0-47B3-B341-9D0DBF3D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895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Positive response = 家庭在 campaign start 后 5 天内购买该商品。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95436-E904-4049-A674-FA97F53C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5905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比普通 next-basket prediction 更贴近 coupon targeting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排序对象是 campaign coupon-product pool，而不是全商品库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评价目标是 response ranking，不是 causal uplift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所有特征只使用 campaign start 之前的信息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D91F8A-3922-4C18-A655-E11D5DC76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05150"/>
            <a:ext cx="25717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5B6191-F77D-4EBA-BE7B-F1C038265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257550"/>
            <a:ext cx="222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715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0C770A-50A6-42A9-98C2-1D6990DE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676650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Test events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4AB52-FA3B-40F0-9971-85023FAD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81500"/>
            <a:ext cx="25717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192FF9-4D38-4C1E-85F4-FC9C30DCC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33900"/>
            <a:ext cx="2228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109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BE3E4-A889-411A-BBB8-264334E3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53000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Positive events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BDCE34-1549-42DB-B869-EE0A9C8F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861E41-D689-4D06-ACFC-71C4E347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23707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AAFA2B6-28BE-4B83-A1BB-58BA5090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CB0EE-FEDA-4E1D-A733-81A11ED0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系统架构：两阶段推荐到业务排序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9C45-AADC-4B8B-BAE4-51DCD764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477330-20B6-4025-A94D-747B71ED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1600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4FC7DB-E22F-4711-ADD1-F03FD62A9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Raw retail tables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FA5BB-A57D-40FF-B638-66EBC7D4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6098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DDC18B-73A3-4FB7-9A51-A483E237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86000"/>
            <a:ext cx="1600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E644C4-4628-4523-B043-A9310FF7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955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Cleaning + time split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C0C41-6A7F-4E98-9C3E-86E8357E0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098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43704-E1C2-4223-BA05-06807294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286000"/>
            <a:ext cx="1600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DCD596-6F25-4B7B-8E6A-991A12EF7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955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Candidate generation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85FAD2-8424-46AA-87B9-25E74780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2EBA57-BCE1-4592-A2DE-145D67ED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1600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D786E-3F80-4B8B-AFA8-F26CC07E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955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XGBoost LTR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635DA8-7768-45F6-BC2C-C93B4DE6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09850"/>
            <a:ext cx="40005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9A2B"/>
          </a:solidFill>
          <a:ln xmlns:a="http://schemas.openxmlformats.org/drawingml/2006/main" w="0">
            <a:solidFill>
              <a:srgbClr val="D99A2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E87742-CCD2-4F66-823B-A7EFBB42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86000"/>
            <a:ext cx="16002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A1D89-F3D0-4012-B75D-00442963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4955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8212B"/>
                </a:solidFill>
              </a:defRPr>
            </a:pPr>
            <a:r>
              <a:rPr sz="1275" b="1">
                <a:solidFill>
                  <a:srgbClr val="18212B"/>
                </a:solidFill>
              </a:rPr>
              <a:t>Tail fusion +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8AADB4-B35B-4005-A20B-75164FC8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05250"/>
            <a:ext cx="914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Stage 1 解决候选覆盖：找到家庭可能相关的商品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Stage 2 解决营销排序：在 coupon products 中预测 response priority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Final artifact：`outputs/reranked_recommendations.csv`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2B8E7A-68E4-4CA9-8D6B-D27332A8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2E796-98D6-4C5C-BF66-A4D4E1EB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3176754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825D11D-E7A6-4872-BE53-E1B4EF60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29B03D-3123-46C0-941D-396E6C54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第一阶段：候选生成结果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AB536-286D-4BE0-ADD4-76A83052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723900" y="1619250"/>
          <a:ext xmlns:a="http://schemas.openxmlformats.org/drawingml/2006/main" cx="107442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4407"/>
                <a:gridCol w="1852448"/>
                <a:gridCol w="1852448"/>
                <a:gridCol w="1852448"/>
                <a:gridCol w="1852448"/>
              </a:tblGrid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Recall@10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NDCG@10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Recall@20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NDCG@20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Personal Top Frequency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0.0984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0.3790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0.1462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0.3402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TIFU-KNN style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0.1011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0.3851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0.1503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0.3474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Strong Hybrid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0.1029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0.3935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0.1511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0.3528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Official Cornac TIFUKNN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0.1009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0.4210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0.1416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0.3574</a:t>
                      </a:r>
                    </a:p>
                  </a:txBody>
                  <a:tcPr marL="91440" marR="91440" marT="45720" marB="45720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Final rank ensemble</a:t>
                      </a:r>
                    </a:p>
                  </a:txBody>
                  <a:tcPr marL="91440" marR="91440" marT="45720" marB="45720"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0.1051</a:t>
                      </a:r>
                    </a:p>
                  </a:txBody>
                  <a:tcPr marL="91440" marR="91440" marT="45720" marB="45720"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0.4278</a:t>
                      </a:r>
                    </a:p>
                  </a:txBody>
                  <a:tcPr marL="91440" marR="91440" marT="45720" marB="45720"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0.1492</a:t>
                      </a:r>
                    </a:p>
                  </a:txBody>
                  <a:tcPr marL="91440" marR="91440" marT="45720" marB="45720">
                    <a:solidFill>
                      <a:srgbClr val="E7F5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8212B"/>
                          </a:solidFill>
                        </a:rPr>
                        <a:t>0.3691</a:t>
                      </a:r>
                    </a:p>
                  </a:txBody>
                  <a:tcPr marL="91440" marR="91440" marT="45720" marB="45720">
                    <a:solidFill>
                      <a:srgbClr val="E7F5F2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C157F8-3D9D-42FE-BD78-16AAE8BA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结论：grocery 场景中，repeat frequency、temporal decay 和近邻家庭偏好比通用矩阵分解更关键。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A08D90-251F-4B10-8453-3D8D585E5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E1B83-4D3F-4473-9978-4396F7BD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007509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2D980A-231D-4F4D-9337-23CE4746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1AB597-23C8-4EC8-88EF-64409942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第二阶段：Coupon-response Learning-to-Rank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D8515-2ED6-4012-89AC-6BE9C43E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B6E16B-3AD9-44F3-AF3B-FB7E6C91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5905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模型：XGBoost `rank:ndcg`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训练粒度：household-campaign-product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标签：pull-forward interval relevance labels</a:t>
            </a:r>
          </a:p>
          <a:p xmlns:a="http://schemas.openxmlformats.org/drawingml/2006/main">
            <a:pPr algn="l">
              <a:defRPr sz="1650" b="0">
                <a:solidFill>
                  <a:srgbClr val="18212B"/>
                </a:solidFill>
              </a:defRPr>
            </a:pPr>
            <a:r>
              <a:rPr sz="1650" b="0">
                <a:solidFill>
                  <a:srgbClr val="18212B"/>
                </a:solidFill>
              </a:rPr>
              <a:t>• 特征：repeat、cadence、interval error、global response、campaign type、category/text ablations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143750" y="1676400"/>
          <a:ext xmlns:a="http://schemas.openxmlformats.org/drawingml/2006/main" cx="409575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62768"/>
                <a:gridCol w="2632982"/>
              </a:tblGrid>
              <a:tr h="5524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 marL="91440" marR="91440" marT="45720" marB="45720">
                    <a:solidFill>
                      <a:srgbClr val="2432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Interpretation</a:t>
                      </a:r>
                    </a:p>
                  </a:txBody>
                  <a:tcPr marL="91440" marR="91440" marT="45720" marB="45720">
                    <a:solidFill>
                      <a:srgbClr val="243241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repeat_signal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household has bought this product before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cadence_signal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candidate aligns with historical repurchase rhythm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global_signal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campaign product has broad response evidence</a:t>
                      </a:r>
                    </a:p>
                  </a:txBody>
                  <a:tcPr marL="91440" marR="91440" marT="45720" marB="45720"/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category embedding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8212B"/>
                          </a:solidFill>
                        </a:rPr>
                        <a:t>helps non-exact-repeat tail candidates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0440DD-2B0E-4170-A8B0-6F10217A3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048250"/>
            <a:ext cx="9525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A6B5A"/>
          </a:solidFill>
          <a:ln xmlns:a="http://schemas.openxmlformats.org/drawingml/2006/main" w="0">
            <a:solidFill>
              <a:srgbClr val="EA6B5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D58FFC-1AD2-450F-B053-554B50837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62550"/>
            <a:ext cx="918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监督式 LTR 学的是 response priority，不声称优惠券造成购买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F2254-AEC2-4C92-AA15-1F424AA4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1DBFAB-D25A-419D-83F6-3858FBB2D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8020282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947325-116E-4FBD-B38E-A84618DEC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07C93-9A95-4A56-9192-CB1B2E53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最终 held-out test 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186A22-46E6-4C1D-9A0C-A0F84110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819150" y="1695450"/>
          <a:ext xmlns:a="http://schemas.openxmlformats.org/drawingml/2006/main" cx="68580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899108997e465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ABFE94-B1E5-4FE4-A666-8A33FD89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9070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740D87-4F11-49A0-8E54-B3CE9F16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4310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0.5184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362E45-B8C1-42B5-A42A-54AD7A2E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36220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Recall@20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4E0E1-7491-4F02-B9C2-CBCA2C7ED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28950"/>
            <a:ext cx="238125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F038B8-A08C-41E8-BB32-ECF13890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81350"/>
            <a:ext cx="2038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A6B5A"/>
                </a:solidFill>
              </a:defRPr>
            </a:pPr>
            <a:r>
              <a:rPr sz="2250" b="1">
                <a:solidFill>
                  <a:srgbClr val="EA6B5A"/>
                </a:solidFill>
              </a:rPr>
              <a:t>0.3520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0E238-2D56-4857-BAE2-A677903E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60045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673"/>
                </a:solidFill>
              </a:defRPr>
            </a:pPr>
            <a:r>
              <a:rPr sz="1200" b="0">
                <a:solidFill>
                  <a:srgbClr val="5D6673"/>
                </a:solidFill>
              </a:rPr>
              <a:t>NDCG@20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6B206-41C1-4329-82F6-DCBF84A7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148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8212B"/>
                </a:solidFill>
              </a:defRPr>
            </a:pPr>
            <a:r>
              <a:rPr sz="1725" b="1">
                <a:solidFill>
                  <a:srgbClr val="18212B"/>
                </a:solidFill>
              </a:rPr>
              <a:t>Positive Event Hit@10 从 18.35% 提升至 53.21%。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16E452-F6A1-4DF0-B78E-8E25D841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67E2EA-BF6B-477C-A951-3D9B84BF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239837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7833C81-283F-447E-BAD3-E587995A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9F8DB0-C269-488A-AA08-9EC5F69B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扩展实验：复杂模型不自动更好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87295B-7C04-45DD-A580-A0023E39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857250" y="1619250"/>
          <a:ext xmlns:a="http://schemas.openxmlformats.org/drawingml/2006/main" cx="100965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786188"/>
                <a:gridCol w="6310313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Extension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marL="91440" marR="91440" marT="45720" marB="45720">
                    <a:solidFill>
                      <a:srgbClr val="0F766E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PyTorch pairwise neural ranker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competitive, below XGBoost on held-out NDCG@10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Expected-lead vs pull-forward labels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pull-forward interval labels selected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TF-IDF/SVD product text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helps some Recall@20, weaker Top-10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Category co-occurrence embedding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useful as tail source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Rank / score fusion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8212B"/>
                          </a:solidFill>
                        </a:rPr>
                        <a:t>validation gains did not consistently transfer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736CA2-B91B-4E4C-B1A0-043DECDA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F766E"/>
                </a:solidFill>
              </a:defRPr>
            </a:pPr>
            <a:r>
              <a:rPr sz="1575" b="1">
                <a:solidFill>
                  <a:srgbClr val="0F766E"/>
                </a:solidFill>
              </a:rPr>
              <a:t>研究结论：Complete Journey 的商品文本较结构化，timing 和 repeat behavior 对 Top-10 排序更稳定。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EF37C-6454-40F5-8F7D-F0E96E25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BB45F8-65F8-45A9-AC02-2F097AA00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311455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CD05452-B0AC-4DF6-B520-01789D2BE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136414-F3F2-4C46-8D10-90E1E276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Promotion-aware 商业解释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3544F-A8EA-4565-83E6-DE434EB0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7C2EF-EC9C-4FA1-8774-C76043214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5735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766E"/>
                </a:solidFill>
              </a:defRPr>
            </a:pPr>
            <a:r>
              <a:rPr sz="1875" b="1">
                <a:solidFill>
                  <a:srgbClr val="0F766E"/>
                </a:solidFill>
              </a:rPr>
              <a:t>系统输出的正确解释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09BD03-9D3B-4C38-BA7C-94FE70097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4762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对已暴露家庭的 coupon product response priority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在 campaign 商品池内决定展示顺序和 coupon flags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Business Utility proxy 用于解释营销约束，不作为最终主指标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02351-4F86-4FF2-AE2D-714D828B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6573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A6B5A"/>
                </a:solidFill>
              </a:defRPr>
            </a:pPr>
            <a:r>
              <a:rPr sz="1875" b="1">
                <a:solidFill>
                  <a:srgbClr val="EA6B5A"/>
                </a:solidFill>
              </a:rPr>
              <a:t>系统不声称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3BC0C9-AB72-42C6-8571-290758F2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52650"/>
            <a:ext cx="4476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不声称 causal coupon uplift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不声称真实利润最大化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不声称适用于所有 grocery recommendation 场景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F7F577-4C2D-4892-9229-79F174F2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62500"/>
            <a:ext cx="9144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43241"/>
          </a:solidFill>
          <a:ln xmlns:a="http://schemas.openxmlformats.org/drawingml/2006/main" w="0">
            <a:solidFill>
              <a:srgbClr val="24324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EEBF79-E398-4648-8013-B7CE7C2D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876800"/>
            <a:ext cx="880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没有 randomized treatment-control，也没有真实 margin，因此商业结论保持 proxy 级别。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679F3D-D484-4792-A6AA-E7E840064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CA8469-0557-4382-AC0F-7500F083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63304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2E52F3-E5B4-4960-A4FD-D8AF22DF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258C0F-303A-4669-B944-DE5F566E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Working recommender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92B70D-BDD1-4A60-A775-E4E682B4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43C2C-67AE-4A32-AA0D-560A2F6BF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7640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启动命令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36DC77-945F-451C-98BE-B890C622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33600"/>
            <a:ext cx="4762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F2937"/>
          </a:solidFill>
          <a:ln xmlns:a="http://schemas.openxmlformats.org/drawingml/2006/main" w="0">
            <a:solidFill>
              <a:srgbClr val="1F293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7ECC3C-B810-45BC-B2D8-A1B5DF67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343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streamlit run app/streamlit_app.py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7149AF-8F5C-4B57-A543-C2883311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5334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选择 household 与 campaign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展示历史购买、coupon start、预测时间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输出 Top-K coupon product recommendations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显示 coupon flags、metadata、关键排序字段</a:t>
            </a:r>
          </a:p>
          <a:p xmlns:a="http://schemas.openxmlformats.org/drawingml/2006/main">
            <a:pPr algn="l">
              <a:defRPr sz="1575" b="0">
                <a:solidFill>
                  <a:srgbClr val="18212B"/>
                </a:solidFill>
              </a:defRPr>
            </a:pPr>
            <a:r>
              <a:rPr sz="1575" b="0">
                <a:solidFill>
                  <a:srgbClr val="18212B"/>
                </a:solidFill>
              </a:rPr>
              <a:t>• 现场失败时使用 Top-10 recommendation sample 备份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7788B3-E263-4176-894D-5237C8C7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3714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CFD06-4823-4C4D-BD5C-64FEA836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03835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Final output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375771-6E9E-43B1-A931-447787EDC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19350"/>
            <a:ext cx="329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</a:defRPr>
            </a:pPr>
            <a:r>
              <a:rPr sz="1125" b="0">
                <a:solidFill>
                  <a:srgbClr val="5D6673"/>
                </a:solidFill>
              </a:rPr>
              <a:t>outputs/reranked_recommendations.csv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17DB08-C292-48D8-8737-A8C3116A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81350"/>
            <a:ext cx="3714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D9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987270-1DF0-4279-9E02-E30107D0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409950"/>
            <a:ext cx="329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9A2B"/>
                </a:solidFill>
              </a:defRPr>
            </a:pPr>
            <a:r>
              <a:rPr sz="1650" b="1">
                <a:solidFill>
                  <a:srgbClr val="D99A2B"/>
                </a:solidFill>
              </a:rPr>
              <a:t>Fallback sample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8DC10-8FB6-4933-B5E7-14B33E10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790950"/>
            <a:ext cx="3295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D6673"/>
                </a:solidFill>
              </a:defRPr>
            </a:pPr>
            <a:r>
              <a:rPr sz="1125" b="0">
                <a:solidFill>
                  <a:srgbClr val="5D6673"/>
                </a:solidFill>
              </a:rPr>
              <a:t>top10_recommendation_sample.csv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D39879-20F6-4C55-8235-9A8C420A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62500"/>
            <a:ext cx="342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6B5A"/>
                </a:solidFill>
              </a:defRPr>
            </a:pPr>
            <a:r>
              <a:rPr sz="1650" b="1">
                <a:solidFill>
                  <a:srgbClr val="EA6B5A"/>
                </a:solidFill>
              </a:rPr>
              <a:t>Demo 是离线原型，不是生产级实时推荐服务。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D76E48-036A-467F-8193-94A000F9B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FEBBA2-5534-4597-BA19-86AB2310F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1240319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3AA913-DC2E-4F4E-9A9A-1A8D76030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</a:defRPr>
            </a:pPr>
            <a:r>
              <a:rPr sz="1125" b="1">
                <a:solidFill>
                  <a:srgbClr val="0F766E"/>
                </a:solidFill>
              </a:rPr>
              <a:t>PROMOMIND FINAL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D4E84-F474-4A85-BA05-B35AE0B3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18212B"/>
                </a:solidFill>
              </a:defRPr>
            </a:pPr>
            <a:r>
              <a:rPr sz="2700" b="1">
                <a:solidFill>
                  <a:srgbClr val="18212B"/>
                </a:solidFill>
              </a:rPr>
              <a:t>适用性、局限性与未来工作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BE3D4-5E49-4764-91B3-610DFE62D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41F77-88F3-43B9-B2B6-2D1543F7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</a:defRPr>
            </a:pPr>
            <a:r>
              <a:rPr sz="1800" b="1">
                <a:solidFill>
                  <a:srgbClr val="0F766E"/>
                </a:solidFill>
              </a:rPr>
              <a:t>适用场景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EA2C7-0878-4017-807F-F0311CF3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95500"/>
            <a:ext cx="4476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连锁超市会员优惠券推荐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电商 campaign product prioritization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已确定活动商品池内的家庭个性化排序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营销预算约束下的 coupon slot 分配原型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1458EB-53A2-4C44-B602-0E331F9D8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6B5A"/>
                </a:solidFill>
              </a:defRPr>
            </a:pPr>
            <a:r>
              <a:rPr sz="1800" b="1">
                <a:solidFill>
                  <a:srgbClr val="EA6B5A"/>
                </a:solidFill>
              </a:rPr>
              <a:t>未来工作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B12FA-9A19-45BA-A2F9-E2AB401D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引入 treatment-control 构建 causal uplift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获得真实 margin 后做 cost-aware optimization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加入 richer text / image 做 multimodal retrieval</a:t>
            </a:r>
          </a:p>
          <a:p xmlns:a="http://schemas.openxmlformats.org/drawingml/2006/main">
            <a:pPr algn="l">
              <a:defRPr sz="1500" b="0">
                <a:solidFill>
                  <a:srgbClr val="18212B"/>
                </a:solidFill>
              </a:defRPr>
            </a:pPr>
            <a:r>
              <a:rPr sz="1500" b="0">
                <a:solidFill>
                  <a:srgbClr val="18212B"/>
                </a:solidFill>
              </a:rPr>
              <a:t>• 对 campaign drift 做 time-aware calibration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A51EB-626C-40DC-8236-6747DA6F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FB27A1-82F5-4A62-99A2-4A1FFDB00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956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最终结论：稳定的复购与时间节奏信号，是本 grocery coupon-response 任务的核心。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DC2CFE-D947-4366-A722-33EEC6D4C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723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Promotion-aware grocery basket and coupon recommendation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FE558B-9426-40FF-95A1-AF894338B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5D6673"/>
                </a:solidFill>
              </a:defRPr>
            </a:pPr>
            <a:r>
              <a:rPr sz="900" b="0">
                <a:solidFill>
                  <a:srgbClr val="5D667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18355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2026-06-23T09:48:55.6160000Z</dcterms:created>
  <dcterms:modified xsi:type="dcterms:W3CDTF">2026-06-23T09:48:55.6160000Z</dcterms:modified>
</coreProperties>
</file>