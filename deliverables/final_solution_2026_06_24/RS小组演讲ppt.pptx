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Candidate-only baseline</c:v>
          </c:tx>
          <c:spPr>
            <a:solidFill>
              <a:srgbClr val="EA6B5A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Recall@10</c:v>
              </c:pt>
              <c:pt idx="1">
                <c:v>NDCG@10</c:v>
              </c:pt>
              <c:pt idx="2">
                <c:v>Hit@10</c:v>
              </c:pt>
            </c:strLit>
          </c:cat>
          <c:val>
            <c:numLit>
              <c:formatCode>0.0</c:formatCode>
              <c:ptCount val="3"/>
              <c:pt idx="0">
                <c:v>0.157</c:v>
              </c:pt>
              <c:pt idx="1">
                <c:v>0.1489</c:v>
              </c:pt>
              <c:pt idx="2">
                <c:v>0.19270000000000001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8C7-4F0D-804B-D45F33E638F4}"/>
            </c:ext>
          </c:extLst>
        </c:ser>
        <c:ser>
          <c:idx val="1"/>
          <c:order val="1"/>
          <c:tx>
            <c:v>Final tail fusion</c:v>
          </c:tx>
          <c:spPr>
            <a:solidFill>
              <a:srgbClr val="0F766E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Recall@10</c:v>
              </c:pt>
              <c:pt idx="1">
                <c:v>NDCG@10</c:v>
              </c:pt>
              <c:pt idx="2">
                <c:v>Hit@10</c:v>
              </c:pt>
            </c:strLit>
          </c:cat>
          <c:val>
            <c:numLit>
              <c:formatCode>0.0</c:formatCode>
              <c:ptCount val="3"/>
              <c:pt idx="0">
                <c:v>0.41870000000000002</c:v>
              </c:pt>
              <c:pt idx="1">
                <c:v>0.33040000000000003</c:v>
              </c:pt>
              <c:pt idx="2">
                <c:v>0.5413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8C7-4F0D-804B-D45F33E638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8212B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6"/>
        </c:scaling>
        <c:delete val="0"/>
        <c:axPos val="l"/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D6673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18212B"/>
              </a:solidFill>
            </a:defRPr>
          </a:pPr>
          <a:endParaRPr lang="zh-CN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开场先讲业务问题。</a:t>
            </a:r>
          </a:p>
          <a:p>
            <a:r>
              <a:t>这不是普通电影推荐，是 grocery coupon response ranking。</a:t>
            </a:r>
          </a:p>
          <a:p>
            <a:r>
              <a:t>最终结果只在我们的 Complete Journey coupon-response protocol 下成立。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强调数据是真实零售数据，不是 MovieLens 类评分数据。</a:t>
            </a:r>
          </a:p>
          <a:p>
            <a:r>
              <a:t>说明 redemption 稀疏，所以不把 redemption 当唯一 label。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这页要讲清楚任务定义变化。</a:t>
            </a:r>
          </a:p>
          <a:p>
            <a:r>
              <a:t>这是观察数据 response ranking，不是随机实验 uplift。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用架构说明每个模块的角色。</a:t>
            </a:r>
          </a:p>
          <a:p>
            <a:r>
              <a:t>候选生成和 coupon-response ranking 是两个不同任务。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候选模型不是最终主指标，但证明我们覆盖了推荐算法比较。</a:t>
            </a:r>
          </a:p>
          <a:p>
            <a:r>
              <a:t>Cornac TIFUKNN 和 rank ensemble 是候选阶段最强证据。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说明最终模型不是简单公式调权，而是监督式排序。</a:t>
            </a:r>
          </a:p>
          <a:p>
            <a:r>
              <a:t>pull-forward label 是业务假设：提前发券窗口与历史复购节奏相关。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这页是核心结果。</a:t>
            </a:r>
          </a:p>
          <a:p>
            <a:r>
              <a:t>强调所有最终数值来自 held-out campaign test split。</a:t>
            </a:r>
          </a:p>
          <a:p>
            <a:r>
              <a:t>不要说 universal SOTA。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这一页满足 attempted extensions with evidence。</a:t>
            </a:r>
          </a:p>
          <a:p>
            <a:r>
              <a:t>把失败实验讲成研究证据，不讲成工作失败。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这是防守页。</a:t>
            </a:r>
          </a:p>
          <a:p>
            <a:r>
              <a:t>老师如果问 profit 或 uplift，直接说我们的数据不支持因果利润结论。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现场演示时只需要跑 Streamlit。</a:t>
            </a:r>
          </a:p>
          <a:p>
            <a:r>
              <a:t>如果 outputs 缺失，用提交的 Top-10 sample 讲结果表。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结束时回到研究结论。</a:t>
            </a:r>
          </a:p>
          <a:p>
            <a:r>
              <a:t>未来工作承认边界，也说明项目可以继续扩展。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089CAD5-D2D5-477C-932A-49C4E69391B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590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8212B"/>
                </a:solidFill>
              </a:defRPr>
            </a:pPr>
            <a:r>
              <a:rPr sz="4350" b="1">
                <a:solidFill>
                  <a:srgbClr val="18212B"/>
                </a:solidFill>
              </a:rPr>
              <a:t>PromoMind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BEA0FA-2D97-4B81-852D-EBFC91DFED39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752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766E"/>
                </a:solidFill>
              </a:defRPr>
            </a:pPr>
            <a:r>
              <a:rPr lang="en-US" sz="2100" b="1" dirty="0">
                <a:solidFill>
                  <a:srgbClr val="0F766E"/>
                </a:solidFill>
              </a:rPr>
              <a:t>A Promotion-Perceived Shopping Basket and Coupon Recommendation System for Retail Marketing Optimization</a:t>
            </a:r>
            <a:endParaRPr sz="2100" b="1" dirty="0">
              <a:solidFill>
                <a:srgbClr val="0F766E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37C8C8-0B8C-4D26-984A-2F1168419537}"/>
              </a:ext>
            </a:extLst>
          </p:cNvPr>
          <p:cNvSpPr>
            <a:spLocks noGrp="1"/>
          </p:cNvSpPr>
          <p:nvPr/>
        </p:nvSpPr>
        <p:spPr>
          <a:xfrm>
            <a:off x="628650" y="228538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673"/>
                </a:solidFill>
              </a:defRPr>
            </a:pPr>
            <a:r>
              <a:rPr sz="1500" b="0" dirty="0">
                <a:solidFill>
                  <a:srgbClr val="5D6673"/>
                </a:solidFill>
              </a:rPr>
              <a:t>Final Project Solution Presentation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0EFFAC-E5DE-4618-ADCC-44408E70A653}"/>
              </a:ext>
            </a:extLst>
          </p:cNvPr>
          <p:cNvSpPr>
            <a:spLocks noGrp="1"/>
          </p:cNvSpPr>
          <p:nvPr/>
        </p:nvSpPr>
        <p:spPr>
          <a:xfrm>
            <a:off x="628650" y="3219450"/>
            <a:ext cx="685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18212B"/>
                </a:solidFill>
              </a:defRPr>
            </a:pPr>
            <a:r>
              <a:rPr lang="en-US" sz="1875" dirty="0">
                <a:solidFill>
                  <a:srgbClr val="18212B"/>
                </a:solidFill>
              </a:rPr>
              <a:t>Core question: </a:t>
            </a:r>
            <a:br>
              <a:rPr lang="en-US" sz="1875" dirty="0">
                <a:solidFill>
                  <a:srgbClr val="18212B"/>
                </a:solidFill>
              </a:rPr>
            </a:br>
            <a:r>
              <a:rPr lang="en-US" sz="1875" dirty="0">
                <a:solidFill>
                  <a:srgbClr val="18212B"/>
                </a:solidFill>
              </a:rPr>
              <a:t>Given a limited marketing budget, which campaign coupon products are more suitable to recommend to a particular family?</a:t>
            </a:r>
            <a:endParaRPr sz="1875" b="0" dirty="0">
              <a:solidFill>
                <a:srgbClr val="18212B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1E4D6AD-9304-4AAC-9B1E-F16791491324}"/>
              </a:ext>
            </a:extLst>
          </p:cNvPr>
          <p:cNvSpPr>
            <a:spLocks noGrp="1"/>
          </p:cNvSpPr>
          <p:nvPr/>
        </p:nvSpPr>
        <p:spPr>
          <a:xfrm>
            <a:off x="7905750" y="1428750"/>
            <a:ext cx="28575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823CF5-80E4-468E-B73C-4157145DED3C}"/>
              </a:ext>
            </a:extLst>
          </p:cNvPr>
          <p:cNvSpPr>
            <a:spLocks noGrp="1"/>
          </p:cNvSpPr>
          <p:nvPr/>
        </p:nvSpPr>
        <p:spPr>
          <a:xfrm>
            <a:off x="8077200" y="1581150"/>
            <a:ext cx="2514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0.4187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AE8AF3-A2EF-4F9B-9F20-3F29665E8F77}"/>
              </a:ext>
            </a:extLst>
          </p:cNvPr>
          <p:cNvSpPr>
            <a:spLocks noGrp="1"/>
          </p:cNvSpPr>
          <p:nvPr/>
        </p:nvSpPr>
        <p:spPr>
          <a:xfrm>
            <a:off x="8077200" y="2000250"/>
            <a:ext cx="2514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Held-out Recall@10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353F3A5-81E7-419F-A36C-AFEE2F985BCC}"/>
              </a:ext>
            </a:extLst>
          </p:cNvPr>
          <p:cNvSpPr>
            <a:spLocks noGrp="1"/>
          </p:cNvSpPr>
          <p:nvPr/>
        </p:nvSpPr>
        <p:spPr>
          <a:xfrm>
            <a:off x="7905750" y="2686050"/>
            <a:ext cx="28575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32430F-26B2-4BBF-BA89-45FB3CAAD2B5}"/>
              </a:ext>
            </a:extLst>
          </p:cNvPr>
          <p:cNvSpPr>
            <a:spLocks noGrp="1"/>
          </p:cNvSpPr>
          <p:nvPr/>
        </p:nvSpPr>
        <p:spPr>
          <a:xfrm>
            <a:off x="8077200" y="2838450"/>
            <a:ext cx="2514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EA6B5A"/>
                </a:solidFill>
              </a:defRPr>
            </a:pPr>
            <a:r>
              <a:rPr sz="2250" b="1">
                <a:solidFill>
                  <a:srgbClr val="EA6B5A"/>
                </a:solidFill>
              </a:rPr>
              <a:t>0.3304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CDE19A-EC49-4A65-8E92-C9E507B7D061}"/>
              </a:ext>
            </a:extLst>
          </p:cNvPr>
          <p:cNvSpPr>
            <a:spLocks noGrp="1"/>
          </p:cNvSpPr>
          <p:nvPr/>
        </p:nvSpPr>
        <p:spPr>
          <a:xfrm>
            <a:off x="8077200" y="3257550"/>
            <a:ext cx="2514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NDCG@10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6FE63BD-C0AC-4E12-A26E-CEE5A6B637B2}"/>
              </a:ext>
            </a:extLst>
          </p:cNvPr>
          <p:cNvSpPr>
            <a:spLocks noGrp="1"/>
          </p:cNvSpPr>
          <p:nvPr/>
        </p:nvSpPr>
        <p:spPr>
          <a:xfrm>
            <a:off x="7905750" y="3943350"/>
            <a:ext cx="28575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EB0D56-7F05-44CE-82EE-A8CC5D133F47}"/>
              </a:ext>
            </a:extLst>
          </p:cNvPr>
          <p:cNvSpPr>
            <a:spLocks noGrp="1"/>
          </p:cNvSpPr>
          <p:nvPr/>
        </p:nvSpPr>
        <p:spPr>
          <a:xfrm>
            <a:off x="8077200" y="4095750"/>
            <a:ext cx="2514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F8A5B"/>
                </a:solidFill>
              </a:defRPr>
            </a:pPr>
            <a:r>
              <a:rPr sz="2250" b="1">
                <a:solidFill>
                  <a:srgbClr val="1F8A5B"/>
                </a:solidFill>
              </a:rPr>
              <a:t>54.13%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F88D-8E0C-4246-8232-5A445D5A0FF0}"/>
              </a:ext>
            </a:extLst>
          </p:cNvPr>
          <p:cNvSpPr>
            <a:spLocks noGrp="1"/>
          </p:cNvSpPr>
          <p:nvPr/>
        </p:nvSpPr>
        <p:spPr>
          <a:xfrm>
            <a:off x="8077200" y="4514850"/>
            <a:ext cx="2514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Positive Event Hit@10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82FA82-4B4F-49D8-A868-C681D0367AD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BFA1B4-E70D-4BE9-923C-EAECEEEDEB88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7220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F4545F1-770F-4A05-A4DD-008D2106499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58ECE4-8393-4C2B-A6F1-DE05AF39686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8212B"/>
                </a:solidFill>
              </a:defRPr>
            </a:pPr>
            <a:r>
              <a:rPr lang="en-US" sz="2700" b="1" dirty="0">
                <a:solidFill>
                  <a:srgbClr val="18212B"/>
                </a:solidFill>
              </a:rPr>
              <a:t>Data set </a:t>
            </a:r>
            <a:r>
              <a:rPr sz="2700" b="1" dirty="0">
                <a:solidFill>
                  <a:srgbClr val="18212B"/>
                </a:solidFill>
              </a:rPr>
              <a:t>：The Complete Journey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7DD3FC-08D9-487C-A085-3509E9098B7D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562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F1174A-A5D3-4869-A705-FCA246355230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61722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2,469 households, real grocery transaction data at the annual level</a:t>
            </a:r>
          </a:p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Approximately 1.47 million transaction records at the product level, covering the complete shopping behavior of a family</a:t>
            </a:r>
          </a:p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Includes transactions, products, promotions, campaigns, coupons, coupon redemptions, demographics</a:t>
            </a:r>
          </a:p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Coupon redemption and demographics are sparse and are used as auxiliary signals and explanatory fields</a:t>
            </a:r>
            <a:endParaRPr sz="1650" b="0" dirty="0">
              <a:solidFill>
                <a:srgbClr val="18212B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DEF54D2-4A00-43D7-85C9-83468A5A4FD6}"/>
              </a:ext>
            </a:extLst>
          </p:cNvPr>
          <p:cNvSpPr>
            <a:spLocks noGrp="1"/>
          </p:cNvSpPr>
          <p:nvPr/>
        </p:nvSpPr>
        <p:spPr>
          <a:xfrm>
            <a:off x="925462" y="5172075"/>
            <a:ext cx="9906000" cy="514350"/>
          </a:xfrm>
          <a:prstGeom prst="roundRect">
            <a:avLst>
              <a:gd name="adj" fmla="val 14815"/>
            </a:avLst>
          </a:prstGeom>
          <a:solidFill>
            <a:srgbClr val="243241"/>
          </a:solidFill>
          <a:ln w="0">
            <a:solidFill>
              <a:srgbClr val="24324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613EDB-738F-48E6-B69C-61855629C748}"/>
              </a:ext>
            </a:extLst>
          </p:cNvPr>
          <p:cNvSpPr>
            <a:spLocks noGrp="1"/>
          </p:cNvSpPr>
          <p:nvPr/>
        </p:nvSpPr>
        <p:spPr>
          <a:xfrm>
            <a:off x="1096912" y="5162550"/>
            <a:ext cx="9563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lang="en-US" sz="1500" b="1" dirty="0">
                <a:solidFill>
                  <a:srgbClr val="FFFFFF"/>
                </a:solidFill>
              </a:rPr>
              <a:t>The main objective of supervision is to monitor the purchase responses of the coupon products within 5 days after the start of the activity.</a:t>
            </a:r>
            <a:endParaRPr sz="1500" b="1" dirty="0">
              <a:solidFill>
                <a:srgbClr val="FFFFFF"/>
              </a:solidFill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953250" y="1695450"/>
          <a:ext cx="4095750" cy="2476500"/>
        </p:xfrm>
        <a:graphic>
          <a:graphicData uri="http://schemas.openxmlformats.org/drawingml/2006/table">
            <a:tbl>
              <a:tblPr/>
              <a:tblGrid>
                <a:gridCol w="1535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future response label + purchase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department / category / brand metadata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campaigns + coupons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 dirty="0">
                          <a:solidFill>
                            <a:srgbClr val="18212B"/>
                          </a:solidFill>
                        </a:rPr>
                        <a:t>exposure window and coupon product pool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promotions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 dirty="0">
                          <a:solidFill>
                            <a:srgbClr val="18212B"/>
                          </a:solidFill>
                        </a:rPr>
                        <a:t>display / mailer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D4F7DCC-299A-4B98-8018-CD8D23548E8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F27F58-A0E0-4C3E-AD84-CE4AD40BA303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8596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ABCC332-4813-4E09-BC59-10EA0841AFD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D7175B-11CE-4E99-B9E2-3619CDB5475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8212B"/>
                </a:solidFill>
              </a:defRPr>
            </a:pPr>
            <a:r>
              <a:rPr lang="en-US" sz="2700" b="1" dirty="0">
                <a:solidFill>
                  <a:srgbClr val="18212B"/>
                </a:solidFill>
              </a:rPr>
              <a:t>Final recommended problem definition</a:t>
            </a:r>
            <a:endParaRPr sz="2700" b="1" dirty="0">
              <a:solidFill>
                <a:srgbClr val="18212B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7CF5B7-2AE9-440D-B34C-DBC672D0DB8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562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F48EF1-ABF9-4D96-A1A2-83FCE9DE44E2}"/>
              </a:ext>
            </a:extLst>
          </p:cNvPr>
          <p:cNvSpPr>
            <a:spLocks noGrp="1"/>
          </p:cNvSpPr>
          <p:nvPr/>
        </p:nvSpPr>
        <p:spPr>
          <a:xfrm>
            <a:off x="590550" y="1514475"/>
            <a:ext cx="10746044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8212B"/>
                </a:solidFill>
              </a:defRPr>
            </a:pPr>
            <a:r>
              <a:rPr lang="en-US" sz="2100" b="1" dirty="0">
                <a:solidFill>
                  <a:srgbClr val="18212B"/>
                </a:solidFill>
              </a:rPr>
              <a:t>For each household-campaign exposure, sort the coupon products within that campaign.</a:t>
            </a:r>
            <a:endParaRPr sz="2100" b="1" dirty="0">
              <a:solidFill>
                <a:srgbClr val="18212B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3EEE17-88F0-47B3-B341-9D0DBF3DF64B}"/>
              </a:ext>
            </a:extLst>
          </p:cNvPr>
          <p:cNvSpPr>
            <a:spLocks noGrp="1"/>
          </p:cNvSpPr>
          <p:nvPr/>
        </p:nvSpPr>
        <p:spPr>
          <a:xfrm>
            <a:off x="590550" y="2209800"/>
            <a:ext cx="1018499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lang="en-US" b="1" dirty="0">
                <a:solidFill>
                  <a:srgbClr val="0F766E"/>
                </a:solidFill>
              </a:rPr>
              <a:t>Positive response = The family purchased the product within 5 days after the campaign began.</a:t>
            </a:r>
            <a:endParaRPr sz="1800" b="1" dirty="0">
              <a:solidFill>
                <a:srgbClr val="0F766E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B95436-E904-4049-A674-FA97F53C2ACE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5905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It is closer to coupon targeting than the ordinary next-basket prediction.</a:t>
            </a:r>
          </a:p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The sorting object is the campaign coupon-product pool, not the entire product library.</a:t>
            </a:r>
          </a:p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The evaluation goal is response ranking, not causal uplift.</a:t>
            </a:r>
          </a:p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All features only use the information before the campaign start.</a:t>
            </a:r>
            <a:endParaRPr sz="1650" b="0" dirty="0">
              <a:solidFill>
                <a:srgbClr val="18212B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AD91F8A-3922-4C18-A655-E11D5DC76E42}"/>
              </a:ext>
            </a:extLst>
          </p:cNvPr>
          <p:cNvSpPr>
            <a:spLocks noGrp="1"/>
          </p:cNvSpPr>
          <p:nvPr/>
        </p:nvSpPr>
        <p:spPr>
          <a:xfrm>
            <a:off x="7620000" y="3028950"/>
            <a:ext cx="2571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5B6191-F77D-4EBA-BE7B-F1C038265D9A}"/>
              </a:ext>
            </a:extLst>
          </p:cNvPr>
          <p:cNvSpPr>
            <a:spLocks noGrp="1"/>
          </p:cNvSpPr>
          <p:nvPr/>
        </p:nvSpPr>
        <p:spPr>
          <a:xfrm>
            <a:off x="7791450" y="3257550"/>
            <a:ext cx="2228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715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0C770A-50A6-42A9-98C2-1D6990DE097A}"/>
              </a:ext>
            </a:extLst>
          </p:cNvPr>
          <p:cNvSpPr>
            <a:spLocks noGrp="1"/>
          </p:cNvSpPr>
          <p:nvPr/>
        </p:nvSpPr>
        <p:spPr>
          <a:xfrm>
            <a:off x="7791450" y="3676650"/>
            <a:ext cx="2228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Test events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1B4AB52-FA3B-40F0-9971-85023FADEEA4}"/>
              </a:ext>
            </a:extLst>
          </p:cNvPr>
          <p:cNvSpPr>
            <a:spLocks noGrp="1"/>
          </p:cNvSpPr>
          <p:nvPr/>
        </p:nvSpPr>
        <p:spPr>
          <a:xfrm>
            <a:off x="7620000" y="4381500"/>
            <a:ext cx="25717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92FF9-4D38-4C1E-85F4-FC9C30DCCD3F}"/>
              </a:ext>
            </a:extLst>
          </p:cNvPr>
          <p:cNvSpPr>
            <a:spLocks noGrp="1"/>
          </p:cNvSpPr>
          <p:nvPr/>
        </p:nvSpPr>
        <p:spPr>
          <a:xfrm>
            <a:off x="7791450" y="4533900"/>
            <a:ext cx="2228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EA6B5A"/>
                </a:solidFill>
              </a:defRPr>
            </a:pPr>
            <a:r>
              <a:rPr sz="2250" b="1">
                <a:solidFill>
                  <a:srgbClr val="EA6B5A"/>
                </a:solidFill>
              </a:rPr>
              <a:t>109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2BE3E4-A889-411A-BBB8-264334E3BC1B}"/>
              </a:ext>
            </a:extLst>
          </p:cNvPr>
          <p:cNvSpPr>
            <a:spLocks noGrp="1"/>
          </p:cNvSpPr>
          <p:nvPr/>
        </p:nvSpPr>
        <p:spPr>
          <a:xfrm>
            <a:off x="7791450" y="4953000"/>
            <a:ext cx="2228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Positive events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BDCE34-1549-42DB-B869-EE0A9C8F4C9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861E41-D689-4D06-ACFC-71C4E347E67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2370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3AAFA2B6-28BE-4B83-A1BB-58BA5090421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DCB0EE-FEDA-4E1D-A733-81A11ED00D5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53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8212B"/>
                </a:solidFill>
              </a:defRPr>
            </a:pPr>
            <a:r>
              <a:rPr lang="en-US" sz="2700" b="1" dirty="0">
                <a:solidFill>
                  <a:srgbClr val="18212B"/>
                </a:solidFill>
              </a:rPr>
              <a:t>System architecture: Two-stage recommendation to business sorting</a:t>
            </a:r>
            <a:endParaRPr sz="2700" b="1" dirty="0">
              <a:solidFill>
                <a:srgbClr val="18212B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279C45-AADC-4B8B-BAE4-51DCD7643462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562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3477330-20B6-4025-A94D-747B71ED7C56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1600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4FC7DB-E22F-4711-ADD1-F03FD62A9FFA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Raw retail tables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B9FA5BB-A57D-40FF-B638-66EBC7D434C8}"/>
              </a:ext>
            </a:extLst>
          </p:cNvPr>
          <p:cNvSpPr>
            <a:spLocks noGrp="1"/>
          </p:cNvSpPr>
          <p:nvPr/>
        </p:nvSpPr>
        <p:spPr>
          <a:xfrm>
            <a:off x="2419350" y="2609850"/>
            <a:ext cx="400050" cy="2476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9DDC18B-73A3-4FB7-9A51-A483E2370638}"/>
              </a:ext>
            </a:extLst>
          </p:cNvPr>
          <p:cNvSpPr>
            <a:spLocks noGrp="1"/>
          </p:cNvSpPr>
          <p:nvPr/>
        </p:nvSpPr>
        <p:spPr>
          <a:xfrm>
            <a:off x="2762250" y="2286000"/>
            <a:ext cx="1600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E644C4-4628-4523-B043-A9310FF76E25}"/>
              </a:ext>
            </a:extLst>
          </p:cNvPr>
          <p:cNvSpPr>
            <a:spLocks noGrp="1"/>
          </p:cNvSpPr>
          <p:nvPr/>
        </p:nvSpPr>
        <p:spPr>
          <a:xfrm>
            <a:off x="2876550" y="24955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Cleaning + time split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80C0C41-6A7F-4E98-9C3E-86E8357E0890}"/>
              </a:ext>
            </a:extLst>
          </p:cNvPr>
          <p:cNvSpPr>
            <a:spLocks noGrp="1"/>
          </p:cNvSpPr>
          <p:nvPr/>
        </p:nvSpPr>
        <p:spPr>
          <a:xfrm>
            <a:off x="4419600" y="2609850"/>
            <a:ext cx="400050" cy="2476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6243704-E1C2-4223-BA05-06807294AC07}"/>
              </a:ext>
            </a:extLst>
          </p:cNvPr>
          <p:cNvSpPr>
            <a:spLocks noGrp="1"/>
          </p:cNvSpPr>
          <p:nvPr/>
        </p:nvSpPr>
        <p:spPr>
          <a:xfrm>
            <a:off x="4762500" y="2286000"/>
            <a:ext cx="1600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DCD596-6F25-4B7B-8E6A-991A12EF7A4F}"/>
              </a:ext>
            </a:extLst>
          </p:cNvPr>
          <p:cNvSpPr>
            <a:spLocks noGrp="1"/>
          </p:cNvSpPr>
          <p:nvPr/>
        </p:nvSpPr>
        <p:spPr>
          <a:xfrm>
            <a:off x="4876800" y="24955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Candidate generation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D85FAD2-8424-46AA-87B9-25E74780CF37}"/>
              </a:ext>
            </a:extLst>
          </p:cNvPr>
          <p:cNvSpPr>
            <a:spLocks noGrp="1"/>
          </p:cNvSpPr>
          <p:nvPr/>
        </p:nvSpPr>
        <p:spPr>
          <a:xfrm>
            <a:off x="6419850" y="2609850"/>
            <a:ext cx="400050" cy="2476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82EBA57-BCE1-4592-A2DE-145D67ED5409}"/>
              </a:ext>
            </a:extLst>
          </p:cNvPr>
          <p:cNvSpPr>
            <a:spLocks noGrp="1"/>
          </p:cNvSpPr>
          <p:nvPr/>
        </p:nvSpPr>
        <p:spPr>
          <a:xfrm>
            <a:off x="6762750" y="2286000"/>
            <a:ext cx="1600200" cy="876300"/>
          </a:xfrm>
          <a:prstGeom prst="roundRect">
            <a:avLst>
              <a:gd name="adj" fmla="val 8696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3D786E-3F80-4B8B-AFA8-F26CC07E2B0D}"/>
              </a:ext>
            </a:extLst>
          </p:cNvPr>
          <p:cNvSpPr>
            <a:spLocks noGrp="1"/>
          </p:cNvSpPr>
          <p:nvPr/>
        </p:nvSpPr>
        <p:spPr>
          <a:xfrm>
            <a:off x="6877050" y="24955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XGBoost LTR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FE635DA8-7768-45F6-BC2C-C93B4DE64C4A}"/>
              </a:ext>
            </a:extLst>
          </p:cNvPr>
          <p:cNvSpPr>
            <a:spLocks noGrp="1"/>
          </p:cNvSpPr>
          <p:nvPr/>
        </p:nvSpPr>
        <p:spPr>
          <a:xfrm>
            <a:off x="8420100" y="2609850"/>
            <a:ext cx="400050" cy="247650"/>
          </a:xfrm>
          <a:prstGeom prst="rightArrow">
            <a:avLst/>
          </a:prstGeom>
          <a:solidFill>
            <a:srgbClr val="D99A2B"/>
          </a:solidFill>
          <a:ln w="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2E87742-CCD2-4F66-823B-A7EFBB426888}"/>
              </a:ext>
            </a:extLst>
          </p:cNvPr>
          <p:cNvSpPr>
            <a:spLocks noGrp="1"/>
          </p:cNvSpPr>
          <p:nvPr/>
        </p:nvSpPr>
        <p:spPr>
          <a:xfrm>
            <a:off x="8763000" y="2286000"/>
            <a:ext cx="1600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8A1D89-F3D0-4012-B75D-004429637B00}"/>
              </a:ext>
            </a:extLst>
          </p:cNvPr>
          <p:cNvSpPr>
            <a:spLocks noGrp="1"/>
          </p:cNvSpPr>
          <p:nvPr/>
        </p:nvSpPr>
        <p:spPr>
          <a:xfrm>
            <a:off x="8877300" y="24955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Tail fusion + demo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8AADB4-B35B-4005-A20B-75164FC85818}"/>
              </a:ext>
            </a:extLst>
          </p:cNvPr>
          <p:cNvSpPr>
            <a:spLocks noGrp="1"/>
          </p:cNvSpPr>
          <p:nvPr/>
        </p:nvSpPr>
        <p:spPr>
          <a:xfrm>
            <a:off x="990600" y="3905250"/>
            <a:ext cx="9144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Stage 1: Address candidate coverage: Identify products that may be relevant to the family</a:t>
            </a:r>
          </a:p>
          <a:p>
            <a:pPr>
              <a:defRPr sz="1650" b="0">
                <a:solidFill>
                  <a:srgbClr val="18212B"/>
                </a:solidFill>
              </a:defRPr>
            </a:pPr>
            <a:endParaRPr lang="en-US" sz="1650" dirty="0">
              <a:solidFill>
                <a:srgbClr val="18212B"/>
              </a:solidFill>
            </a:endParaRPr>
          </a:p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Stage 2: Address marketing prioritization: Predict response priority among coupon products</a:t>
            </a:r>
            <a:endParaRPr sz="1650" b="0" dirty="0">
              <a:solidFill>
                <a:srgbClr val="18212B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2B8E7A-68E4-4CA9-8D6B-D27332A884A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D2E796-98D6-4C5C-BF66-A4D4E1EB2FDF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767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825D11D-E7A6-4872-BE53-E1B4EF6095B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29B03D-3123-46C0-941D-396E6C54EDF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8212B"/>
                </a:solidFill>
              </a:defRPr>
            </a:pPr>
            <a:r>
              <a:rPr lang="en-US" sz="2700" b="1" dirty="0">
                <a:solidFill>
                  <a:srgbClr val="18212B"/>
                </a:solidFill>
              </a:rPr>
              <a:t>Phase 1: Candidate Generation Results</a:t>
            </a:r>
            <a:endParaRPr sz="2700" b="1" dirty="0">
              <a:solidFill>
                <a:srgbClr val="18212B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2AB536-286D-4BE0-ADD4-76A83052A055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562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" name="表格 10"/>
          <p:cNvGraphicFramePr/>
          <p:nvPr/>
        </p:nvGraphicFramePr>
        <p:xfrm>
          <a:off x="723900" y="1619250"/>
          <a:ext cx="10744199" cy="3048000"/>
        </p:xfrm>
        <a:graphic>
          <a:graphicData uri="http://schemas.openxmlformats.org/drawingml/2006/table">
            <a:tbl>
              <a:tblPr/>
              <a:tblGrid>
                <a:gridCol w="3334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2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2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2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Recall@10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NDCG@10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Recall@20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NDCG@20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Personal Top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0.0984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TIFU-KNN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0.3474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Strong 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0.3528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Official Cornac TIFUKNN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0.4210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0.1416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0.3574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12B"/>
                          </a:solidFill>
                        </a:rPr>
                        <a:t>Final rank ensemble</a:t>
                      </a:r>
                    </a:p>
                  </a:txBody>
                  <a:tcPr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12B"/>
                          </a:solidFill>
                        </a:rPr>
                        <a:t>0.1051</a:t>
                      </a:r>
                    </a:p>
                  </a:txBody>
                  <a:tcPr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12B"/>
                          </a:solidFill>
                        </a:rPr>
                        <a:t>0.4278</a:t>
                      </a:r>
                    </a:p>
                  </a:txBody>
                  <a:tcPr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12B"/>
                          </a:solidFill>
                        </a:rPr>
                        <a:t>0.1492</a:t>
                      </a:r>
                    </a:p>
                  </a:txBody>
                  <a:tcPr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12B"/>
                          </a:solidFill>
                        </a:rPr>
                        <a:t>0.3691</a:t>
                      </a:r>
                    </a:p>
                  </a:txBody>
                  <a:tcPr>
                    <a:solidFill>
                      <a:srgbClr val="E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8C157F8-3D9D-42FE-BD78-16AAE8BACE7F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766E"/>
                </a:solidFill>
              </a:defRPr>
            </a:pPr>
            <a:r>
              <a:rPr lang="en-US" sz="1650" b="1" dirty="0">
                <a:solidFill>
                  <a:srgbClr val="0F766E"/>
                </a:solidFill>
              </a:rPr>
              <a:t>Conclusion: In the grocery scenario, repeat frequency, temporal decay, and neighbor household preferences are more crucial than general matrix factorization.</a:t>
            </a:r>
            <a:endParaRPr sz="1650" b="1" dirty="0">
              <a:solidFill>
                <a:srgbClr val="0F766E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A08D90-251F-4B10-8453-3D8D585E504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BE1B83-4D3F-4473-9978-4396F7BD6FED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750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52D980A-231D-4F4D-9337-23CE4746E9C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1AB597-23C8-4EC8-88EF-644099428B9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8212B"/>
                </a:solidFill>
              </a:defRPr>
            </a:pPr>
            <a:r>
              <a:rPr lang="en-US" sz="2700" b="1" dirty="0">
                <a:solidFill>
                  <a:srgbClr val="18212B"/>
                </a:solidFill>
              </a:rPr>
              <a:t>Phase Two: Coupon-response Learning-to-Rank</a:t>
            </a:r>
            <a:endParaRPr sz="2700" b="1" dirty="0">
              <a:solidFill>
                <a:srgbClr val="18212B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2D8515-2ED6-4012-89AC-6BE9C43E4038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562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B6E16B-3AD9-44F3-AF3B-FB7E6C916B62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5905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Model: </a:t>
            </a:r>
            <a:r>
              <a:rPr lang="en-US" sz="1650" dirty="0" err="1">
                <a:solidFill>
                  <a:srgbClr val="18212B"/>
                </a:solidFill>
              </a:rPr>
              <a:t>XGBoost</a:t>
            </a:r>
            <a:r>
              <a:rPr lang="en-US" sz="1650" dirty="0">
                <a:solidFill>
                  <a:srgbClr val="18212B"/>
                </a:solidFill>
              </a:rPr>
              <a:t> `</a:t>
            </a:r>
            <a:r>
              <a:rPr lang="en-US" sz="1650" dirty="0" err="1">
                <a:solidFill>
                  <a:srgbClr val="18212B"/>
                </a:solidFill>
              </a:rPr>
              <a:t>rank:ndcg</a:t>
            </a:r>
            <a:r>
              <a:rPr lang="en-US" sz="1650" dirty="0">
                <a:solidFill>
                  <a:srgbClr val="18212B"/>
                </a:solidFill>
              </a:rPr>
              <a:t>`</a:t>
            </a:r>
          </a:p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Training granularity: household-campaign-product</a:t>
            </a:r>
          </a:p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Labels: pull-forward interval relevance labels</a:t>
            </a:r>
          </a:p>
          <a:p>
            <a:pPr>
              <a:defRPr sz="1650" b="0">
                <a:solidFill>
                  <a:srgbClr val="18212B"/>
                </a:solidFill>
              </a:defRPr>
            </a:pPr>
            <a:r>
              <a:rPr lang="en-US" sz="1650" dirty="0">
                <a:solidFill>
                  <a:srgbClr val="18212B"/>
                </a:solidFill>
              </a:rPr>
              <a:t>• Features: repeat, cadence, interval error, global response, campaign type, category/text ablations</a:t>
            </a:r>
            <a:endParaRPr sz="1650" b="0" dirty="0">
              <a:solidFill>
                <a:srgbClr val="18212B"/>
              </a:solidFill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7143750" y="1676400"/>
          <a:ext cx="4095750" cy="2762250"/>
        </p:xfrm>
        <a:graphic>
          <a:graphicData uri="http://schemas.openxmlformats.org/drawingml/2006/table">
            <a:tbl>
              <a:tblPr/>
              <a:tblGrid>
                <a:gridCol w="146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2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Signal</a:t>
                      </a:r>
                    </a:p>
                  </a:txBody>
                  <a:tcPr>
                    <a:solidFill>
                      <a:srgbClr val="2432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>
                    <a:solidFill>
                      <a:srgbClr val="243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repeat_signal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household has bought this product before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cadence_signal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candidate aligns with historical repurchase rhythm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global_signal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campaign product has broad response 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category 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</a:rPr>
                        <a:t>helps non-exact-repeat tail candidates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E0F2254-AEC2-4C92-AA15-1F424AA4155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673"/>
                </a:solidFill>
              </a:defRPr>
            </a:pPr>
            <a:r>
              <a:rPr sz="900" b="0" dirty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1DBFAB-D25A-419D-83F6-3858FBB2D354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02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D947325-116E-4FBD-B38E-A84618DEC9E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107C93-9A95-4A56-9192-CB1B2E53E78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8212B"/>
                </a:solidFill>
              </a:defRPr>
            </a:pPr>
            <a:r>
              <a:rPr lang="en-US" sz="2700" b="1" dirty="0">
                <a:solidFill>
                  <a:srgbClr val="18212B"/>
                </a:solidFill>
              </a:rPr>
              <a:t>The final held-out test results</a:t>
            </a:r>
            <a:endParaRPr sz="2700" b="1" dirty="0">
              <a:solidFill>
                <a:srgbClr val="18212B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186A22-46E6-4C1D-9A0C-A0F841107C27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562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" name="Chart"/>
          <p:cNvGraphicFramePr/>
          <p:nvPr>
            <p:extLst>
              <p:ext uri="{D42A27DB-BD31-4B8C-83A1-F6EECF244321}">
                <p14:modId xmlns:p14="http://schemas.microsoft.com/office/powerpoint/2010/main" val="3397886919"/>
              </p:ext>
            </p:extLst>
          </p:nvPr>
        </p:nvGraphicFramePr>
        <p:xfrm>
          <a:off x="838814" y="1781175"/>
          <a:ext cx="6858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CAABFE94-B1E5-4FE4-A666-8A33FD898A8E}"/>
              </a:ext>
            </a:extLst>
          </p:cNvPr>
          <p:cNvSpPr>
            <a:spLocks noGrp="1"/>
          </p:cNvSpPr>
          <p:nvPr/>
        </p:nvSpPr>
        <p:spPr>
          <a:xfrm>
            <a:off x="8286750" y="1790700"/>
            <a:ext cx="23812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740D87-4F11-49A0-8E54-B3CE9F16A218}"/>
              </a:ext>
            </a:extLst>
          </p:cNvPr>
          <p:cNvSpPr>
            <a:spLocks noGrp="1"/>
          </p:cNvSpPr>
          <p:nvPr/>
        </p:nvSpPr>
        <p:spPr>
          <a:xfrm>
            <a:off x="8458200" y="194310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0.5207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362E45-B8C1-42B5-A42A-54AD7A2E5668}"/>
              </a:ext>
            </a:extLst>
          </p:cNvPr>
          <p:cNvSpPr>
            <a:spLocks noGrp="1"/>
          </p:cNvSpPr>
          <p:nvPr/>
        </p:nvSpPr>
        <p:spPr>
          <a:xfrm>
            <a:off x="8458200" y="236220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Recall@20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824E0E1-7491-4F02-B9C2-CBCA2C7ED272}"/>
              </a:ext>
            </a:extLst>
          </p:cNvPr>
          <p:cNvSpPr>
            <a:spLocks noGrp="1"/>
          </p:cNvSpPr>
          <p:nvPr/>
        </p:nvSpPr>
        <p:spPr>
          <a:xfrm>
            <a:off x="8286750" y="3028950"/>
            <a:ext cx="23812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F038B8-A08C-41E8-BB32-ECF13890F160}"/>
              </a:ext>
            </a:extLst>
          </p:cNvPr>
          <p:cNvSpPr>
            <a:spLocks noGrp="1"/>
          </p:cNvSpPr>
          <p:nvPr/>
        </p:nvSpPr>
        <p:spPr>
          <a:xfrm>
            <a:off x="8458200" y="318135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EA6B5A"/>
                </a:solidFill>
              </a:defRPr>
            </a:pPr>
            <a:r>
              <a:rPr sz="2250" b="1">
                <a:solidFill>
                  <a:srgbClr val="EA6B5A"/>
                </a:solidFill>
              </a:rPr>
              <a:t>0.3594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60E238-2D56-4857-BAE2-A677903EEDBA}"/>
              </a:ext>
            </a:extLst>
          </p:cNvPr>
          <p:cNvSpPr>
            <a:spLocks noGrp="1"/>
          </p:cNvSpPr>
          <p:nvPr/>
        </p:nvSpPr>
        <p:spPr>
          <a:xfrm>
            <a:off x="8458200" y="36004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673"/>
                </a:solidFill>
              </a:defRPr>
            </a:pPr>
            <a:r>
              <a:rPr sz="1200" b="0">
                <a:solidFill>
                  <a:srgbClr val="5D6673"/>
                </a:solidFill>
              </a:rPr>
              <a:t>NDCG@20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F6B206-41C1-4329-82F6-DCBF84A74A8D}"/>
              </a:ext>
            </a:extLst>
          </p:cNvPr>
          <p:cNvSpPr>
            <a:spLocks noGrp="1"/>
          </p:cNvSpPr>
          <p:nvPr/>
        </p:nvSpPr>
        <p:spPr>
          <a:xfrm>
            <a:off x="7696814" y="4638675"/>
            <a:ext cx="3566037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8212B"/>
                </a:solidFill>
              </a:defRPr>
            </a:pPr>
            <a:r>
              <a:rPr lang="en-US" sz="1725" b="1" dirty="0">
                <a:solidFill>
                  <a:srgbClr val="18212B"/>
                </a:solidFill>
              </a:rPr>
              <a:t>Positive Event Hit@10 has increased from 19.27% to 54.13%.</a:t>
            </a:r>
            <a:endParaRPr sz="1725" b="1" dirty="0">
              <a:solidFill>
                <a:srgbClr val="18212B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16E452-F6A1-4DF0-B78E-8E25D841690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67E2EA-BF6B-477C-A951-3D9B84BF702C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3983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7833C81-283F-447E-BAD3-E587995AB36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9F8DB0-C269-488A-AA08-9EC5F69BF9A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113994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8212B"/>
                </a:solidFill>
              </a:defRPr>
            </a:pPr>
            <a:r>
              <a:rPr lang="en-US" sz="2700" b="1" dirty="0">
                <a:solidFill>
                  <a:srgbClr val="18212B"/>
                </a:solidFill>
              </a:rPr>
              <a:t>Extended Experiment: Complex Models Are Not Automatically Better</a:t>
            </a:r>
            <a:endParaRPr sz="2700" b="1" dirty="0">
              <a:solidFill>
                <a:srgbClr val="18212B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87295B-7C04-45DD-A580-A0023E39007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562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" name="表格 10"/>
          <p:cNvGraphicFramePr/>
          <p:nvPr/>
        </p:nvGraphicFramePr>
        <p:xfrm>
          <a:off x="857250" y="1619250"/>
          <a:ext cx="10096501" cy="3429000"/>
        </p:xfrm>
        <a:graphic>
          <a:graphicData uri="http://schemas.openxmlformats.org/drawingml/2006/table">
            <a:tbl>
              <a:tblPr/>
              <a:tblGrid>
                <a:gridCol w="378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0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Extension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PyTorch pairwise neural ranker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competitive, below XGBoost on held-out NDCG@10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Expected-lead vs pull-forward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pull-forward interval labels selected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TF-IDF/SVD product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helps some Recall@20, weaker Top-10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Category co-occurrence 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8212B"/>
                          </a:solidFill>
                        </a:rPr>
                        <a:t>useful as tail 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8212B"/>
                          </a:solidFill>
                        </a:rPr>
                        <a:t>Rank / score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8212B"/>
                          </a:solidFill>
                        </a:rPr>
                        <a:t>validation gains did not consistently transfer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4736CA2-B91B-4E4C-B1A0-043DECDA334B}"/>
              </a:ext>
            </a:extLst>
          </p:cNvPr>
          <p:cNvSpPr>
            <a:spLocks noGrp="1"/>
          </p:cNvSpPr>
          <p:nvPr/>
        </p:nvSpPr>
        <p:spPr>
          <a:xfrm>
            <a:off x="857250" y="53530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766E"/>
                </a:solidFill>
              </a:defRPr>
            </a:pPr>
            <a:r>
              <a:rPr lang="en-US" sz="1575" b="1" dirty="0">
                <a:solidFill>
                  <a:srgbClr val="0F766E"/>
                </a:solidFill>
              </a:rPr>
              <a:t>Conclusion: The product descriptions of Complete Journey are more structured, and their timing and repetitive behaviors result in a more stable ranking in the Top-10 list.</a:t>
            </a:r>
            <a:endParaRPr sz="1575" b="1" dirty="0">
              <a:solidFill>
                <a:srgbClr val="0F766E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DEF37C-6454-40F5-8F7D-F0E96E25E45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BB45F8-65F8-45A9-AC02-2F097AA00392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114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CD05452-B0AC-4DF6-B520-01789D2BE70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136414-F3F2-4C46-8D10-90E1E276FC6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8212B"/>
                </a:solidFill>
              </a:defRPr>
            </a:pPr>
            <a:r>
              <a:rPr lang="en-US" sz="2700" b="1" dirty="0">
                <a:solidFill>
                  <a:srgbClr val="18212B"/>
                </a:solidFill>
              </a:rPr>
              <a:t>Business explanation</a:t>
            </a:r>
            <a:endParaRPr sz="2700" b="1" dirty="0">
              <a:solidFill>
                <a:srgbClr val="18212B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C3544F-A8EA-4565-83E6-DE434EB0521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562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27C2EF-EC9C-4FA1-8774-C76043214F84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F766E"/>
                </a:solidFill>
              </a:defRPr>
            </a:pPr>
            <a:r>
              <a:rPr lang="en-US" sz="1875" b="1" dirty="0">
                <a:solidFill>
                  <a:srgbClr val="0F766E"/>
                </a:solidFill>
              </a:rPr>
              <a:t>E</a:t>
            </a:r>
            <a:r>
              <a:rPr lang="en-US" altLang="zh-CN" sz="1875" b="1" dirty="0">
                <a:solidFill>
                  <a:srgbClr val="0F766E"/>
                </a:solidFill>
              </a:rPr>
              <a:t>xplanation</a:t>
            </a:r>
            <a:endParaRPr sz="1875" b="1" dirty="0">
              <a:solidFill>
                <a:srgbClr val="0F766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09BD03-9D3B-4C38-BA7C-94FE700975F6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8212B"/>
                </a:solidFill>
              </a:defRPr>
            </a:pPr>
            <a:r>
              <a:rPr lang="en-US" sz="1575" dirty="0">
                <a:solidFill>
                  <a:srgbClr val="18212B"/>
                </a:solidFill>
              </a:rPr>
              <a:t>• Coupon product response priority for exposed households</a:t>
            </a:r>
          </a:p>
          <a:p>
            <a:pPr>
              <a:defRPr sz="1575" b="0">
                <a:solidFill>
                  <a:srgbClr val="18212B"/>
                </a:solidFill>
              </a:defRPr>
            </a:pPr>
            <a:r>
              <a:rPr lang="en-US" sz="1575" dirty="0">
                <a:solidFill>
                  <a:srgbClr val="18212B"/>
                </a:solidFill>
              </a:rPr>
              <a:t>• Determine the display order and coupon flags within the campaign product pool</a:t>
            </a:r>
          </a:p>
          <a:p>
            <a:pPr>
              <a:defRPr sz="1575" b="0">
                <a:solidFill>
                  <a:srgbClr val="18212B"/>
                </a:solidFill>
              </a:defRPr>
            </a:pPr>
            <a:r>
              <a:rPr lang="en-US" sz="1575" dirty="0">
                <a:solidFill>
                  <a:srgbClr val="18212B"/>
                </a:solidFill>
              </a:rPr>
              <a:t>• Business Utility proxy is used to explain marketing constraints and is not regarded as the final primary indicator</a:t>
            </a:r>
            <a:endParaRPr sz="1575" b="0" dirty="0">
              <a:solidFill>
                <a:srgbClr val="18212B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C02351-4F86-4FF2-AE2D-714D828B5818}"/>
              </a:ext>
            </a:extLst>
          </p:cNvPr>
          <p:cNvSpPr>
            <a:spLocks noGrp="1"/>
          </p:cNvSpPr>
          <p:nvPr/>
        </p:nvSpPr>
        <p:spPr>
          <a:xfrm>
            <a:off x="6572250" y="1657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EA6B5A"/>
                </a:solidFill>
              </a:defRPr>
            </a:pPr>
            <a:r>
              <a:rPr lang="en-US" sz="1875" b="1" dirty="0" err="1">
                <a:solidFill>
                  <a:srgbClr val="EA6B5A"/>
                </a:solidFill>
              </a:rPr>
              <a:t>L</a:t>
            </a:r>
            <a:r>
              <a:rPr lang="en-US" altLang="zh-CN" sz="1875" b="1" dirty="0" err="1">
                <a:solidFill>
                  <a:srgbClr val="EA6B5A"/>
                </a:solidFill>
              </a:rPr>
              <a:t>imatation</a:t>
            </a:r>
            <a:endParaRPr sz="1875" b="1" dirty="0">
              <a:solidFill>
                <a:srgbClr val="EA6B5A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3BC0C9-AB72-42C6-8571-290758F2F8E1}"/>
              </a:ext>
            </a:extLst>
          </p:cNvPr>
          <p:cNvSpPr>
            <a:spLocks noGrp="1"/>
          </p:cNvSpPr>
          <p:nvPr/>
        </p:nvSpPr>
        <p:spPr>
          <a:xfrm>
            <a:off x="6572250" y="2152650"/>
            <a:ext cx="4476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8212B"/>
                </a:solidFill>
              </a:defRPr>
            </a:pPr>
            <a:r>
              <a:rPr lang="en-US" sz="1575" dirty="0">
                <a:solidFill>
                  <a:srgbClr val="18212B"/>
                </a:solidFill>
              </a:rPr>
              <a:t>• Not support causal coupon uplift</a:t>
            </a:r>
          </a:p>
          <a:p>
            <a:pPr>
              <a:defRPr sz="1575" b="0">
                <a:solidFill>
                  <a:srgbClr val="18212B"/>
                </a:solidFill>
              </a:defRPr>
            </a:pPr>
            <a:r>
              <a:rPr lang="en-US" sz="1575" dirty="0">
                <a:solidFill>
                  <a:srgbClr val="18212B"/>
                </a:solidFill>
              </a:rPr>
              <a:t>• N</a:t>
            </a:r>
            <a:r>
              <a:rPr lang="en-US" altLang="zh-CN" sz="1575" dirty="0">
                <a:solidFill>
                  <a:srgbClr val="18212B"/>
                </a:solidFill>
              </a:rPr>
              <a:t>ot </a:t>
            </a:r>
            <a:r>
              <a:rPr lang="en-US" sz="1575" dirty="0">
                <a:solidFill>
                  <a:srgbClr val="18212B"/>
                </a:solidFill>
              </a:rPr>
              <a:t>support achieving true profit maximization</a:t>
            </a:r>
          </a:p>
          <a:p>
            <a:pPr>
              <a:defRPr sz="1575" b="0">
                <a:solidFill>
                  <a:srgbClr val="18212B"/>
                </a:solidFill>
              </a:defRPr>
            </a:pPr>
            <a:r>
              <a:rPr lang="en-US" sz="1575" dirty="0">
                <a:solidFill>
                  <a:srgbClr val="18212B"/>
                </a:solidFill>
              </a:rPr>
              <a:t>• Not applicable to all grocery recommendation scenarios</a:t>
            </a:r>
            <a:endParaRPr sz="1575" b="0" dirty="0">
              <a:solidFill>
                <a:srgbClr val="18212B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679F3D-D484-4792-A6AA-E7E840064F3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CA8469-0557-4382-AC0F-7500F08315C3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330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962E52F3-E5B4-4960-A4FD-D8AF22DF15D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258C0F-303A-4669-B944-DE5F566E28F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8212B"/>
                </a:solidFill>
              </a:defRPr>
            </a:pPr>
            <a:r>
              <a:rPr sz="2700" b="1">
                <a:solidFill>
                  <a:srgbClr val="18212B"/>
                </a:solidFill>
              </a:rPr>
              <a:t>Working recommender demo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92B70D-BDD1-4A60-A775-E4E682B4933A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562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7149AF-8F5C-4B57-A543-C2883311AA65}"/>
              </a:ext>
            </a:extLst>
          </p:cNvPr>
          <p:cNvSpPr>
            <a:spLocks noGrp="1"/>
          </p:cNvSpPr>
          <p:nvPr/>
        </p:nvSpPr>
        <p:spPr>
          <a:xfrm>
            <a:off x="800100" y="2114550"/>
            <a:ext cx="5334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8212B"/>
                </a:solidFill>
              </a:defRPr>
            </a:pPr>
            <a:r>
              <a:rPr lang="en-US" sz="1575" dirty="0">
                <a:solidFill>
                  <a:srgbClr val="18212B"/>
                </a:solidFill>
              </a:rPr>
              <a:t>• Select "household" and "campaign“</a:t>
            </a:r>
          </a:p>
          <a:p>
            <a:pPr>
              <a:defRPr sz="1575" b="0">
                <a:solidFill>
                  <a:srgbClr val="18212B"/>
                </a:solidFill>
              </a:defRPr>
            </a:pPr>
            <a:r>
              <a:rPr lang="en-US" sz="1575" dirty="0">
                <a:solidFill>
                  <a:srgbClr val="18212B"/>
                </a:solidFill>
              </a:rPr>
              <a:t>• Display historical purchases, coupon start date, and prediction time</a:t>
            </a:r>
          </a:p>
          <a:p>
            <a:pPr>
              <a:defRPr sz="1575" b="0">
                <a:solidFill>
                  <a:srgbClr val="18212B"/>
                </a:solidFill>
              </a:defRPr>
            </a:pPr>
            <a:r>
              <a:rPr lang="en-US" sz="1575" dirty="0">
                <a:solidFill>
                  <a:srgbClr val="18212B"/>
                </a:solidFill>
              </a:rPr>
              <a:t>• Output Top-K coupon product recommendations</a:t>
            </a:r>
          </a:p>
          <a:p>
            <a:pPr>
              <a:defRPr sz="1575" b="0">
                <a:solidFill>
                  <a:srgbClr val="18212B"/>
                </a:solidFill>
              </a:defRPr>
            </a:pPr>
            <a:r>
              <a:rPr lang="en-US" sz="1575" dirty="0">
                <a:solidFill>
                  <a:srgbClr val="18212B"/>
                </a:solidFill>
              </a:rPr>
              <a:t>• Show coupon flags, metadata, and key sorting fields• Use a Top-10 recommendation sample for backup in case of on-site failure</a:t>
            </a:r>
            <a:endParaRPr sz="1575" b="0" dirty="0">
              <a:solidFill>
                <a:srgbClr val="18212B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97788B3-E263-4176-894D-5237C8C71417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3714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0CFD06-4823-4C4D-BD5C-64FEA836302D}"/>
              </a:ext>
            </a:extLst>
          </p:cNvPr>
          <p:cNvSpPr>
            <a:spLocks noGrp="1"/>
          </p:cNvSpPr>
          <p:nvPr/>
        </p:nvSpPr>
        <p:spPr>
          <a:xfrm>
            <a:off x="6972300" y="2038350"/>
            <a:ext cx="3295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Final output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375771-6E9E-43B1-A931-447787EDC816}"/>
              </a:ext>
            </a:extLst>
          </p:cNvPr>
          <p:cNvSpPr>
            <a:spLocks noGrp="1"/>
          </p:cNvSpPr>
          <p:nvPr/>
        </p:nvSpPr>
        <p:spPr>
          <a:xfrm>
            <a:off x="6972300" y="24193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673"/>
                </a:solidFill>
              </a:defRPr>
            </a:pPr>
            <a:r>
              <a:rPr sz="1125" b="0">
                <a:solidFill>
                  <a:srgbClr val="5D6673"/>
                </a:solidFill>
              </a:rPr>
              <a:t>outputs/reranked_recommendations.csv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C17DB08-C292-48D8-8737-A8C3116AB145}"/>
              </a:ext>
            </a:extLst>
          </p:cNvPr>
          <p:cNvSpPr>
            <a:spLocks noGrp="1"/>
          </p:cNvSpPr>
          <p:nvPr/>
        </p:nvSpPr>
        <p:spPr>
          <a:xfrm>
            <a:off x="6762750" y="3181350"/>
            <a:ext cx="3714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9D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987270-1DF0-4279-9E02-E30107D08F51}"/>
              </a:ext>
            </a:extLst>
          </p:cNvPr>
          <p:cNvSpPr>
            <a:spLocks noGrp="1"/>
          </p:cNvSpPr>
          <p:nvPr/>
        </p:nvSpPr>
        <p:spPr>
          <a:xfrm>
            <a:off x="6972300" y="3409950"/>
            <a:ext cx="3295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D99A2B"/>
                </a:solidFill>
              </a:defRPr>
            </a:pPr>
            <a:r>
              <a:rPr sz="1650" b="1">
                <a:solidFill>
                  <a:srgbClr val="D99A2B"/>
                </a:solidFill>
              </a:rPr>
              <a:t>Fallback sample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9B8DC10-8FB6-4933-B5E7-14B33E10CB60}"/>
              </a:ext>
            </a:extLst>
          </p:cNvPr>
          <p:cNvSpPr>
            <a:spLocks noGrp="1"/>
          </p:cNvSpPr>
          <p:nvPr/>
        </p:nvSpPr>
        <p:spPr>
          <a:xfrm>
            <a:off x="6972300" y="37909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673"/>
                </a:solidFill>
              </a:defRPr>
            </a:pPr>
            <a:r>
              <a:rPr sz="1125" b="0">
                <a:solidFill>
                  <a:srgbClr val="5D6673"/>
                </a:solidFill>
              </a:rPr>
              <a:t>top10_recommendation_sample.csv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D76E48-036A-467F-8193-94A000F9B3F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FEBBA2-5534-4597-BA19-86AB2310F8A3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2403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83AA913-DC2E-4F4E-9A9A-1A8D760302D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PROMOMIND FINAL PROJECT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5D4E84-F474-4A85-BA05-B35AE0B33A7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8212B"/>
                </a:solidFill>
              </a:defRPr>
            </a:pPr>
            <a:r>
              <a:rPr lang="en-US" sz="2700" b="1" dirty="0">
                <a:solidFill>
                  <a:srgbClr val="18212B"/>
                </a:solidFill>
              </a:rPr>
              <a:t>Future Work</a:t>
            </a:r>
            <a:endParaRPr sz="2700" b="1" dirty="0">
              <a:solidFill>
                <a:srgbClr val="18212B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0BE3D4-5E49-4764-91B3-610DFE62D031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562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E41F77-88F3-43B9-B2B6-2D1543F75244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lang="en-US" b="1" dirty="0">
                <a:solidFill>
                  <a:srgbClr val="0F766E"/>
                </a:solidFill>
              </a:rPr>
              <a:t>Applicable scenarios</a:t>
            </a:r>
            <a:endParaRPr sz="1800" b="1" dirty="0">
              <a:solidFill>
                <a:srgbClr val="0F766E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8EA2C7-0878-4017-807F-F0311CF3A19E}"/>
              </a:ext>
            </a:extLst>
          </p:cNvPr>
          <p:cNvSpPr>
            <a:spLocks noGrp="1"/>
          </p:cNvSpPr>
          <p:nvPr/>
        </p:nvSpPr>
        <p:spPr>
          <a:xfrm>
            <a:off x="800100" y="2067847"/>
            <a:ext cx="4476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18212B"/>
                </a:solidFill>
              </a:defRPr>
            </a:pPr>
            <a:r>
              <a:rPr lang="en-US" sz="1500" dirty="0">
                <a:solidFill>
                  <a:srgbClr val="18212B"/>
                </a:solidFill>
              </a:rPr>
              <a:t>• Recommendations for member discounts in chain supermarkets</a:t>
            </a:r>
          </a:p>
          <a:p>
            <a:pPr>
              <a:defRPr sz="1500" b="0">
                <a:solidFill>
                  <a:srgbClr val="18212B"/>
                </a:solidFill>
              </a:defRPr>
            </a:pPr>
            <a:r>
              <a:rPr lang="en-US" sz="1500" dirty="0">
                <a:solidFill>
                  <a:srgbClr val="18212B"/>
                </a:solidFill>
              </a:rPr>
              <a:t>• Prioritization of e-commerce campaign products</a:t>
            </a:r>
          </a:p>
          <a:p>
            <a:pPr>
              <a:defRPr sz="1500" b="0">
                <a:solidFill>
                  <a:srgbClr val="18212B"/>
                </a:solidFill>
              </a:defRPr>
            </a:pPr>
            <a:r>
              <a:rPr lang="en-US" sz="1500" dirty="0">
                <a:solidFill>
                  <a:srgbClr val="18212B"/>
                </a:solidFill>
              </a:rPr>
              <a:t>• Personalized sorting of family items within the determined activity product pool</a:t>
            </a:r>
          </a:p>
          <a:p>
            <a:pPr>
              <a:defRPr sz="1500" b="0">
                <a:solidFill>
                  <a:srgbClr val="18212B"/>
                </a:solidFill>
              </a:defRPr>
            </a:pPr>
            <a:r>
              <a:rPr lang="en-US" sz="1500" dirty="0">
                <a:solidFill>
                  <a:srgbClr val="18212B"/>
                </a:solidFill>
              </a:rPr>
              <a:t>• Prototype of coupon slot allocation under marketing budget constraints</a:t>
            </a:r>
            <a:endParaRPr sz="1500" b="0" dirty="0">
              <a:solidFill>
                <a:srgbClr val="18212B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1458EB-53A2-4C44-B602-0E331F9D8936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EA6B5A"/>
                </a:solidFill>
              </a:defRPr>
            </a:pPr>
            <a:r>
              <a:rPr lang="en-US" b="1" dirty="0">
                <a:solidFill>
                  <a:srgbClr val="EA6B5A"/>
                </a:solidFill>
              </a:rPr>
              <a:t>Future Work</a:t>
            </a:r>
            <a:endParaRPr sz="1800" b="1" dirty="0">
              <a:solidFill>
                <a:srgbClr val="EA6B5A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5B12FA-9A19-45BA-A2F9-E2AB401D38F7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4572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18212B"/>
                </a:solidFill>
              </a:defRPr>
            </a:pPr>
            <a:r>
              <a:rPr lang="en-US" sz="1500" dirty="0">
                <a:solidFill>
                  <a:srgbClr val="18212B"/>
                </a:solidFill>
              </a:rPr>
              <a:t>• Introduce treatment-control to construct causal uplift</a:t>
            </a:r>
          </a:p>
          <a:p>
            <a:pPr>
              <a:defRPr sz="1500" b="0">
                <a:solidFill>
                  <a:srgbClr val="18212B"/>
                </a:solidFill>
              </a:defRPr>
            </a:pPr>
            <a:r>
              <a:rPr lang="en-US" sz="1500" dirty="0">
                <a:solidFill>
                  <a:srgbClr val="18212B"/>
                </a:solidFill>
              </a:rPr>
              <a:t>• After obtaining the true margin, perform cost-aware optimization</a:t>
            </a:r>
          </a:p>
          <a:p>
            <a:pPr>
              <a:defRPr sz="1500" b="0">
                <a:solidFill>
                  <a:srgbClr val="18212B"/>
                </a:solidFill>
              </a:defRPr>
            </a:pPr>
            <a:r>
              <a:rPr lang="en-US" sz="1500" dirty="0">
                <a:solidFill>
                  <a:srgbClr val="18212B"/>
                </a:solidFill>
              </a:rPr>
              <a:t>• Incorporate richer text/image for multimodal retrieval</a:t>
            </a:r>
          </a:p>
          <a:p>
            <a:pPr>
              <a:defRPr sz="1500" b="0">
                <a:solidFill>
                  <a:srgbClr val="18212B"/>
                </a:solidFill>
              </a:defRPr>
            </a:pPr>
            <a:r>
              <a:rPr lang="en-US" sz="1500" dirty="0">
                <a:solidFill>
                  <a:srgbClr val="18212B"/>
                </a:solidFill>
              </a:rPr>
              <a:t>• Perform time-aware calibration for campaign drift</a:t>
            </a:r>
            <a:endParaRPr sz="1500" b="0" dirty="0">
              <a:solidFill>
                <a:srgbClr val="18212B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DC2CFE-D947-4366-A722-33EEC6D4C16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Promotion-aware grocery basket and coupon recommendation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FE558B-9426-40FF-95A1-AF894338B8BC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6673"/>
                </a:solidFill>
              </a:defRPr>
            </a:pPr>
            <a:r>
              <a:rPr sz="900" b="0">
                <a:solidFill>
                  <a:srgbClr val="5D667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018355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1039</Words>
  <Application>Microsoft Office PowerPoint</Application>
  <DocSecurity>0</DocSecurity>
  <PresentationFormat>宽屏</PresentationFormat>
  <Paragraphs>198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 Qinhao</cp:lastModifiedBy>
  <cp:revision>2</cp:revision>
  <dcterms:created xsi:type="dcterms:W3CDTF">2026-06-23T09:48:55Z</dcterms:created>
  <dcterms:modified xsi:type="dcterms:W3CDTF">2026-06-23T13:07:40Z</dcterms:modified>
</cp:coreProperties>
</file>