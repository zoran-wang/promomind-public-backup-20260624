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4a6f5cba104edd" /><Relationship Type="http://schemas.openxmlformats.org/officeDocument/2006/relationships/extended-properties" Target="/docProps/app.xml" Id="R073be31a335442a5" /><Relationship Type="http://schemas.openxmlformats.org/officeDocument/2006/relationships/officeDocument" Target="/ppt/presentation.xml" Id="R23086ae847a94e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c7cee5694a4bde"/>
  </p:sldMasterIdLst>
  <p:notesMasterIdLst>
    <p:notesMasterId xmlns:r="http://schemas.openxmlformats.org/officeDocument/2006/relationships" r:id="R87c2e9502d864fd6"/>
  </p:notesMasterIdLst>
  <p:sldIdLst>
    <p:sldId xmlns:r="http://schemas.openxmlformats.org/officeDocument/2006/relationships" id="256" r:id="R1df4022f2198426b"/>
    <p:sldId xmlns:r="http://schemas.openxmlformats.org/officeDocument/2006/relationships" id="257" r:id="R23c28805a4af49c8"/>
    <p:sldId xmlns:r="http://schemas.openxmlformats.org/officeDocument/2006/relationships" id="258" r:id="Rbdf2219284b644a0"/>
    <p:sldId xmlns:r="http://schemas.openxmlformats.org/officeDocument/2006/relationships" id="259" r:id="R0aef8555d0334195"/>
    <p:sldId xmlns:r="http://schemas.openxmlformats.org/officeDocument/2006/relationships" id="260" r:id="R16cb5e3783b240b5"/>
    <p:sldId xmlns:r="http://schemas.openxmlformats.org/officeDocument/2006/relationships" id="261" r:id="Re6348e8243244a2e"/>
    <p:sldId xmlns:r="http://schemas.openxmlformats.org/officeDocument/2006/relationships" id="262" r:id="R35f8c8d9b0b747be"/>
    <p:sldId xmlns:r="http://schemas.openxmlformats.org/officeDocument/2006/relationships" id="263" r:id="R5f7b0b74a2c94b76"/>
    <p:sldId xmlns:r="http://schemas.openxmlformats.org/officeDocument/2006/relationships" id="264" r:id="R136c1503b6b6465c"/>
    <p:sldId xmlns:r="http://schemas.openxmlformats.org/officeDocument/2006/relationships" id="265" r:id="R2e92cc650d8146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f0cd6c3cbb4d7c" /><Relationship Type="http://schemas.openxmlformats.org/officeDocument/2006/relationships/slideMaster" Target="/ppt/slideMasters/slideMaster1.xml" Id="R76c7cee5694a4bde" /><Relationship Type="http://schemas.openxmlformats.org/officeDocument/2006/relationships/notesMaster" Target="/ppt/notesMasters/notesMaster1.xml" Id="R87c2e9502d864fd6" /><Relationship Type="http://schemas.openxmlformats.org/officeDocument/2006/relationships/presProps" Target="/ppt/presProps.xml" Id="R40dacaf4186a4176" /><Relationship Type="http://schemas.openxmlformats.org/officeDocument/2006/relationships/viewProps" Target="/ppt/viewProps.xml" Id="R9d50481b8ce449b9" /><Relationship Type="http://schemas.openxmlformats.org/officeDocument/2006/relationships/tableStyles" Target="/ppt/tableStyles.xml" Id="Rc62a004bc3bd4ddc" /><Relationship Type="http://schemas.openxmlformats.org/officeDocument/2006/relationships/slide" Target="/ppt/slides/slide1.xml" Id="R1df4022f2198426b" /><Relationship Type="http://schemas.openxmlformats.org/officeDocument/2006/relationships/slide" Target="/ppt/slides/slide2.xml" Id="R23c28805a4af49c8" /><Relationship Type="http://schemas.openxmlformats.org/officeDocument/2006/relationships/slide" Target="/ppt/slides/slide3.xml" Id="Rbdf2219284b644a0" /><Relationship Type="http://schemas.openxmlformats.org/officeDocument/2006/relationships/slide" Target="/ppt/slides/slide4.xml" Id="R0aef8555d0334195" /><Relationship Type="http://schemas.openxmlformats.org/officeDocument/2006/relationships/slide" Target="/ppt/slides/slide5.xml" Id="R16cb5e3783b240b5" /><Relationship Type="http://schemas.openxmlformats.org/officeDocument/2006/relationships/slide" Target="/ppt/slides/slide6.xml" Id="Re6348e8243244a2e" /><Relationship Type="http://schemas.openxmlformats.org/officeDocument/2006/relationships/slide" Target="/ppt/slides/slide7.xml" Id="R35f8c8d9b0b747be" /><Relationship Type="http://schemas.openxmlformats.org/officeDocument/2006/relationships/slide" Target="/ppt/slides/slide8.xml" Id="R5f7b0b74a2c94b76" /><Relationship Type="http://schemas.openxmlformats.org/officeDocument/2006/relationships/slide" Target="/ppt/slides/slide9.xml" Id="R136c1503b6b6465c" /><Relationship Type="http://schemas.openxmlformats.org/officeDocument/2006/relationships/slide" Target="/ppt/slides/slide10.xml" Id="R2e92cc650d8146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a44b471034b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1107cccdcd4f1c" /><Relationship Type="http://schemas.openxmlformats.org/officeDocument/2006/relationships/notesMaster" Target="/ppt/notesMasters/notesMaster1.xml" Id="R6758efd0f3254d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fc74a36dcf4abd" /><Relationship Type="http://schemas.openxmlformats.org/officeDocument/2006/relationships/notesMaster" Target="/ppt/notesMasters/notesMaster1.xml" Id="R309fcc6f795249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5bc64e34424bc5" /><Relationship Type="http://schemas.openxmlformats.org/officeDocument/2006/relationships/notesMaster" Target="/ppt/notesMasters/notesMaster1.xml" Id="Rb217db560bac46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01dc9554b04ddf" /><Relationship Type="http://schemas.openxmlformats.org/officeDocument/2006/relationships/notesMaster" Target="/ppt/notesMasters/notesMaster1.xml" Id="R0a7de9ead1e047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9e1b13ab774e40" /><Relationship Type="http://schemas.openxmlformats.org/officeDocument/2006/relationships/notesMaster" Target="/ppt/notesMasters/notesMaster1.xml" Id="Rc1be4a73580643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6acf81f43d436c" /><Relationship Type="http://schemas.openxmlformats.org/officeDocument/2006/relationships/notesMaster" Target="/ppt/notesMasters/notesMaster1.xml" Id="R9dbb7fde81fa4a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071f4fae874f2b" /><Relationship Type="http://schemas.openxmlformats.org/officeDocument/2006/relationships/notesMaster" Target="/ppt/notesMasters/notesMaster1.xml" Id="R3df1d6deb0ed45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83f4fcd6f74b32" /><Relationship Type="http://schemas.openxmlformats.org/officeDocument/2006/relationships/notesMaster" Target="/ppt/notesMasters/notesMaster1.xml" Id="R6a5e3f07ef9741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851329d6e44f6d" /><Relationship Type="http://schemas.openxmlformats.org/officeDocument/2006/relationships/notesMaster" Target="/ppt/notesMasters/notesMaster1.xml" Id="R967a95e3a57c40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6ae8e12fa2431c" /><Relationship Type="http://schemas.openxmlformats.org/officeDocument/2006/relationships/notesMaster" Target="/ppt/notesMasters/notesMaster1.xml" Id="R0c30b30e48d640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6972c0b4e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2aa0a074ce4436" /><Relationship Type="http://schemas.openxmlformats.org/officeDocument/2006/relationships/slideLayout" Target="/ppt/slideLayouts/slideLayout1.xml" Id="Re5cfe4815c5c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fe4815c5c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bb324efdb4ba5" /><Relationship Type="http://schemas.openxmlformats.org/officeDocument/2006/relationships/notesSlide" Target="/ppt/notesSlides/notesSlide1.xml" Id="R5f17e174c76843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1f043193f4b4a" /><Relationship Type="http://schemas.openxmlformats.org/officeDocument/2006/relationships/notesSlide" Target="/ppt/notesSlides/notesSlide2.xml" Id="Rc5fc9e91c8e94a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15383fd0546d7" /><Relationship Type="http://schemas.openxmlformats.org/officeDocument/2006/relationships/notesSlide" Target="/ppt/notesSlides/notesSlide3.xml" Id="R4246da347d5b47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97d0afc7a4597" /><Relationship Type="http://schemas.openxmlformats.org/officeDocument/2006/relationships/notesSlide" Target="/ppt/notesSlides/notesSlide4.xml" Id="R4f8ffe09db6d43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b9347521f477f" /><Relationship Type="http://schemas.openxmlformats.org/officeDocument/2006/relationships/notesSlide" Target="/ppt/notesSlides/notesSlide5.xml" Id="Reca818b2229348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830ef3cb647ba" /><Relationship Type="http://schemas.openxmlformats.org/officeDocument/2006/relationships/notesSlide" Target="/ppt/notesSlides/notesSlide6.xml" Id="R69e886cddf1947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4e08d2a47492e" /><Relationship Type="http://schemas.openxmlformats.org/officeDocument/2006/relationships/notesSlide" Target="/ppt/notesSlides/notesSlide7.xml" Id="R5a8d3bcf010b48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4e3a94ee348b4" /><Relationship Type="http://schemas.openxmlformats.org/officeDocument/2006/relationships/notesSlide" Target="/ppt/notesSlides/notesSlide8.xml" Id="R4f12a70f625f43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9b45356474900" /><Relationship Type="http://schemas.openxmlformats.org/officeDocument/2006/relationships/notesSlide" Target="/ppt/notesSlides/notesSlide9.xml" Id="Rf562ef40751544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24eff86f94659" /><Relationship Type="http://schemas.openxmlformats.org/officeDocument/2006/relationships/notesSlide" Target="/ppt/notesSlides/notesSlide10.xml" Id="Rd3c260b3fd5f42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49FD8D-3F02-4000-94C9-4D68BAF7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AE74C-F04E-4ECA-97F4-7C709FAB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5759B-9E4C-45C0-B459-2FF2913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F3B21-5FF0-4676-86BC-198BA9BC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CS608 Project 2 Proposal | June 3,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2ECD9-D848-4B5E-9FC9-4267639C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PromoMind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4FF71-15F8-42EA-A182-2547941A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A promotion-aware grocery basket recommender for retail marketing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F50C9-C4D7-427F-8747-6683B152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Predict next-basket products, then decide which recommendations deserve promotion or coupon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E1254-2B3C-41E1-85C5-5DAEC60E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8151D-176E-4778-87CB-647DF421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rPr>
              <a:t>2,469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1FBD7-0418-4BA9-BE44-F53887D8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0113B-D2CB-45B5-AEA5-9A98253D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household-level shopping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5D4CA-65A0-4DF7-90DE-0C723ACB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C7516-5869-41C2-914B-D442FD2F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rPr>
              <a:t>1.47M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893C9-E909-4D3B-A99A-D4439B47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A8F54-019D-4AED-BC74-41C483F7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basket-product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E13F1-FF7C-4F30-AB42-A71C485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CECD0-8535-4FC6-8196-7E7FA53E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rPr>
              <a:t>92K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F12DB-DBC3-4FFB-B6D7-CA326BA9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436D9-55D0-403D-9505-8AA74FB0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large grocery catalog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28E1A-5F8A-4B46-98FA-78A773BA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F5CAC-0489-46E6-8EC6-9FACC7C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rPr>
              <a:t>Re-rank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9E5D4-7C2B-4BA6-BA8D-C361ED2E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X-factor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5E034-84E6-41A4-8DF7-BAEC1811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promotion + coupon + 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7F5C8-7F1D-4E38-AABC-C29603D7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Presenter split: P1 dataset/problem/system setup | P2 methods/reranking/experiments/demo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98A5CE-4992-40EB-AAA8-08C41335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5F6FF2-7D03-48AC-B355-A0B6AB5C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FA72B-1F49-4A2C-BAF0-FBEE456D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23455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D567C-7A90-47EB-8D14-3D6559B4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5A5DD-9044-4215-8929-5EB17DBE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9A65A-28AD-4AAC-B8D2-856E945E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4D62E-0699-4A7D-84FE-75553C4D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Can marketing context improve grocery recommendation trade-offs?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3FCF3-389E-424C-A24B-3AC5BFB1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We study whether promotion and coupon signals change relevance, utility proxy, and diversity under sparse observational retail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91F3D-A86C-4B02-BF4A-65693884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95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109B2-E5AF-4497-A31F-FF93A6AB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Retail pain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F2DA4-9258-4A44-8576-84C2808E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26479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Couponing is often broad: discounts may be sent to households that would buy anyway, while high-potential items are missed.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7E756-E09B-48D6-9AD6-9E30BC4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95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5530B-D9D1-412B-A199-12E6B7F2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66975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Recommendation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2F020-B894-41BC-B9F7-4C295FC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52725"/>
            <a:ext cx="26479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Predict the next products each household is likely to buy from historical baskets and product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8A7AB-3963-417E-BEF8-E06A464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3625"/>
            <a:ext cx="295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B1D57-B248-4785-9468-954BDFC7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66975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Business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BA81B-243B-4ED5-821B-F00AE34A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52725"/>
            <a:ext cx="26479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Re-rank candidates using promotion exposure, coupon eligibility, discount cost, and list diversity.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CA20E-033F-4A84-AD26-13CACAD9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42914-2FB3-4E74-8FF7-D7399BFF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45775-0786-431E-BBC5-D67BB67C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0D2A5-2A3B-4E71-8075-2D6E1F2A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5B003-81C3-4234-BEF5-141A8E21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We will test whether a promotion-aware second stage improves business-oriented utility without unacceptable ranking loss.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FBECC-70CF-4FFD-B038-13EA0147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18378-564C-42BA-8FD1-B0D9FDCE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1BFBB-AB3C-4E90-9DBC-C5568007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75926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2BA455-29DD-489A-82D5-16E5C77E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4F036-9505-485B-9832-89EF433D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D4457-7754-48F6-BBA2-B8AF4863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DATASET AND COLLECTION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BAB38-4870-4C0C-BB1C-18300EFA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The Complete Journey gives us purchases plus marketing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2F863-A536-4091-A401-93CE0FE8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We will use public completejourney RDS/RDA artifacts already stored in the repository; the R extraction script documents reproducible export.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DDC32-8D0E-4124-B102-87F7B0F9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21700-7E26-4511-90A8-D35CB99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rPr>
              <a:t>2,469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475AD-5AD9-48A8-BFF7-33424267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FE45A-A5E8-430C-BBBE-A8474998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tracked for one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F4693-5409-442B-BF9A-61A7F3EA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7ACDE-FD04-4C16-B7F4-23644175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rPr>
              <a:t>1.47M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869D6-4A84-411A-B08B-F60C5CDE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CF4AF-DBA3-4590-BA75-22D678C8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basket-product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0A2AA-2B64-418F-93BD-E2D99C5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26F94-80F2-4FCF-9A8C-716A5AB5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rPr>
              <a:t>92,331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D2C0E-5AE8-494E-BD5D-498721BF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7AA61-2C29-4C5C-B643-EC0AD253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grocery catalog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1DF6E-7FBC-4243-B7EF-04746A9E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68A4A-42B1-4CFC-AFED-38999863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rPr>
              <a:t>2,102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73C03-9FE9-4592-B348-3B6949FA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redemptions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EA6C6-AEB6-4FE9-9A0B-F44EFB0D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sparse coupon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8A70B-99C2-47F5-9823-78160BF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168B8-DA29-4EAE-A8E7-8642A584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6726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667267"/>
                </a:solidFill>
                <a:latin typeface="Aptos Display"/>
                <a:ea typeface="Aptos Display"/>
                <a:cs typeface="Aptos Display"/>
              </a:rPr>
              <a:t>801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9015A-75EE-4495-8142-98A10EFD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demographics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CB0FAA-EA22-4AF8-BCF0-CDD0444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partial profile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4FD25-CBF2-4BE9-A7E8-EF6B5B34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0965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95839-4B94-42CC-9BFB-7D24983B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F6A57-2001-4D1E-A2EF-A5B15B7A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Core raw tables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CE3081-343A-41C9-AB74-840FA14B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transactions -&gt; products -&gt; promotions -&gt; campaigns -&gt; coupons -&gt; coupon_redemptions -&gt; demographics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14C7AB-B602-46F1-A5F1-B8EA5592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Feature examples: household_id, basket_id, product_id, week, quantity, sales_value, retail/coupon discounts, department, category, brand, promotion exposure, campaign/coupon mapping, income/age/household size.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AD1597-B0B8-4B69-B3A2-78BD3260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This lets us explain what the dataset looks like before introducing recommendation models.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1407FE-5406-4940-B23E-957DE567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5D850-3FE7-4FCE-A0E1-93866B49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DBE675-FC8B-4E32-9557-182918D4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26195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749C6F-F8F8-4290-BE19-12DF438F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8A7E9-25A0-4122-9390-E6D3091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D96A6-6553-49CE-A16C-17CA9BB7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PROBLEM DEFINITION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A5B56-DE76-4C2C-AE75-4A1C4D5C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Use past household behavior to predict future grocery products.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610D9-F4ED-4D34-A6CA-8F841B23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The target is implicit feedback: a product is positive if a household buys it in the target period.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E95A4-8CA1-4D74-86BD-9F1C0575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y(h,j,t) = 1 if household h buys product j in the target period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B7830-FD27-4BD4-AEF0-2FC135CD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66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8B35F-5995-48CA-B66B-64A7BF0F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F8458-D1A9-46C9-B9E6-C7E9616B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Weeks 1-40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Fit recommenders and train-window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87CB6-8ED4-4A2D-B01F-5E7CB6DB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266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C249C-0247-4168-AC2F-5519E121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480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BF6C8-9041-4F06-A5CF-7FEEA069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338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Weeks 41-46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Tune ALS/BPR and reranking weights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E3662-854C-4747-BFC5-6BE4D526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266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0E215-AB63-4063-B373-C33F9B2D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480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17DC6-8AE7-4ECF-BCC4-025CCBAA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Weeks 47-53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Final held-out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0A671-8AC7-4192-80AF-B8D73E64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14775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6436C-035E-4571-BA57-B0AE3C11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14775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CD609-ED91-4E57-9DCE-7C0DC90A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5B621-938F-40CD-B9C0-8675F5DA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25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chronological split?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56AC0-E835-4142-B30A-C15EAC57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958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A deployed recommender must use the past to predict the future. Random split would leak future shopping behavior into training.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73706-03DF-40C0-8E91-52A608A7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04E91-C5AC-4BD1-8809-4595EE3E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E24E6-E129-4C05-ABF7-86B89956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38385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3656C7-1B5F-4DD0-9475-AFD17321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674BE-8FC5-429F-BB01-FAB90B9B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04E09-8281-40C7-AC57-2CDC3EFD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EB0B2-6219-4B35-ABD3-6B696F24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PromoMind is a two-stage recommender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44B5A-E41B-46D1-97BC-F0569615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The first stage predicts likely products. The second stage turns those candidates into promotion-aware retail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A0971-5BB7-4084-B8F3-52D23B01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AA217-E12C-4428-9BBB-B0471162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Raw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57B6A-85D1-4727-8096-7888447B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Transactions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Products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Promotions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Campaigns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FFFE8-9C56-4DA5-AF18-D07560DA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B93C1-15E5-44F2-8CD7-E7D81992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Clean +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1BBEA-B263-48CF-A1AE-14E81945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Time split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Features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Leakage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F1AC4-DA57-4228-BDDB-1B0D8709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59023-0054-4E86-96E5-E643AF0D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C6AB3-BC66-4377-B85C-FD11C5A2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Popularity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ItemKNN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ALS/BPR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LightGCN bonus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AB9D2-6CCD-4085-BC87-B9C4A8C1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B28E6-F7D7-43F6-A006-C1E61A1E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Reranking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292D2-D887-4965-BBA3-B3678BD9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Promotion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Discount cost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Diversity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1318A-7BCC-49E5-A9AB-0FD54956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B"/>
          </a:solidFill>
          <a:ln xmlns:a="http://schemas.openxmlformats.org/drawingml/2006/main" w="9525">
            <a:solidFill>
              <a:srgbClr val="9C3B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6D9EB-6E67-4E39-BEDC-75583AB8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3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C3B3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783D7-34FD-41DA-B5DB-3BA8B4FD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Recall/NDCG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Coverage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Business Utility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524FF-6799-4541-8C79-2908184E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476500"/>
            <a:ext cx="1390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EF283-CEC4-4560-B317-4812273C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0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E1B7C-8BE3-4F2F-989C-C4E9ED07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95600"/>
            <a:ext cx="1085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Household view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Top-10 products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Budget slider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1F102-CB54-4C5E-AC2F-6D87EA06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2A492F-3822-4D9E-862D-BB6F34F2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B6712F-C1D8-423C-8848-0CABB9BA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F809F-888A-4663-834B-9969B6F5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FDD8E0-8A30-425A-A487-4AD486FA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BF202-F15C-4748-8743-72C6B4B5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Shared contract: every model emits raw household_id, product_id, base_score, model_name, and base_rank so downstream reranking and demo code stay stable.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7CDF1-58B4-490F-BAAC-AC1A280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144E7A-8208-4F0D-8798-EB209E7F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DAC72E-DC2E-47D8-A01D-3322DDFD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18015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81FA0-F4FA-4C59-AA16-F1462943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74F34-0866-4EF4-A5A2-4ED9BDF3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85A5B-6B4E-4B61-B7AC-C8CBED77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ALGORITHMS TO IMPLEMENT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A819B-2C11-42EA-8A21-17399EC5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We will compare grocery baselines against implicit-feedback recommenders.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41C0A-305B-44C7-ABA5-746D01FF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The model ladder keeps the project complete even if bonus deep models take longer.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482FE-3AA0-4606-85A0-8FDF1A2B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62085-E1FA-43F6-995D-42795D46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AE17A-2A80-48FC-8B45-BA5A58FE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F382F-5078-4ADF-AD8B-739EEF20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Popularity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Category Popularity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Implicit 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03BAD-8E30-4614-8A2F-7C788B04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8EA9E-9C6F-42D5-A721-668FE0D1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4F7F6-FD99-4D0C-9B01-DAE681F0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A513E-0E86-4724-8284-B51AA8BC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ItemKNN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BPR matrix factorization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ALS tuning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8D1E0-A16B-40F7-A22D-56B1692F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33625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6AA9A-6A76-4A95-B300-1943DA13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241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24797-E8B5-44C6-81BE-F3B6B262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908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Bonus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74736-6336-451B-9521-99BE41D9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037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LightGCN via RecBole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Graph-based candidates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Sensitivity curves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EBF43-E151-42E7-A76C-0651615C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988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460-153D-46AF-8D48-BF21F7DB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Library acknowledgements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24DED-BAAF-4906-8BA1-8CFBC8E0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57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FC26B-7631-4559-BE98-BDF15ECF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81550"/>
            <a:ext cx="668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implicit for implicit-feedback ALS/BPR-style models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F9F56-E762-4EDD-8C5E-95CE70B9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76C32-CB68-4BFE-8BD8-E1688584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9675"/>
            <a:ext cx="668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RecBole if LightGCN is attempted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476E9-B1EC-450E-8DE8-02EFDC36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34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58C1C1-7812-47FA-AB1F-2764E3BC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57800"/>
            <a:ext cx="668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Cornac as an optional course-aligned experiment framework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31231-F90D-4FBE-A3B2-B3F979BB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4AF4F-4F6A-4A32-8D52-94B58186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D5E992-5C46-4CDA-B3DA-EAA91D8C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06653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7CF2C1-3B81-4A5C-AB08-B171CD9F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84F70-96E6-46EC-AC4B-D47F6F9A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2469A-39BA-4F3D-B584-40D4E050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X-FACTOR: PROMOTION-AWARE RERANKING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4C71D-9A84-421D-9663-31AC64E7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The second stage decides what is worth pushing.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417C9-11D3-4C75-958C-003ACDE3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Base relevance stays central, but marketing signals and estimated discount cost shape the final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A97AE-A9E0-4E5E-9ADF-5EB0A26F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1118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BE89E-7AD5-46AD-A6DD-C1C1FBA4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90775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final_score = alpha * base + beta * promotion + gamma * coupon - lambda * discount_cost + rho * diversity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6B7FF-7B50-4665-82D2-0FEC9328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049C6-E4FA-407C-B3D3-F6C28682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Base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7C341-5C95-4C5C-BF32-F5BB6C3E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1647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Candidate relevance from ALS/BPR/other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D6ED5-D368-4C18-8710-B14F77F9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2364F-B780-46E7-A79F-A31D86B7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99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Promotion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B3CCE-8716-4AB9-81EC-C7FEAE20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95725"/>
            <a:ext cx="1647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Target-week product exposure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81156-182F-4798-9563-5ADC475D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8FEA9-68B5-43E1-9A6E-8BF3CFD9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99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Coupon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A6B99-9F8E-40B0-83B0-003EEEF4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95725"/>
            <a:ext cx="1647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Household/product campaign eligibility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8EF1B-E37B-487C-A676-3BC323A0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B"/>
          </a:solidFill>
          <a:ln xmlns:a="http://schemas.openxmlformats.org/drawingml/2006/main" w="9525">
            <a:solidFill>
              <a:srgbClr val="9C3B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49ABE-DD86-4B64-95F7-F82FC813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99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3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C3B38"/>
                </a:solidFill>
                <a:latin typeface="Aptos"/>
                <a:ea typeface="Aptos"/>
                <a:cs typeface="Aptos"/>
              </a:rPr>
              <a:t>Discount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A0601-9037-499E-B5F0-22FF197A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95725"/>
            <a:ext cx="1647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Proxy from retail and coupon discounts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B75D4A-1368-4798-A906-09ADBFD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CDAF0-33E1-4696-8709-6D95D185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Diversity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07D2D-A41D-49C7-BF94-13DBB40E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95725"/>
            <a:ext cx="1504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Avoid one-category recommendation lists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6B632-F6F9-4179-88FF-50A31C33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24200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4A3C75-4789-4EF0-8F8A-E4B0EF7E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24200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0F69B-8414-48B9-A4C1-021AC8C7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FFDF0-0884-4ABA-81EA-C2F3CBB3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AFB2F-9E39-4E47-AE39-76786B44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24200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F2ABD6-8737-4A0D-87F1-A8BB7418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2B382E-1513-4251-B4AF-FBA67B45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01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Important wording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35004C-95F2-46C8-B44C-0DE608D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435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This is an observational decision proxy, not causal coupon uplift or true profit, because margin and randomized treatment labels are unavailable.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3B0B9-2471-453B-B16B-627A5CE3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67252-DCB8-4917-A614-547A3838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D4DA93-CEF4-4B59-ADAE-C6494CD5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9861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8D4FC9-261A-46C3-A1B7-1B83531B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AD9F5-505D-4477-9BF4-FBA782C5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793E1-05D7-4E88-B8F6-C7DF8AA6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3B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3B38"/>
                </a:solidFill>
                <a:latin typeface="Aptos"/>
                <a:ea typeface="Aptos"/>
                <a:cs typeface="Aptos"/>
              </a:rPr>
              <a:t>RESEARCH QUESTIONS AND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C0D1D-0338-4378-A05D-6647F922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We evaluate PromoMind as a recommender systems study.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95AB9-A101-481E-B3CF-0548D31C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The demo is the artifact; the research value comes from controlled model comparisons and reranking ablations.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6A42D-5730-42AB-BCC9-81B7F166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81AEF-CE98-41A3-9EF9-E6B5F3C7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B9353-4F13-465B-8004-64C1B62F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1533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87996-9528-409E-B0D0-FDA7F96F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7A83D-529D-4E18-86B7-80FF85D3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RQ1: best grocery candidate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105A7-3CD1-4263-894A-18D3BB70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4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187DE-EBE6-468B-9968-0B2C2BB4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67075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RQ2: promotion/coupon signal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ED1A3-6880-449A-A938-309EFB6C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2523B-81B9-4903-8D30-3CFC1B78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RQ3: discount-cost trade-off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16AEC-5D52-48AF-BDC3-2B0F9F0A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7DE8C-1363-459B-9CFD-EF6B877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95725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RQ4: diversity vs 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CA146-574B-4D5A-83EC-82A348CF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6FD12-6FDB-44D4-BD8D-38EA4F0D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384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5AF3B-0802-4C98-9E3A-6B6A2825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050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A4F44-C086-4ADF-8477-21FC8134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28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5C2F4-B6F3-48DB-B540-9E5DAFB4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95275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Recall@10 / Recall@20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34CDD4-5988-4811-9E0A-FF5071C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65302-1672-441B-9960-B2A60081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3850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NDCG@10 / NDCG@20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DE3AB-46CB-4531-91DB-EBEA3A37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00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1F615-4CA0-4408-A17C-EBEC11E6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52425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Coverage, diversity, novelty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7F6CA6-224D-497D-A091-841488A0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86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25751C-0447-455A-A26A-896C22D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1000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Business Utility@K proxy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D870B2-B5A8-43CB-9181-121E9418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BC1960-7EC9-4581-960A-D9869BB7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3C075B-578A-4524-91C5-A387FE27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050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4555F-B219-4A1D-97FF-69274A4F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014D2F-C40A-4B59-BEF3-65427540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Base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91867B-3E07-44A8-9A16-14A3994C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4094E7-A037-4465-8B54-87B03AB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+ Promotion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3C4380-4802-4AA7-AA28-856E8ED0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98AC65-D2F4-4C28-8D0E-7F045B2F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2425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+ Coupon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A14C0-06DC-4992-9073-1FB2AD63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84E16B-E04E-4AB1-A5E0-0D77925E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- Discount cost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33E428-BD75-4F3B-926F-3385DAFB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F654AE-5968-46D8-BF5A-F543E637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+ Diversity full rerank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63BC09-A9A3-44F1-9ED9-9272889E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83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B"/>
          </a:solidFill>
          <a:ln xmlns:a="http://schemas.openxmlformats.org/drawingml/2006/main" w="9525">
            <a:solidFill>
              <a:srgbClr val="9C3B3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123D88-B4FA-42A8-95FC-FA62D792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Guardrail: select reranking weights on validation with Business Utility@K, but keep Recall/NDCG degradation visible.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275FE0-B73F-4AD5-8290-D2ADAB47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F80234-BACE-4C70-A480-FC467B74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34C7C8-D7B2-4752-BDED-45F3F23D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01189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D73247-1DA6-4681-A795-BD387AC1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4291F-38D5-4253-A725-92ECDBC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19475-2D89-4802-9C9D-9B950F27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RESEARCH CONTRIBUTION AND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B1AC1-9CBF-4169-8C64-C579D6E5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The demo visualizes the recommendation trade-offs.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D17DA-8EE1-4CBC-9187-30D42540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Streamlit will show household context, ranked products, coupon flags, explanations, and budget behavior; evidence still comes from offline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00752-A660-40E9-A20F-657DF72B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1118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1CAE9-E439-48EA-B00B-22E2EB05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D44B3-22AE-44F3-A7A3-9A06CEC7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D5F69-D6B0-4EA3-AA0A-0BDBF4FE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384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26C03-FF42-4FF4-87FE-C50FCC19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Select household_id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5BAF3-02BB-4247-8C97-ECCE2F66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97119-ADB2-4D42-8A5B-488EA530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C323B-F5B4-415B-8005-687E7148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ALS vs reranked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41797-0794-4EDD-90DA-E0E8FBB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B1EFC-6345-4918-9EE8-5FB8E82B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577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53545-8987-4F9B-9264-BE994F43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434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 count or discount-cost 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E0235-6803-4FA7-980C-6572FF43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7620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8EC9D-5DC8-40A4-B796-6FCA718C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A5F7E-0549-40A2-834E-AF4A5CA4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0507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Top-10 recommendation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FEE19-8992-40E5-8DD0-9E7573E8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67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46C6E2-EF9B-47ED-B136-B805F0A6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67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0CB19-6990-4E7E-AED6-0A0061DC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718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67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1E0CD-0203-46D4-9D2D-C81EB5A1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16DFB4-44BB-4D5F-A12F-FFEA87CD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71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67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90A82-2C10-4BA9-8CF5-5D03D282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575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C1934-6B3E-471A-971F-87D7280C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9D7AB0-A0D2-4227-9B15-4E0335A0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Candidate product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05D2D-5B4E-4AC8-93EC-3D3D68CD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147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Frequent category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349A42-DFFC-4CB7-BD84-54D62DA1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D56FA-05B3-4138-9C3A-F9FC37B2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147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 eligible; high ALS score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230387-225A-47E9-8A98-3EA19147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5760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A8271F-1B4B-4E8E-A7BB-B772FB34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3F2385-3CF0-4290-BDAB-2CF7299C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 option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A5E976-0446-4C97-85DD-C86D4A76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 category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391A96-0943-4FC1-98FB-36C28E10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0B3BAA-8EBA-46E6-B8B4-D8E0994D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Matches prior basket pattern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CB4CD3-77B4-4FE7-BE01-90B10412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576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E2656A-C545-4033-BB39-9DA9F1DB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6A8C40-01DC-4CAF-B15E-3CFB51AC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 option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614B12-B567-4594-BFD3-EE376D33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148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Frequent category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EEAEC5-29D8-44FD-8834-009F36EA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Budget limited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170B66-A7D0-4E01-AB09-C6B0D246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14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Matches prior basket pattern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E31198-9645-46FB-A722-07009EBE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D24921-A1D2-4E1B-9F80-856F7C6B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7FDD69-6E3F-4353-9AE4-9AF0670E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148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 option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BE62BE-5DDC-4297-8049-21A7D1A8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148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Frequent category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29FC51-A833-41BF-8DDD-EB845D63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Budget limited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B09B30-19F8-4F5A-B436-CC75B901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14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Matches prior basket pattern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ADAFD2-7374-4926-9C71-80C4E65D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The budget slider changes coupon assignment, not the underlying Top-K relevance list unless clearly labeled.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1AB6D9-4DBC-4834-90C6-6756F67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77C296-46D4-46B8-AF00-DE6348F1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B82671-5809-4269-B20A-599B85C8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02029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DF5477-7AB7-4EA2-B730-9D1F074E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46863-EF05-4C82-9B6B-1DB9B046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18144-AA43-49F7-B6D2-7776C6B4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15"/>
                </a:solidFill>
                <a:latin typeface="Aptos"/>
                <a:ea typeface="Aptos"/>
                <a:cs typeface="Aptos"/>
              </a:rPr>
              <a:t>PLAN AND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8ADC7-6B59-49F6-ACEA-CF8FA8B4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The main line is feasible; bonus models do not block project completeness.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CC6E1-6DF9-4428-BB1E-441A2FA0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The proposal is split between two presenters so the meeting can focus on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C5BE5-2247-4230-AD34-CA537371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AED79-A2AB-4889-B221-FA5A3C95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Presenter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B52B6-19D9-4D7C-9E51-06ABB355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Slides 1-5: motivation, dataset choice, feature examples, recommendation task, time split, system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38862-D67A-4EAF-AF21-252FB40D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CBB97-2D49-42A1-8370-AC5026A7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Presenter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23528-44A1-4DCC-A73A-D6E7F73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Slides 6-10: models, library acknowledgements, reranking design, experiments, demo, risks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CA923-06CD-4EA5-90CC-3F1DD775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5143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47302-1D41-44CB-BFC5-AE1FC720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81AF9-B5C9-4034-8A85-C9D46214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Minimum delivery 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C0D2B-F767-451B-9487-324C2ED5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3867B-3848-4C39-A882-874AA023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421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Chronological data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AD7FF-B8CB-4BE6-B99E-F58CF376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02B03-C5A0-460A-8F38-6AEB3CDB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421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Popularity + 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B7459-7C49-4795-9DBB-7726397C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198B7-4BCA-4FBA-8EC8-71097AD9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91100"/>
            <a:ext cx="421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Promotion-aware reranking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B9D93-7925-4C36-9788-DD355FCD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239B3-7605-4CDD-9060-EFDE5C21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421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Business Utility@K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351A4-040F-4D4D-9287-AA6C705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D39D1-FA1B-4558-8A4C-01100C0A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48300"/>
            <a:ext cx="421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Streamlit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11B619-0441-456D-9755-BE88D978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143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155B8A-8D72-4EC9-B9E7-D749404D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862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BD107A-F9AF-4632-B338-1FBE38B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Risks controlled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6CA8A7-24DA-4211-BC6B-6437D952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6C3FA5-8A3C-4893-96EB-9BA1B988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33900"/>
            <a:ext cx="430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Coupon redemption is sparse: auxiliary signal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57B805-8210-4A2D-8CF0-C1E7606A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86E398-CE0D-4418-88D4-A3511E53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30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Demographics are partial: optional analysis/demo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E7DF38-FEF0-475F-9AB8-4EA30FD5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39AE39-7CD2-43B2-85BF-A157B5B3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91100"/>
            <a:ext cx="430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No margin data: use proxy, not profit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10992-A3C3-4D3A-B02D-A278B42B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41C608-99E6-464B-99C1-A6F55D6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9700"/>
            <a:ext cx="430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LightGCN is bonus, not blocker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CFF6E1-B470-46B5-9973-3971BDAC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Feedback wanted: chronological split, reranking proxy, and evaluation scope.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46D792-DAF7-4F8B-BD61-7C997F60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E9B631-C953-442A-9F45-6BBC9DDE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31F7DC-C0EB-4C83-846A-F3F83095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9620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2026-06-02T09:09:00.6310000Z</dcterms:created>
  <dcterms:modified xsi:type="dcterms:W3CDTF">2026-06-02T09:09:00.6310000Z</dcterms:modified>
</coreProperties>
</file>