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388a8f631942d4" /><Relationship Type="http://schemas.openxmlformats.org/officeDocument/2006/relationships/extended-properties" Target="/docProps/app.xml" Id="R07c287e25bd94943" /><Relationship Type="http://schemas.openxmlformats.org/officeDocument/2006/relationships/officeDocument" Target="/ppt/presentation.xml" Id="R796164f5086a45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c47fcb67db4682"/>
  </p:sldMasterIdLst>
  <p:notesMasterIdLst>
    <p:notesMasterId xmlns:r="http://schemas.openxmlformats.org/officeDocument/2006/relationships" r:id="R3573175aa10d4ae5"/>
  </p:notesMasterIdLst>
  <p:sldIdLst>
    <p:sldId xmlns:r="http://schemas.openxmlformats.org/officeDocument/2006/relationships" id="256" r:id="R890d636d798448d4"/>
    <p:sldId xmlns:r="http://schemas.openxmlformats.org/officeDocument/2006/relationships" id="257" r:id="R1df7e4370ed64182"/>
    <p:sldId xmlns:r="http://schemas.openxmlformats.org/officeDocument/2006/relationships" id="258" r:id="R734efbd93d0b4ba0"/>
    <p:sldId xmlns:r="http://schemas.openxmlformats.org/officeDocument/2006/relationships" id="259" r:id="Rda984c929fb74a7a"/>
    <p:sldId xmlns:r="http://schemas.openxmlformats.org/officeDocument/2006/relationships" id="260" r:id="R21a053bc75774dfa"/>
    <p:sldId xmlns:r="http://schemas.openxmlformats.org/officeDocument/2006/relationships" id="261" r:id="Re90847331cab4fd9"/>
    <p:sldId xmlns:r="http://schemas.openxmlformats.org/officeDocument/2006/relationships" id="262" r:id="R93cc8934b0274b1f"/>
    <p:sldId xmlns:r="http://schemas.openxmlformats.org/officeDocument/2006/relationships" id="263" r:id="R82637aa6dfb845d6"/>
    <p:sldId xmlns:r="http://schemas.openxmlformats.org/officeDocument/2006/relationships" id="264" r:id="R9cb7725056aa457b"/>
    <p:sldId xmlns:r="http://schemas.openxmlformats.org/officeDocument/2006/relationships" id="265" r:id="Rfb8c505698774ff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5698b4cea14e5b" /><Relationship Type="http://schemas.openxmlformats.org/officeDocument/2006/relationships/slideMaster" Target="/ppt/slideMasters/slideMaster1.xml" Id="Rc7c47fcb67db4682" /><Relationship Type="http://schemas.openxmlformats.org/officeDocument/2006/relationships/notesMaster" Target="/ppt/notesMasters/notesMaster1.xml" Id="R3573175aa10d4ae5" /><Relationship Type="http://schemas.openxmlformats.org/officeDocument/2006/relationships/presProps" Target="/ppt/presProps.xml" Id="R7eb92ccbb6f64d7f" /><Relationship Type="http://schemas.openxmlformats.org/officeDocument/2006/relationships/viewProps" Target="/ppt/viewProps.xml" Id="R87f152cf99e84899" /><Relationship Type="http://schemas.openxmlformats.org/officeDocument/2006/relationships/tableStyles" Target="/ppt/tableStyles.xml" Id="R62a769df13d74e70" /><Relationship Type="http://schemas.openxmlformats.org/officeDocument/2006/relationships/slide" Target="/ppt/slides/slide1.xml" Id="R890d636d798448d4" /><Relationship Type="http://schemas.openxmlformats.org/officeDocument/2006/relationships/slide" Target="/ppt/slides/slide2.xml" Id="R1df7e4370ed64182" /><Relationship Type="http://schemas.openxmlformats.org/officeDocument/2006/relationships/slide" Target="/ppt/slides/slide3.xml" Id="R734efbd93d0b4ba0" /><Relationship Type="http://schemas.openxmlformats.org/officeDocument/2006/relationships/slide" Target="/ppt/slides/slide4.xml" Id="Rda984c929fb74a7a" /><Relationship Type="http://schemas.openxmlformats.org/officeDocument/2006/relationships/slide" Target="/ppt/slides/slide5.xml" Id="R21a053bc75774dfa" /><Relationship Type="http://schemas.openxmlformats.org/officeDocument/2006/relationships/slide" Target="/ppt/slides/slide6.xml" Id="Re90847331cab4fd9" /><Relationship Type="http://schemas.openxmlformats.org/officeDocument/2006/relationships/slide" Target="/ppt/slides/slide7.xml" Id="R93cc8934b0274b1f" /><Relationship Type="http://schemas.openxmlformats.org/officeDocument/2006/relationships/slide" Target="/ppt/slides/slide8.xml" Id="R82637aa6dfb845d6" /><Relationship Type="http://schemas.openxmlformats.org/officeDocument/2006/relationships/slide" Target="/ppt/slides/slide9.xml" Id="R9cb7725056aa457b" /><Relationship Type="http://schemas.openxmlformats.org/officeDocument/2006/relationships/slide" Target="/ppt/slides/slide10.xml" Id="Rfb8c505698774f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99e598b6914d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7d0e6057104af9" /><Relationship Type="http://schemas.openxmlformats.org/officeDocument/2006/relationships/notesMaster" Target="/ppt/notesMasters/notesMaster1.xml" Id="Rfd4172d5a67d4f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cbb03db26844d9" /><Relationship Type="http://schemas.openxmlformats.org/officeDocument/2006/relationships/notesMaster" Target="/ppt/notesMasters/notesMaster1.xml" Id="R0931cf03e4d141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80f7e54fff40bf" /><Relationship Type="http://schemas.openxmlformats.org/officeDocument/2006/relationships/notesMaster" Target="/ppt/notesMasters/notesMaster1.xml" Id="R580b4ebdc1fa49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bed175577344fd" /><Relationship Type="http://schemas.openxmlformats.org/officeDocument/2006/relationships/notesMaster" Target="/ppt/notesMasters/notesMaster1.xml" Id="Rec121bad3f7a47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da2231945e4588" /><Relationship Type="http://schemas.openxmlformats.org/officeDocument/2006/relationships/notesMaster" Target="/ppt/notesMasters/notesMaster1.xml" Id="R794d9b7c24f147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e679317fe946b1" /><Relationship Type="http://schemas.openxmlformats.org/officeDocument/2006/relationships/notesMaster" Target="/ppt/notesMasters/notesMaster1.xml" Id="R0e60aea7cd6347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1584884757425a" /><Relationship Type="http://schemas.openxmlformats.org/officeDocument/2006/relationships/notesMaster" Target="/ppt/notesMasters/notesMaster1.xml" Id="R4515049b40ad46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df1cdd576946b6" /><Relationship Type="http://schemas.openxmlformats.org/officeDocument/2006/relationships/notesMaster" Target="/ppt/notesMasters/notesMaster1.xml" Id="Ra3e5fb280de545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7e4b65886f4c5c" /><Relationship Type="http://schemas.openxmlformats.org/officeDocument/2006/relationships/notesMaster" Target="/ppt/notesMasters/notesMaster1.xml" Id="Rde9bb8d3f0ac47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ee798a5b1a456d" /><Relationship Type="http://schemas.openxmlformats.org/officeDocument/2006/relationships/notesMaster" Target="/ppt/notesMasters/notesMaster1.xml" Id="Ra82b8bcfa0cd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f568ca9d4140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ebf0528a3942d8" /><Relationship Type="http://schemas.openxmlformats.org/officeDocument/2006/relationships/slideLayout" Target="/ppt/slideLayouts/slideLayout1.xml" Id="Refc94faac2a54f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c94faac2a54f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80da05823472c" /><Relationship Type="http://schemas.openxmlformats.org/officeDocument/2006/relationships/notesSlide" Target="/ppt/notesSlides/notesSlide1.xml" Id="Rec643fda04754d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8adf613ed4dc2" /><Relationship Type="http://schemas.openxmlformats.org/officeDocument/2006/relationships/notesSlide" Target="/ppt/notesSlides/notesSlide2.xml" Id="R01e6fd72a0e74d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50ef4f1a74941" /><Relationship Type="http://schemas.openxmlformats.org/officeDocument/2006/relationships/notesSlide" Target="/ppt/notesSlides/notesSlide3.xml" Id="Ra738267a3fa94f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90a543a0a462b" /><Relationship Type="http://schemas.openxmlformats.org/officeDocument/2006/relationships/notesSlide" Target="/ppt/notesSlides/notesSlide4.xml" Id="Rd344f45507fb4f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07b5a355c4651" /><Relationship Type="http://schemas.openxmlformats.org/officeDocument/2006/relationships/notesSlide" Target="/ppt/notesSlides/notesSlide5.xml" Id="R3d033cde1adc40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9d03b1e1245d8" /><Relationship Type="http://schemas.openxmlformats.org/officeDocument/2006/relationships/notesSlide" Target="/ppt/notesSlides/notesSlide6.xml" Id="R85e14f4008fd44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8f062c96b48f1" /><Relationship Type="http://schemas.openxmlformats.org/officeDocument/2006/relationships/notesSlide" Target="/ppt/notesSlides/notesSlide7.xml" Id="R5de2ad91261143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b8aea5d744dd5" /><Relationship Type="http://schemas.openxmlformats.org/officeDocument/2006/relationships/notesSlide" Target="/ppt/notesSlides/notesSlide8.xml" Id="R220151792adb43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d8ac218054099" /><Relationship Type="http://schemas.openxmlformats.org/officeDocument/2006/relationships/notesSlide" Target="/ppt/notesSlides/notesSlide9.xml" Id="R46b71c37473447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bb5b9fb584e33" /><Relationship Type="http://schemas.openxmlformats.org/officeDocument/2006/relationships/notesSlide" Target="/ppt/notesSlides/notesSlide10.xml" Id="Rf5311c287ac8419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B8632-1E03-4309-8E12-8D0FD962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557F13-7A98-4509-85B2-B50DFFCB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A2464-D9BD-4C52-AD85-3259991C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05CE4-9B75-423C-A8AE-0003D00A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272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CS608 Project 2 Proposal | June 3,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F149F-766D-403B-A405-AB896F20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233C9-842D-4029-8CD8-EDD397AF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 promotion-aware grocery basket recommender for retail marketing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5F1CE-8948-4F2E-84C1-F917DC3E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Predict next-basket products, then decide which recommendations deserve promotion or coupon support.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2B617-846E-4EA4-B41A-10B0731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ADB0F-C2CC-48B0-BE23-7708445E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9BAA7-7A1C-4B8D-A338-D9270018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83F07-90D7-4D28-9BD1-ED5EC5FE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household-level shopping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1BF91-8A03-485C-905C-DD665C35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B4A35D-2D1F-4E09-A35A-0AA6353D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ED3E2-8AE2-4BBD-AABA-F1F12225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EFCD90-BEDF-4828-A54D-E63F38A4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6CFFBC-2B55-40B5-BB1B-0C6178C6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7D1006-234F-45BE-9A1E-EABB437C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6A965-E353-4FA5-8F92-C36C65A2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08A5DC-08EF-412F-8346-34E31D7D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large grocery 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FD937-42D4-4059-933B-FE96CB90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7DBDB3-60F2-47FE-8296-B89E47D5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Re-rank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14CD72-DB2A-4A5A-8536-BBE72C68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X-factor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57C524-9A37-45D9-8EFD-6404DCCD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 + coupon + cost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740EAF-112D-4DDD-BA19-BEF53294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933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Dataset: The Complete Journey | Task: next-period Top-K grocery recommendation | X-factor: business-aware reranking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B1B71E-2B2F-41DC-8C51-CD1E8BBB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5C3B-3027-493D-B678-AE97F0AB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BF0E2A-770B-4C18-9DE4-9960B4B6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842702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F37475-92ED-4A03-B707-DFEAE3D5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E37F1-17F7-4D1C-A6E8-15D2C34C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2B0AF-B1D8-4BF3-B336-D6E91950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RESEARCH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524FA-77E9-4142-A92F-4CC5DF5D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Can marketing context improve grocery recommendation trade-offs?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E2F34-28F6-4696-9364-2A6D0315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study whether promotion and coupon signals change relevance, utility proxy, and diversity under sparse observational retail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BABC8-C61A-4430-8A10-49E02FAB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D5408-E98B-47C1-98FF-E56BEEDE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Retail pain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3CCF5-B9FC-4C61-93E6-291502D7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Couponing is often broad: discounts may be sent to households that would buy anyway, while high-potential items are missed.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AD45C-06F0-4573-A7ED-0E2362BC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08B14-18E5-4631-9FC9-5E61D92A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Recommendation task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F8946-06BD-4363-959F-2FA7C594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Predict the next products each household is likely to buy from historical baskets and product metadata.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11424-F03B-455D-B391-2635D62B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3EA054-BC89-41FE-A62F-580B32C0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Business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6D052-B8CA-4C71-BBE5-6806A1D7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Re-rank candidates using promotion exposure, coupon eligibility, discount cost, and list diversity.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83A9FB-A7D4-4BBC-BE0C-236056E3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6315A9-F311-462E-942A-98AAC7D8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838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B5283B-56EC-43C2-B01B-38EA0BCF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72112-A55A-4AA9-9A79-C533AC9F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672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E917E1-62E1-42C8-B496-AC4ACCCB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005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We will test whether a promotion-aware second stage improves business-oriented utility without unacceptable ranking loss.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46867B-B8F3-4BF5-8411-E888349E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754DB-125C-42B7-9D4B-AA397DE4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973429-96A2-483A-BEAB-FA54E50C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59435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931618-FF2F-4DF8-AF97-D6BFD209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06C94-9101-468D-B1CF-A8061638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2FD52-9BA0-4CCA-A1EB-3F9F90D3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DATASET AND COLLECTION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2D6B6-0FEB-45BA-A9D0-2E36A45D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Complete Journey gives us purchases plus marketing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88F32-BBDF-4EE8-9FCD-C14DC00A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will use public completejourney RDS/RDA artifacts already stored in the repository; the R extraction script documents reproducible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EE042-4830-4C50-BCAA-23405F68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91A4B-B7E9-46B4-B34C-CB41404A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CFF08-4D0C-44B9-B5B8-FD5039EB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EA37F-14B9-4EB1-B701-45C8F05B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tracked for one 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448EB6-D5EE-4421-9248-2A683FE1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FCDC9-DE78-4C86-A223-309F6E9B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A0ADC-DF09-475B-A656-C3D2FCDC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3A3334-D357-40B1-938A-2A10B6E3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21EE6-DAA3-4539-B438-5260CC6C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177B9B-941F-4051-A436-FB9301FB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92,331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9DEEF-C070-45D8-95EF-468010BB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9CB34-7E5B-4436-9DEF-8AD6E201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grocery catalog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0B274E-47D2-49E2-BBA1-E61766B2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D9F144-C8F6-464C-95FA-8F5A7F55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2,102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726AC-8DE8-44F9-B9E3-7320F011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redemptions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4A50B-B36C-480B-BD9C-2E0E5B3E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sparse coupon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25F201-BAE8-4D5A-A364-E205322F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9698A8-F6A8-45F7-8F62-E1CBFF1B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rPr>
              <a:t>801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C615F4-0358-4FE0-BEC2-100C7671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DE9892-022F-4A7B-8EF7-2E3F71B6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partial profile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E3EB7C-9E18-4EDB-80B6-00C1DA32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0965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E709B3-EA29-44E2-B3EA-5893B186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AD1619-AE28-4F5C-B7D3-BF989A69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Core raw tables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43B7EA-7E0B-422F-B36B-6CD75198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 -&gt; products -&gt; promotions -&gt; campaigns -&gt; coupons -&gt; coupon_redemptions -&gt; demographics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51310F-71AB-4728-A197-B6CCE40D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Feature examples: household_id, basket_id, product_id, week, quantity, sales_value, retail/coupon discounts, department, category, brand, promotion exposure, campaign/coupon mapping, income/age/household size.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3DFE9B-82AB-48F2-AF68-00B98E31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This lets us explain what the dataset looks like before introducing recommendation models.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8B3B42-FC12-42F4-B9B5-421E2529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39BF5B-5425-405F-B3B8-551B2EC6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24CE0B-E92B-4695-BE02-428A5853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938077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9A2B11-34C0-455C-9DCD-307C9D44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79DD8-857F-4358-A377-8055ADC0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FB33C-7C16-4B13-B57C-C3F25312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PROBLEM DEFINITION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12A07-791D-4EC8-A7E4-DDBFA8F4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Use past household behavior to predict future grocery products.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7616C-EAE7-4DC4-A030-7CF14236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target is implicit feedback: a product is positive if a household buys it in the target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5891A-9B77-4C9D-A647-CD287279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09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y(h,j,t) = 1 if household h buys product j in the target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5C2FF-3284-411F-ADD8-5041EA68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CEE96-7AAD-431E-AB58-6FD3A83A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51D38-0E47-4F36-9F2A-2354E9B2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1-40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Fit recommenders and train-window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BCB43-3E2A-4899-B7F3-E6F35492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D2D5A-696A-4A13-8D13-01E4BD53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46310-1325-4FB3-90D7-A9C3F5F3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41-46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Tune ALS/BPR and reranking weights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273D3-E92F-4650-B624-073D60FD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5CA7D-0CB1-43DF-8719-DFE5AD37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CACE1-0265-4787-A7E8-04CFE42F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47-53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Final held-out reporting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C10FC-80BE-49CC-BA48-7D6DC4AE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B81F13-306B-474A-86B5-AD677F12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79687D-E2D7-478E-AE01-41F47960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958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2A716-2CCC-48A0-9460-CF87DA16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62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chronological split?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F8B1C3-23C8-441F-A979-EFF9D045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95875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 deployed recommender must use the past to predict the future. Random split would leak future shopping behavior into training.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229C07-19D7-4425-84CC-B6BF2701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8EC9E-1BA8-4940-A143-B83508BA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51336-C2A6-4E2E-9958-80A18621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8827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DB19E1-3AFB-4832-8421-9A22BEE6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44A9E-B2DC-47A4-8CE3-AB23AFB8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3983C2-E643-4668-9E5B-0A0AEDF1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7059A-74E5-40A3-BFE8-E51239FB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 is a two-stage recommender pipeline.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A9493-0D72-4CAD-8340-B6657E93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first stage predicts likely products. The second stage turns those candidates into promotion-aware retail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FD403-7F6A-4B35-A67C-536922C5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20265-EE4B-4C35-A80E-956F00CD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Raw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EE4A7-54AE-4B93-AFA8-9F7B18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Transactions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EE543-A983-45DC-B148-47106B4E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7D5BD-63AA-42AD-B28F-115E5304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Clean + split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EACC4-ACC5-4BCE-A69E-83B2E3E0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Time split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Leakage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C7C2F-7CD4-448E-A2CE-98C34DB1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FC9FC-19D7-4988-BAA3-5E97087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8D19B-3E3B-4C76-BB6D-E6E7C1FE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ALS/BPR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LightGCN bonus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71A57-AC30-41AA-80C2-F1726CD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17014-3472-499B-A4C3-DD3C45F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Reranking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801CF-7B83-4642-B40D-CD6B21C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Discount cost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E9379A-FD7F-432E-9A45-D7775688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02228-57E9-4647-B761-406E9ECD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03E870-9FE2-46AD-8CDC-3112C766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Recall/NDCG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Coverage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Business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307CB7-C5CA-4C04-A31B-1F32F44E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76500"/>
            <a:ext cx="13906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1DE2B5-E4B6-4B6C-991A-F06FC444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09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F36245-C973-4DBC-AC21-E884DC74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95600"/>
            <a:ext cx="10858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 view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Top-10 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Budget slider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9D2DED-7EAC-490B-AD3F-3E93E194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C4ECF4-66D2-4087-BE24-9010F057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B44C6C-7C50-4390-A1CF-9CA4A062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B7BEF-492D-456A-BF30-01076583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89AEE6-FFBE-4F2E-A7DF-E08043ED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F21531-2511-456E-BA66-5AF1E042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Shared contract: every model emits raw household_id, product_id, base_score, model_name, and base_rank so downstream reranking and demo code stay stable.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76836D-BA41-4724-9A1D-1675A5F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04FA28-C56F-4834-9CD1-71AA948F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13D7CE-8863-4442-B2A9-6F2B2D52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744383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71AA72-337C-4AB2-AB12-AEB12C33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9C7B8-45F1-472F-8681-21D99FF3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FF841-853D-4B9C-B852-3EB9B587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ALGORITHMS TO IMPLEMENT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D328F-FB83-4C01-A345-AD8436F1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will compare grocery baselines against implicit-feedback recommenders.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277CD-48E3-40AC-A18A-53FB51ED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model ladder keeps the project complete even if bonus deep models take longer.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5665E9-D8C6-405F-9C36-ABF5A2AE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4AA39-AFD0-40FA-9C35-D9705B2C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7DD9E-AF71-4950-BB62-253F68B1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13EA0-0509-410D-8DDB-89902B6A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 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BCA9EE-B8DC-420E-99C7-F7DC7AB9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5D90C-22B6-41C4-957C-50F2F820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082AA-9F49-480A-B24D-EBC53C0F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41C62-EBD7-4946-8377-9C73D696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BPR matrix factorization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ALS tuning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E86075-0E19-4EFB-B692-E2987A01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1E6146-C383-4B8F-A9BF-6459DF81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DB172-C62A-4B14-B86F-ADE9973F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CF0B6-7050-4EB1-999D-ABEEACAB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via RecBole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Graph-based candidates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Sensitivity curves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26084-4593-4F3E-880C-79DEC1ED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98869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8CCDC8-C219-481D-BF5A-FCDE24A2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577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Library acknowledgements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2D276-8C3F-426E-AE56-12BDA7EA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286EB4-9EF7-4FD4-8F65-FAB68CCD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8155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for implicit-feedback ALS/BPR-style models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898A83-2896-4EA4-846B-A505030B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4251A-DF17-4CD8-A1F2-6CF6980A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19675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if LightGCN is attempted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5B62DB-3A19-4679-999E-DD157DE4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340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678E19-30F1-4B50-A1FB-2E714898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25780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Cornac as an optional course-aligned experiment framework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B0F02-B5A1-4F6C-AF30-96495C0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74C7AD-40DD-470E-80D8-60045032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3441E4-7278-45BF-86C2-40EE6DFB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988151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D07BED-5224-4F9F-B45A-DF9B62D0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47FD8-5BAC-4BF6-AD92-5ABBE142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7060F-26FD-47F8-A0D3-CE03911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X-FACTOR: PROMOTION-AWARE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6D9B1-5A94-49BB-9EB1-DBA0066B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second stage decides what is worth pushing.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B29D1-E6C4-424C-A34E-5F65AA9C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Base relevance stays central, but marketing signals and estimated discount cost shape the final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B666B-9580-4395-ACF1-7450D68D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1038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B4A15-1B1E-4AF6-AFF6-2AB1B342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0775"/>
            <a:ext cx="981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final_score = alpha * base + beta * promotion + gamma * coupon - lambda * discount_cost + rho * diversity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685FC-7177-4BB4-80FA-906D5D08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3EDFA-28D1-42E6-9F2B-D6F93345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Base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1C79C-36B5-466C-909B-4599A8CA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Candidate relevance from ALS/BPR/other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FB0F8-6034-49F3-BBCD-12DE20B7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18C91-335F-42A2-979F-228D6BA0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Promotion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BBA91-1BAC-4235-AE4F-C5342E50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Target-week product exposure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8DEF5-A5CA-4C86-BE1C-F8647B6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FC020-6E74-492A-A368-3D207022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Coupon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BBC3B-E998-4DB9-8D1F-73F539AC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Household/product campaign eligibility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9C1146-313D-4052-947D-F944A69C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80A9F-BDD4-4AFB-BE8A-2124AF84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Discount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F2B24-77D3-407F-8A87-CC77B8D5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Proxy from retail and coupon discounts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50027-71C5-4418-A106-FEB4E240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76625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E6AFBC-56FC-4F01-8D34-ED8B8CA7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99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2478AA-B509-4930-9B4D-53CA5055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95725"/>
            <a:ext cx="1504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Avoid one-category recommendation lists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840787-2F6D-4C47-BC1D-10590F23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FA86B-BD16-4516-87BC-7FA8CBA7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6A13DE-FC17-44A8-94B0-A620A3FA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A53E6E-AE5A-487B-B3B1-E16191D4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481A76-1B3B-4027-A549-CD742A1A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1933FA-CE21-4BD5-8FC6-D2952CAB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D78C82-76BF-4F4F-92B8-C357EF2C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0175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Important wording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9B5D9F-3D21-4C0B-81F2-0ED598FE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43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This is an observational decision proxy, not causal coupon uplift or true profit, because margin and randomized treatment labels are unavailable.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B24FC3-78D2-4E47-91E5-2FB2BFE9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5ABC8C-7E2A-478C-AB6B-CEC1A49A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B63B21-F30B-42A7-AEDF-2350DB7B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751925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6C3B95-69A8-4438-BEF1-E85FF212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D5C04-60EC-4208-869A-EC9650C3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D9CFB-8368-42B7-9E30-4C691275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RESEARCH QUESTIONS AND EXPERIMENTS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353BF-FD86-46A8-8521-21D16551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evaluate PromoMind as a recommender systems study.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7F448-D251-480A-9571-D2C8B232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demo is the artifact; the research value comes from controlled model comparisons and reranking ablations.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1A76E-1467-460F-9906-3C59D72B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5779A8-56A3-4EBA-B700-6BA32D7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384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B7BBD-ACBC-4B3C-BA30-959870E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05075"/>
            <a:ext cx="1533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EC3DD-6F6B-4367-A724-0992BA8E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65A7-0CD1-4BC8-AC34-EA9F7BD5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RQ1: best grocery candidate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9F328-2E0F-4BD5-9034-1C27E5D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43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2758E-9EFB-4BE1-93A2-85FFFFC6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6707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RQ2: promotion/coupon signal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73507-8F22-4B2F-A7FE-2B9F220B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57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056B4-3F88-4470-94CC-5A56AB59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814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RQ3: discount-cost trade-off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145D7-FEA9-4760-BA02-E9FD978E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719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53BE8-A694-4C41-8D65-CF910DA6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9572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RQ4: diversity vs accuracy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DE703-6CEB-457A-BEA2-88BA5AB5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7B198-94ED-4046-853E-4C6AF1CB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384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889563-BCF9-4C69-B3BA-D279D961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5050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C939B7-9533-4FB4-BA2E-DB3E8BD2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268F7-7B9A-47C3-9919-10B944E7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Recall@10 / Recall@20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ABB325-DEDC-433F-9029-DFE6BA3E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E35313-B31F-434D-A451-8FD66E36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NDCG@10 / NDCG@20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F9BC3A-6749-411F-865D-7CDC3842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9AD990-254F-4D57-A457-A0F22DCA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Coverage, diversity, novelty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618091-476C-49B0-9301-EA920A70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93D986-5CD0-42C6-8B2E-3027C9A5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428A1B-573E-4511-ACB0-E7B0B663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0C677D-6B1E-4439-A46D-18DF66A3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38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694067-FBBF-44F0-B338-2160774E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050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79746-5218-4B00-BE90-F89A3C71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F929EE-03FC-41A9-B0A7-51F517AC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Base only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345C26-A817-45FA-B99E-2643A07F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6AF119-40C7-400C-A289-214C7B4C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Promotion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67172B-EA0A-4816-A92E-821507C6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19D24C-BDCB-4FF5-A78D-BE44A91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Coupon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06E88E-A471-483A-86AE-D2F4DD1F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447F0D-D61F-4607-BBE1-C78175A9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Discount-cost penalty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F1BDD5-A353-4EDE-8534-07F9073F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71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D4CA4F-3930-454F-A87E-0A35885D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95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Diversity full rerank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FD2C8F-ED66-418B-B186-18A1D911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0839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08F0EC-C197-4C61-BD4D-2FFE0FED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Guardrail: select reranking weights on validation with Business Utility@K, but keep Recall/NDCG degradation visible.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6D45D2-0E3E-4A6D-B8C2-86E506D3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97CC55-A6D4-471A-A2F2-71E3F387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7E78FF-D76D-4E08-95F5-C0260F21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861373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A5DFD3-7BF3-42C5-8205-9B97C0FD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621C6-9C2E-45EA-AEE9-3F7973B8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7D643-AD0E-4639-A965-3979A1E9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RESEARCH CONTRIBUTION AND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3B99C-7A1E-483E-AB53-35F3D0B5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demo visualizes the recommendation trade-offs.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102B4-988B-4D25-8333-5038480C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Streamlit will show household context, ranked products, coupon flags, explanations, and budget behavior; evidence still comes from offline evaluation.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03BC4-2A0A-45F3-91B9-67235430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476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E7084-4202-4397-88F1-51234B47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2A0BD-D777-42BF-9414-E9E29FF2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0512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2D590E-D5F8-47CD-9B8A-0777C22E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F8BFA-C8E2-4512-A3E3-7CB75608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24225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Select household_id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DE260-FD63-455D-899A-721AE717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BFB53-33CC-4C8E-91AE-1EE062DF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DA1F40-8A9D-4F44-B715-88142F44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33850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 vs reranked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D0F96F-3A15-4E5B-929D-E8741861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437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009F-68C3-4CA5-A4D4-467C77AF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577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D98F4E-D3C7-4E3E-BA9F-4F279EE2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43475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count or discount-cost limit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6A993-23E8-4091-BF3A-76DD0082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762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4AE82-0352-4006-852E-969B59CA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5410C9-ADDE-4FAF-9C39-8F6AEC37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05075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Top-10 recommendation 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BD7100-D2B9-4D8D-8091-6C0C8419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718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97307-ED04-410A-BACC-DC2B6597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2386B-E9EC-4591-9619-009E490F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7180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A4B68D-F7C3-4F61-B63A-7D4E3DA3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718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7D0BF-A4B2-4FD8-A391-7C6F4575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71800"/>
            <a:ext cx="1619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2AA9C1-89AB-4BAD-ABFE-46C9569C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575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B3633C-DB85-4FA5-A317-CD8D6737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147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DA031D-1DDC-4D0B-BCFC-86A667D2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Candidate product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C30234-B87A-42B9-8BA4-B42094A9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A12199-6939-4CDA-A6AD-58221320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A65D18-2B39-4DB7-8DAC-15460F79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eligible; high ALS score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4B749C-A4FE-47EF-BC5B-1C572193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576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1CB250-21B9-4BD4-B9DA-33D6131D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A8DEE4-B106-4828-9037-01519369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D7CFEE-E5F1-47A6-AD6E-45A98CC3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 category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7743FD-0E5A-4EC2-9CD5-AFAE4909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C332F0-50E7-4AED-9367-B0523C2F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147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97A477-627A-4394-8099-8B4D26B3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0576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CF5B88-57EE-4C12-AE50-DB42502D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148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1499DC-AACC-40D3-91E5-912E2E64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1E9C06-B56B-4BB5-963E-2F900CF5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A5371F-38EB-466E-A23B-ABDE2660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2B70F1-06E7-487B-B191-0AE3140C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148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330261-BDFC-4564-8F94-F7BFBD29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7D72A3-F1DE-47AB-8399-06A244FD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148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B1F85D-7041-49F1-863F-22A30541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148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25E0DE-67D6-4611-B022-E4B147B7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148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045DAD-BB86-4FF1-910B-D9976CC9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148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ABD1F4-1F9A-481B-94F2-C65347F9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148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B746A5-5B8D-402B-847A-A56727BA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149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The budget slider changes coupon assignment, not the underlying Top-K relevance list unless clearly labeled.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2EB6911-E72A-45A5-A1F1-31D62BD1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A906FC-A2B7-437B-A14E-BA471539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80102E-8A8A-4FE1-92D8-D87AEF76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08511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8EA76C-3035-4A56-826F-AD6D225E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C44F65-355C-48BE-A045-C65D0A4A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B04DA-6DE2-491E-860C-4C32145D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1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15"/>
                </a:solidFill>
                <a:latin typeface="Aptos"/>
                <a:ea typeface="Aptos"/>
                <a:cs typeface="Aptos"/>
              </a:rPr>
              <a:t>FEASIBILITY AND RISK CONTROLS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FF109-E4F8-4D46-96FD-A567E056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project has a stable core path and clear extensions.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AF4B1-3C04-4238-B68C-55D1CFE4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By the final presentation, we will report the finalized dataset, model comparisons, reranking ablations, working demo, limitations, and future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522A6-59EB-4EE4-A1C5-2A8816BE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177FA-6B52-4401-8A4A-5509FBCD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Minimum complete 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1AC4E-D59C-4060-BFBA-AACFFA54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752AA9-3846-4795-9B47-B96CD239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Chronological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1E221C-397D-493E-9E28-EC1FA44D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F2E272-DF07-429E-84D3-EB8A0BE1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 + 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9B46F-9600-46C1-9505-65297A90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A5F9F-F86F-44D8-B84E-EDFD0862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Promotion-aware reranking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8B5AA3-40DB-4C65-B90D-6E70FE22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FD834-F285-4422-8861-CE811246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C2E90-63CA-4360-840D-BD2ED0CB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8008A-F61F-4DF2-9DC5-547FC569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385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Streamlit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61445-86ED-4F84-B7C5-11078D0C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8D76F9-F3DA-45D3-908A-E6785472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Experiment package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07453-0997-4F99-AE0F-8B6B6B3B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2579FC-CB13-443D-B45E-FB4E5A3E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Recall/NDCG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DCFB68-6EF8-4384-9092-5D11FECC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7FC20-E383-493E-99C1-E53BDB46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Coverage/diversity/novelty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E56B0C-FB7A-4916-BD63-7EA925BE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D2EF89-20CA-4953-9100-0FC5B712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Reranking ablations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90D84E-643B-4408-9C4E-400AA2CA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4A129A-5760-4ADC-9A65-A587A9E6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Budget sensitivity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31D870-5485-4562-A57F-49402FE0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7706FF-B0B4-4262-85A1-19894255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Extensions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FC164D-1381-438C-AF1F-82B1187E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7DE130-9058-46ED-A886-AF561E99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 + BPR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BD63B0-3AC6-4FBC-8D8E-A8D17FE2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034072-D9A9-46CD-94DD-3684647F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via RecBole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B89A12-A32D-43F3-9F83-625A3363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740579-778C-4CEF-9F35-0BADB21B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 subgroup 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F91DEA-1FF4-416B-9D1E-14B231AB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0E6B4E-3708-4318-A087-07CE6DBE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Future causal uplift framing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751431-C0FC-47D0-8654-4A83E1BC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5D731F-BE67-4EDE-A061-91E44A12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EC7486-AA1B-4845-BD4E-641DE471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624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Risks controlled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5357F4-2883-4A82-9BE3-81D109C3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7AB377-C923-4755-A815-D9166640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 redemption is sparse: auxiliary signal only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D4B4EF-8E55-49AB-ABB1-B0E1EE35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86B71C-ACAD-4695-8A43-33707D36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 are partial: optional analysis/demo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D5F221-F84D-43B8-8228-4AC029DE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DD73B2-56A5-406F-A671-EBC43C6A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No margin data: use proxy, not profit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F91FF2-D4B3-45DF-8C6B-1CD2EC00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EDE762-7DBD-46FC-856F-38C8523A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9580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ED4AFF-17B9-4208-9F7C-42BE1E92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624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evidence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A9277E-E95B-4CDB-B585-7B5110B2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7160BF-4D9C-4D6B-B903-BC52A08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Time-based offline evaluation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39B5BEF-5730-46CB-81E7-2E7C168F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0B34CFF-CE74-4C92-8625-37F27B98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Accuracy plus list-health metrics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5F8BEB-2BE4-4A30-8638-0BFB87BE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13987-22CC-497C-BFF0-4ECE9786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 explains trade-offs; metrics provide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33DAD97-A7E7-47F7-A08C-148C28F2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4360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Core claim: PromoMind studies grocery recommendation as a retail decision problem, not only a purchase prediction task.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C709CC9-08F8-4554-95CD-5416FB93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B9E775-2056-49DA-BBBD-C8671BEF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BCBEA2-BE3B-4967-84FE-CD85634F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072763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2026-06-02T09:29:34.6910000Z</dcterms:created>
  <dcterms:modified xsi:type="dcterms:W3CDTF">2026-06-02T09:29:34.6910000Z</dcterms:modified>
</coreProperties>
</file>