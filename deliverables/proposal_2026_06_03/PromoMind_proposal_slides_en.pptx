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e761a2e8ae4c96" /><Relationship Type="http://schemas.openxmlformats.org/officeDocument/2006/relationships/extended-properties" Target="/docProps/app.xml" Id="R6144531dbcee42aa" /><Relationship Type="http://schemas.openxmlformats.org/officeDocument/2006/relationships/officeDocument" Target="/ppt/presentation.xml" Id="Rdfba4906496544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81753c595b4d7a"/>
  </p:sldMasterIdLst>
  <p:notesMasterIdLst>
    <p:notesMasterId xmlns:r="http://schemas.openxmlformats.org/officeDocument/2006/relationships" r:id="R76d241b67d6740d1"/>
  </p:notesMasterIdLst>
  <p:sldIdLst>
    <p:sldId xmlns:r="http://schemas.openxmlformats.org/officeDocument/2006/relationships" id="256" r:id="R130380ad2ed74dab"/>
    <p:sldId xmlns:r="http://schemas.openxmlformats.org/officeDocument/2006/relationships" id="257" r:id="Ra13fb9900e7e49d3"/>
    <p:sldId xmlns:r="http://schemas.openxmlformats.org/officeDocument/2006/relationships" id="258" r:id="R130e0aa151e145e9"/>
    <p:sldId xmlns:r="http://schemas.openxmlformats.org/officeDocument/2006/relationships" id="259" r:id="Rcc96af1fc4b6498d"/>
    <p:sldId xmlns:r="http://schemas.openxmlformats.org/officeDocument/2006/relationships" id="260" r:id="R3764f547e8ac4386"/>
    <p:sldId xmlns:r="http://schemas.openxmlformats.org/officeDocument/2006/relationships" id="261" r:id="R85fc071bbcfa4d29"/>
    <p:sldId xmlns:r="http://schemas.openxmlformats.org/officeDocument/2006/relationships" id="262" r:id="R75c25d7de86b48f9"/>
    <p:sldId xmlns:r="http://schemas.openxmlformats.org/officeDocument/2006/relationships" id="263" r:id="Rfa81bf8144754b73"/>
    <p:sldId xmlns:r="http://schemas.openxmlformats.org/officeDocument/2006/relationships" id="264" r:id="R846f4a41cfeb47e4"/>
    <p:sldId xmlns:r="http://schemas.openxmlformats.org/officeDocument/2006/relationships" id="265" r:id="R9eb8d6cf95194d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0aca77ce11456a" /><Relationship Type="http://schemas.openxmlformats.org/officeDocument/2006/relationships/slideMaster" Target="/ppt/slideMasters/slideMaster1.xml" Id="R1a81753c595b4d7a" /><Relationship Type="http://schemas.openxmlformats.org/officeDocument/2006/relationships/notesMaster" Target="/ppt/notesMasters/notesMaster1.xml" Id="R76d241b67d6740d1" /><Relationship Type="http://schemas.openxmlformats.org/officeDocument/2006/relationships/presProps" Target="/ppt/presProps.xml" Id="Re89c2f59b4e641c8" /><Relationship Type="http://schemas.openxmlformats.org/officeDocument/2006/relationships/viewProps" Target="/ppt/viewProps.xml" Id="R3b5852eed368485e" /><Relationship Type="http://schemas.openxmlformats.org/officeDocument/2006/relationships/tableStyles" Target="/ppt/tableStyles.xml" Id="R6367666193214b32" /><Relationship Type="http://schemas.openxmlformats.org/officeDocument/2006/relationships/slide" Target="/ppt/slides/slide1.xml" Id="R130380ad2ed74dab" /><Relationship Type="http://schemas.openxmlformats.org/officeDocument/2006/relationships/slide" Target="/ppt/slides/slide2.xml" Id="Ra13fb9900e7e49d3" /><Relationship Type="http://schemas.openxmlformats.org/officeDocument/2006/relationships/slide" Target="/ppt/slides/slide3.xml" Id="R130e0aa151e145e9" /><Relationship Type="http://schemas.openxmlformats.org/officeDocument/2006/relationships/slide" Target="/ppt/slides/slide4.xml" Id="Rcc96af1fc4b6498d" /><Relationship Type="http://schemas.openxmlformats.org/officeDocument/2006/relationships/slide" Target="/ppt/slides/slide5.xml" Id="R3764f547e8ac4386" /><Relationship Type="http://schemas.openxmlformats.org/officeDocument/2006/relationships/slide" Target="/ppt/slides/slide6.xml" Id="R85fc071bbcfa4d29" /><Relationship Type="http://schemas.openxmlformats.org/officeDocument/2006/relationships/slide" Target="/ppt/slides/slide7.xml" Id="R75c25d7de86b48f9" /><Relationship Type="http://schemas.openxmlformats.org/officeDocument/2006/relationships/slide" Target="/ppt/slides/slide8.xml" Id="Rfa81bf8144754b73" /><Relationship Type="http://schemas.openxmlformats.org/officeDocument/2006/relationships/slide" Target="/ppt/slides/slide9.xml" Id="R846f4a41cfeb47e4" /><Relationship Type="http://schemas.openxmlformats.org/officeDocument/2006/relationships/slide" Target="/ppt/slides/slide10.xml" Id="R9eb8d6cf95194d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22edbe3ee34fa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f883220fe84a0e" /><Relationship Type="http://schemas.openxmlformats.org/officeDocument/2006/relationships/notesMaster" Target="/ppt/notesMasters/notesMaster1.xml" Id="R6eb979c21bdd4a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7033f690b847a0" /><Relationship Type="http://schemas.openxmlformats.org/officeDocument/2006/relationships/notesMaster" Target="/ppt/notesMasters/notesMaster1.xml" Id="Rb4480615919440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31536dbb304a84" /><Relationship Type="http://schemas.openxmlformats.org/officeDocument/2006/relationships/notesMaster" Target="/ppt/notesMasters/notesMaster1.xml" Id="Rbdf8b4b967a947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02633960f949df" /><Relationship Type="http://schemas.openxmlformats.org/officeDocument/2006/relationships/notesMaster" Target="/ppt/notesMasters/notesMaster1.xml" Id="R3e1df051890d4a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6fbd6c6a134a80" /><Relationship Type="http://schemas.openxmlformats.org/officeDocument/2006/relationships/notesMaster" Target="/ppt/notesMasters/notesMaster1.xml" Id="Rc707b7dca84c43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d870b427a34f2a" /><Relationship Type="http://schemas.openxmlformats.org/officeDocument/2006/relationships/notesMaster" Target="/ppt/notesMasters/notesMaster1.xml" Id="R247ce0a75f5c4d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be2acf202d4f65" /><Relationship Type="http://schemas.openxmlformats.org/officeDocument/2006/relationships/notesMaster" Target="/ppt/notesMasters/notesMaster1.xml" Id="R9cca0d3775f64f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b8a2835e464d14" /><Relationship Type="http://schemas.openxmlformats.org/officeDocument/2006/relationships/notesMaster" Target="/ppt/notesMasters/notesMaster1.xml" Id="Rff6f9be8c4bf41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2f3a5257b24e6b" /><Relationship Type="http://schemas.openxmlformats.org/officeDocument/2006/relationships/notesMaster" Target="/ppt/notesMasters/notesMaster1.xml" Id="R661b6f5b8bd547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00bb1304454bce" /><Relationship Type="http://schemas.openxmlformats.org/officeDocument/2006/relationships/notesMaster" Target="/ppt/notesMasters/notesMaster1.xml" Id="R42e79afe98a044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efc78fa9174c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a2e1ef05d6451d" /><Relationship Type="http://schemas.openxmlformats.org/officeDocument/2006/relationships/slideLayout" Target="/ppt/slideLayouts/slideLayout1.xml" Id="Rf7e2ad55b6e14d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e2ad55b6e14d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2d398959834642" /><Relationship Type="http://schemas.openxmlformats.org/officeDocument/2006/relationships/notesSlide" Target="/ppt/notesSlides/notesSlide1.xml" Id="Rff24a852233948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047016df464cd0" /><Relationship Type="http://schemas.openxmlformats.org/officeDocument/2006/relationships/notesSlide" Target="/ppt/notesSlides/notesSlide2.xml" Id="R10ebb426b9eb46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f4caba1bc44caa" /><Relationship Type="http://schemas.openxmlformats.org/officeDocument/2006/relationships/notesSlide" Target="/ppt/notesSlides/notesSlide3.xml" Id="R7dbadac7f6e34b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b5a9c58a5e4f3e" /><Relationship Type="http://schemas.openxmlformats.org/officeDocument/2006/relationships/notesSlide" Target="/ppt/notesSlides/notesSlide4.xml" Id="Rbb6f9777f79949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92502f8c484a16" /><Relationship Type="http://schemas.openxmlformats.org/officeDocument/2006/relationships/notesSlide" Target="/ppt/notesSlides/notesSlide5.xml" Id="R6fde0085bee647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8c692a3b54192" /><Relationship Type="http://schemas.openxmlformats.org/officeDocument/2006/relationships/notesSlide" Target="/ppt/notesSlides/notesSlide6.xml" Id="R912ac11650db49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46916409f4b8d" /><Relationship Type="http://schemas.openxmlformats.org/officeDocument/2006/relationships/notesSlide" Target="/ppt/notesSlides/notesSlide7.xml" Id="R1ee3c0278cbd40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45b34b44c4152" /><Relationship Type="http://schemas.openxmlformats.org/officeDocument/2006/relationships/notesSlide" Target="/ppt/notesSlides/notesSlide8.xml" Id="R08624545222c4f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3dd4484704438" /><Relationship Type="http://schemas.openxmlformats.org/officeDocument/2006/relationships/notesSlide" Target="/ppt/notesSlides/notesSlide9.xml" Id="R1c5703b8e6bc4d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e77fbd23d4566" /><Relationship Type="http://schemas.openxmlformats.org/officeDocument/2006/relationships/notesSlide" Target="/ppt/notesSlides/notesSlide10.xml" Id="R48972bbd8990431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CA29FE-4E68-476E-A557-10D7F2CC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6B2CE-1EA6-46B3-8870-A08C45BDD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4C22A-78DD-447D-A956-6A142B9B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3CD40-FAC7-410E-AF86-F7178ABC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2724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CS608 Project 2 Proposal | June 3,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0CB6B9-EE4D-4CB3-923E-CEB32B93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43459-41DE-4A2F-A347-DA52EA79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 promotion-aware grocery basket recommender for retail marketing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B1BD0-9D55-4E39-89FA-88581CBE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Predict next-basket products, then decide which recommendations deserve promotion or coupon support.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B12C9A-772B-4A63-A254-A482F46F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799A3-4C6E-4B1F-9AEE-5995F7EF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69EA6-D3D8-41BB-8DC8-26D30A27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64E2E9-5F47-4F6C-9DE2-2E464E1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household-level shopping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908F32-C797-4FC2-9F6D-0167FC95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DCBC2-4AEF-4188-9FB8-52FCCB84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9590F0-7E87-406E-9F30-04A8E577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98BAE-B4D7-4ED1-A1E3-96A45E83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DFD6F9-A066-439D-86C4-7DFFBCD4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CBC0C-1BEC-4866-A208-55DA9899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9C32D4-0B2C-4CFD-B4FE-97409F05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2C49D8-AD1A-43A1-AB67-1D68C9AC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large grocery 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F9F01D-A815-45D2-861A-251E3B96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021B6-DCC1-4A25-B61E-D8B6D7EE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Re-rank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CEC217-67F2-4FC4-8ACD-59481655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X-factor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6F6787-D29A-419E-8CE5-180000A6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 + coupon + cost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D82887-2339-450C-93DE-A798CAFF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933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Dataset: The Complete Journey | Task: next-period Top-K grocery recommendation | X-factor: business-aware reranking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CE9298-CE2B-4700-AECB-363A08CF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A41061-1984-4878-9BEF-7C9B5E83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D25BEA-0660-46C5-9923-A91B50EE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444508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93129F-A536-481A-BD61-556F000B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104EDD-DA7C-4834-80E7-B6B13CDC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73D179-3B0C-44F7-929F-70B4D3B0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RESEARCH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F173F-5DD0-4D1E-8A4B-42135DB1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Can marketing context improve grocery recommendation trade-offs?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220F2-A7B1-4E3B-BF2A-31D13AA69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study whether promotion and coupon signals change relevance, utility proxy, and diversity under sparse observational retail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6EB22-B09A-40AC-AB33-4E0E2784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E72FB-6DB8-4444-82D4-6B9D5B80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Retail pain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23054-12AC-43B3-8584-4599C3BB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Couponing is often broad: discounts may be sent to households that would buy anyway, while high-potential items are missed.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55353-D0E7-4FE4-A277-048C864D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02B44-3C0E-46F9-9697-9055D6B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Recommendation task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F0E933-7839-4AF7-A8E0-8A29670C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Predict the next products each household is likely to buy from historical baskets and product metadata.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605517-75EA-4AE2-A999-7CA531CB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33625"/>
            <a:ext cx="29527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357B7F-91BF-4474-8865-D3F67A5F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466975"/>
            <a:ext cx="2647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Business 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1D5AA-2C48-4EDE-9921-A58D8F94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52725"/>
            <a:ext cx="26479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Re-rank candidates using promotion exposure, coupon eligibility, discount cost, and list diversity.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629C54-AAEB-4C32-BE5A-5ED3B75E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7FDB41-B86B-4F9B-9AF7-5B768659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838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B7CDA-0D21-470C-BC82-18A727C9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5AE80D-1244-434F-8680-D8B10152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672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thesis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50B93B-F646-4EE0-93B7-7B2BCD12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005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We will test whether a promotion-aware second stage improves business-oriented utility without unacceptable ranking loss.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0CFD6F-00D9-4857-A2BB-BC3CE136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3280E-89C9-4AB3-B59D-D3172389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A35C3-B65D-4D98-8FED-502D3173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646064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0FFBB5-31C6-4DC0-9789-675AB410C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DE176-2086-44EF-AA60-87DAB0E6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8EA12-159C-43A4-B3A0-F1703ADDF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DATASET AND COLLECTION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5AF25-C54D-4332-9ED5-A1C6958B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Complete Journey gives us purchases plus marketing context.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9A52C-2422-4407-937D-D36D2960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 will use public completejourney RDS/RDA artifacts already stored in the repository; the R extraction script documents reproducible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50D07F-0B50-4C28-BA14-C135C7A3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777C7-728E-4DD4-A5D9-FAE56AE7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E0EE0-18A3-414D-B445-00AA158B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8DECF-6E35-422C-8864-7E29282D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tracked for one 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6DAB9-9E85-4ED2-BEA6-0321277A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6611D-4B18-4F84-B731-4A282E24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5D4505-7245-46C2-8A34-6EEDF102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3D5762-7195-4033-9997-EDB0A885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FB9D7-CA9C-4F7C-AF9A-A1A39041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E1740D-8C93-4A3D-954C-11D65141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92,331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671B9-5735-4D10-8946-7A3423E9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44331-C927-4013-9CCF-BEC39C2C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grocery catalog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61E3E-7449-4F5B-84C2-CABD17BE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F61DAA-8F82-48B1-9682-84C1D905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2,102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FB782-6454-4E57-AA09-B7A7E9CA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redemptions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923F1-3337-41B8-B5B0-3434022A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sparse coupon signal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1759D-B201-4ACF-BCB3-B52E9BD3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67BC2-DEE4-46BF-B5C9-9C65BAD4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rPr>
              <a:t>801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8C1690-0532-4367-A42D-262C29EB5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6D56F0-5A4F-49CD-B2BB-2D765555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partial profile rows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698D2-1DC3-40C4-B784-F0B5AAC9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0965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0B0ADE-4577-4A65-A1BB-704C0B30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BA974B-C41A-4B4C-86C0-C3ACF73B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Core raw tables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552E02-3B75-4A4F-BCB4-A7E14B50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 -&gt; products -&gt; promotions -&gt; campaigns -&gt; coupons -&gt; coupon_redemptions -&gt; demographics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8956DF-E555-4F27-8947-CB851F5E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Feature examples: household_id, basket_id, product_id, week, quantity, sales_value, retail/coupon discounts, department, category, brand, promotion exposure, campaign/coupon mapping, income/age/household size.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D9D78A-A7A1-4581-BDD7-5C3F784B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This lets us explain what the dataset looks like before introducing recommendation models.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50A72E-FE9D-4EA9-81D4-9474CF42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A88B4E-4DF2-40E3-98EF-33D67645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6A6F3A-DF31-41FB-AB0D-E894E5C6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8671678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C0282A-C1EF-40AB-959E-F6031898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F3E1E4-B0EF-470D-B3B5-F24E2B99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7081D-041B-4BF6-9A50-C6B859F7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PROBLEM DEFINITION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0C10C-1C70-4A50-A118-BEE622E4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Use past household behavior to predict future grocery products.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82907-CA72-466C-9981-3906D0C7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target is implicit feedback: a product is positive if a household buys it in the target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47542-CBCF-4645-88AF-0D3278E6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809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y(h,j,t) = 1 if household h buys product j in the target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7559BE-B86B-46FF-8F37-21DA88B3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039A0-7719-4315-8081-D7CC232C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509F52-C0A5-4CBC-9162-E861338D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1-40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Fit recommenders and train-window features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97BEE-6DE5-461F-B214-A2E29B0A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9B63F-A842-41AE-AC00-E8EF881B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544C9E-6452-4856-9328-F071B3CE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41-46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Tune ALS/BPR and reranking weights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37D66-F616-46CC-82CA-EBFF07A5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14700"/>
            <a:ext cx="2667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C1BE6-40DA-49EA-8E9C-2D5CBCB4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48050"/>
            <a:ext cx="2362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5B208-DC3F-452C-B723-7D1790AB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733800"/>
            <a:ext cx="2362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Weeks 47-53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Final held-out reporting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BB6BC8-B066-44A2-99D1-D6FA46C5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5474FC-529A-4202-9765-4237B694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14775"/>
            <a:ext cx="1009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D244C7-4995-43A6-A76F-5D8F1EA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95875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10650-7E78-4A9E-B8C5-0118BCB2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62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chronological split?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96865-E98E-4CA2-9467-EB98E7F8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95875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 deployed recommender must use the past to predict the future. Random split would leak future shopping behavior into training.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AA6FA1-6AEA-4D7F-B4B8-458D2AB9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093C10-FA79-4D45-8761-6B6E6943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CC9F07-B707-4679-ADC6-3D5F2838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874377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DDD95B-A5F2-4EDD-9BF7-1683BB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7ED9E-7EDB-49AA-BE14-37892B06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7AF5C-9BC2-495C-97FA-FE9D1E9A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622303-BBE3-4017-98E9-9DD87A7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 is a two-stage recommender pipeline.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B714A-16E6-4429-8887-8475DF2B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first stage predicts likely products. The second stage turns those candidates into promotion-aware retail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EBA00-99C5-44A1-8198-1932E6BD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2ABAD-E09D-4E09-A57E-52869149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Raw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806A8-940A-48CC-A87E-2E9BA433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Transactions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5CCBD-A2E4-4749-81C5-29CA33EA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DC953-7F3E-490D-854C-F59A4AC2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Clean + split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43C49D-3443-4975-9C28-6EE10384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Time split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Leakage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0CFA7-BCF3-4996-94BB-819E2C3E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9E78D-02F3-42D2-92B3-BC9723D4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AA57D-3634-465D-B016-CA227FA5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ALS/BPR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LightGCN bonus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4BC62A-DD46-405F-9942-3FA37F3D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7E1558-AD27-4EAD-B8A7-A905A462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Reranking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F1F48A-34CE-43B1-A7EA-5B8EC946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Discount cost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941C0-8DCE-4F17-BA7D-D75BAF1B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30331-34B1-432D-B452-0AA2D650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D957D2-5240-464E-BA72-BCA5C622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Recall/NDCG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Coverage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Business Utility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23ECB-E36A-40DD-A7B6-B1963C61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76500"/>
            <a:ext cx="13906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34F3D3-0239-4157-8A11-89F2AD62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09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00CED3-F106-4B27-BB80-16BC9444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95600"/>
            <a:ext cx="10858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 view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Top-10 products</a:t>
            </a:r>
          </a:p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Budget slider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46F315-F4FE-4D42-81CD-B1C213C4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F0171D-3EC6-487F-B07D-0C8F4AF7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E72567-5AC9-4F72-BA20-9AC04D77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72F4F2-61DC-4427-A76C-8C19EFD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53ECCA-7991-4272-A9A3-F864D4F6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38500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B27634-5071-4851-B2B9-A6FFB5CB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Shared contract: every model emits raw household_id, product_id, base_score, model_name, and base_rank so downstream reranking and demo code stay stable.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C9F1AA-3CAB-4A19-9A98-0AEB90C2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670E03-BCD8-460E-9530-AABF6C8E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287E3C-4A8D-4F01-986A-A1D3C8D9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61687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1B209E-BD3F-4D70-B11B-9761F9D3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A9E292-6428-4AA6-A5BC-555E09F4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E538B-0E94-4F9F-9F57-3B0FD65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ALGORITHMS TO IMPLEMENT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46496-1716-4E7E-9FC3-B20147CD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will compare grocery baselines against implicit-feedback recommenders.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F3403-FC18-4EA9-925F-6E1D704A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model ladder keeps the project complete even if bonus deep models take longer.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6CD16-13A4-445F-91C4-5BF0BB37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6D2C5-6FF9-4AC6-8A41-B92C39B8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A016B-D85C-4303-99DA-7018EB76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ADCF8D-6E2B-4657-9DA4-CFEB0B04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 Popularity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74F70-7DC0-4F02-BE61-A9C57E1D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82BC03-AEF9-4D52-AD71-20EEC48A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0B490E-5D7D-4106-90AB-802E84D4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75607C-62C8-4B72-AE74-6921F820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BPR matrix factorization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ALS tuning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80D4F6-7B9D-4804-986B-694F6591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33625"/>
            <a:ext cx="3048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576503-D8C0-45EB-A41D-BDC73D76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24125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11F86-0502-40E6-B6B9-F93F8CC1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90800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94802-68A5-4A98-8495-66683B3D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0375"/>
            <a:ext cx="2476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via RecBole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Graph-based candidates</a:t>
            </a:r>
          </a:p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Sensitivity curves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9D56F1-0754-47F9-A7D6-7536562A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98869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437D9D-91D3-41A1-AA85-2EC74F50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577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Library acknowledgements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F86A63-C1D9-46B9-8EA8-725B2C90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4D7518-0BD5-4F98-8A4B-D4E0C01C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78155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for implicit-feedback ALS/BPR-style models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A32497-9112-4DDE-BBC7-A08C76D3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958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E4119-4586-42A0-83DE-4F0DDBB3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19675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if LightGCN is attempted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8C9FEA-ADAA-4CFA-8E44-CDEDB048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3340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EBC743-3F19-4FF5-A6C3-7901BA4E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257800"/>
            <a:ext cx="6686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Cornac as an optional course-aligned experiment framework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7319B4-9487-4FA9-8DE8-49CCD021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68B11-6650-4F0A-97F7-C4177AE4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FE67BB-FAB7-4BA5-8186-85F2AE10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381035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BC4EF0-8DDA-4A91-B7C0-B9B856F1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5EE1B-EB3E-42CB-A434-7DE90F40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9E310-81DD-4B78-A8AA-EE5764C3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X-FACTOR: PROMOTION-AWARE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B708F9-7A6D-4DB6-850C-4BBB88AF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second stage decides what is worth pushing.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D34F3B-F99A-45EA-A92D-6B85CADD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Base relevance stays central, but marketing signals and estimated discount cost shape the final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130A6C-283A-4B79-864E-A3CB5B795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10382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9AD8A-ABCB-4801-A9DE-360146CB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0775"/>
            <a:ext cx="981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final_score = alpha * base + beta * promotion + gamma * coupon - lambda * discount_cost + rho * diversity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56A3F-8E0C-4902-A1EA-E00BECA5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667DE-79DD-47F1-94BA-96579AE1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Base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A3EEF-E49B-4FE6-9812-28A7B3FD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Candidate relevance from ALS/BPR/other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A9129-6DA5-4D13-AE52-A45456D2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89153-0E2D-4481-81DD-00476856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Promotion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E1468D-26BE-4063-9E12-9EF83D9D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Target-week product exposure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E4C85-C9DA-4551-9B77-7B239E97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B768C1-6D9D-4EBD-B683-2446D8A4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Coupon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33537B-BE31-407B-99E0-6430D5A2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Household/product campaign eligibility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654219-81BD-4315-9BF6-E6B5BF90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9A07A3-718D-4896-88C9-EB77BA2D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09975"/>
            <a:ext cx="1647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Discount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157CAD-9588-4BE5-B157-D35FEFE9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95725"/>
            <a:ext cx="16478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Proxy from retail and coupon discounts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09146F-2260-4463-B5E8-14FB2B0E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76625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42DE28-6CFB-4E9C-B9A0-604F2CBB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099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3FECD4-90D1-439A-A625-7DE5088A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95725"/>
            <a:ext cx="1504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Avoid one-category recommendation lists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0DDC8E-F0EE-4045-A9E9-CB1B153E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A150CA-57CF-46B6-BEAF-5FB3734C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3187D2-338A-4F27-AB98-60213FD7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288C9D-7D67-48EB-9506-36168432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95F9C4-4726-4CA0-9E8F-8D69EC5E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24200"/>
            <a:ext cx="2857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71760F-8CDD-402A-B47E-7AC81AD8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C736B7-B61F-466B-B9F3-68BED3CC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0175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Important wording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624E79-75E4-48FF-AE94-28A8A2A4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43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This is an observational decision proxy, not causal coupon uplift or true profit, because margin and randomized treatment labels are unavailable.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1D486E-2763-4D9A-B04C-4BBF96C4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8FA578-0A08-499D-8CC1-1B05FAD9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E67EAE-8C5E-4058-A77E-652170D8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150828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81AF1-734B-4D15-860A-EA6CFB0F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71619-1E7C-4989-94E3-D4340C3A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58373-5C02-44B7-9FE3-C23AEB9E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RESEARCH QUESTIONS AND EXPERIMENTS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AFC64-BC66-4404-AB07-0E836A91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We evaluate PromoMind as a recommender systems study.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C6B8D-8A85-4DFE-A37D-F695CAE7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The demo is the artifact; the research value comes from controlled model comparisons and reranking ablations.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A6250-A8B1-4BF7-8A4F-B846A141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71272-8B2A-412F-B72A-DB6B1A8A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384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6E6B52-FBD6-460F-9CAD-195C57D0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05075"/>
            <a:ext cx="15335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67373D-2142-4207-84D3-F2520176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76AA3-1072-48B2-9B01-CD873853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RQ1: best grocery candidate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7A2CA0-1CAB-4BD5-B27A-F7191DE7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432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D7DD8B-C724-4A88-AB4F-E85B9FD2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6707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RQ2: promotion/coupon signal value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F9E31-AB53-4849-9485-0AE41B4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576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48AE9-ED5B-4A29-927E-98249B09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814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RQ3: discount-cost trade-off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937C2D-B770-4223-94C3-6C8F2F14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719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F1B50-4F81-4CBF-93CE-0BBD9600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95725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RQ4: diversity vs accuracy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9A9F6D-056B-4581-94C9-145DEF49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64E7A4-7BD9-48A4-82BA-C04AF830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384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6C838D-162D-473F-90F9-622D51B9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5050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81237D-BA04-47AD-8F3E-6E7D78CF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71024-2183-403B-B4E9-38D542C8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Recall@10 / Recall@20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5FA785-0543-4372-AA60-A8BAC7B8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A8C451-4E40-4425-8066-97DAFF10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NDCG@10 / NDCG@20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77637-8C19-4D22-A8FD-D024B25B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DF0FB8-292A-4189-B646-02B5CD47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Coverage, diversity, novelty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0B4BB-D399-4AF1-BC4E-CE91584C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28F83-646A-4A42-9B36-BBFD1D2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09A517-4281-4A6C-8E12-DAA26886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09800"/>
            <a:ext cx="33337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383C49-4700-4D74-A29E-BF47BB29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384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BE8275-7A89-4DCA-808B-A21825B1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050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91E2CB-0218-454E-BA37-99A71ECB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28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8E62C3-D078-4E1F-A3A3-25AA73B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52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Base only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CE71BE-3ED6-40F8-867D-F06C67AE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1E116F-AB75-4B01-B04D-788D91B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385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Promotion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095EDC-827F-4987-9E54-98287444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0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3C5F07-491A-4AA9-9CA6-2CA85547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242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Coupon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2A6040-126F-4121-B2F0-FAEFC12D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86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F3C196-DD63-4A95-9358-9DD36705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- Discount cost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BE7886-4484-486D-AED6-6610F9D0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71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0FA5D4-4A62-424D-BC17-F2E1EBA1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095750"/>
            <a:ext cx="2686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Diversity full rerank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5E76B1-3238-4A9E-A86D-393F5B5C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72050"/>
            <a:ext cx="10839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A630C9-158B-493E-B0B1-E4940014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24450"/>
            <a:ext cx="1019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Guardrail: select reranking weights on validation with Business Utility@K, but keep Recall/NDCG degradation visible.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3A1E8A-8365-428D-9BCD-12B8C19F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3207B1-70AD-419D-B9C5-2C5990C6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1D08FF-4876-49FA-8AB8-9F52DD0C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1383147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F9A71E-19B9-4076-9948-1E4A9419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88A05A-8B9E-4AE9-827A-7694F381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DCD16-611C-4836-AFEA-F8D22FA5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RESEARCH CONTRIBUTION AND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47826-85D0-49EC-9306-51A7BD02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demo visualizes the recommendation trade-offs.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FC267-A66D-4D9A-B1CB-10031350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Streamlit will show household context, ranked products, coupon flags, explanations, and budget behavior; evidence still comes from offline evaluation.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3D37E-D778-4795-A9D3-666331B7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476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88ED6-8AAD-4101-8020-65CE04D3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AE2996-FA70-4778-80D4-108BC6F5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0512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EA7CB-55F5-496C-BA50-0AA5552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3847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7195B5-97D4-4951-A91B-3923FA88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24225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Select household_id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AC9AA-EB03-46E2-BF4F-78F75AA8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5BD0-43DB-4A60-A9DF-C66D9D78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01633-E789-42EE-A198-EF4A026F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33850"/>
            <a:ext cx="1695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 vs reranked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0A9C9-E3AE-4526-895F-0B0913DF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437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A1435C-6A1D-46F9-8E6D-D6C53D9C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577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B863D4-D1ED-454D-B857-9A5903E8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43475"/>
            <a:ext cx="1695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count or discount-cost limit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4A7CC5-11B2-4242-8D66-5BBF902E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762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6D9A9-7351-46E8-BF7E-B1F9E97C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384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4DA21-93BE-45FD-A9CB-254F4240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505075"/>
            <a:ext cx="1962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Top-10 recommendation 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D500D-65B5-4008-98AF-75C48E2A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71800"/>
            <a:ext cx="57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4066A-D12D-4080-9ABC-2EF2786E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D95D47-0131-4F02-982B-CC4A3A5C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71800"/>
            <a:ext cx="13811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AE5742-367A-41E0-ADAC-48DE4EDC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71800"/>
            <a:ext cx="95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EFA77B-7F69-4DC9-AF62-70F1C0D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71800"/>
            <a:ext cx="1619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267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0345E-A9CF-4A9A-A629-EDC6FDCA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575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AC09A-B2C7-43CD-A5E4-54DB3625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147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5EE308-CFB2-4BE7-BBAF-2530994D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Candidate product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80E65D-E8F0-4280-A7AC-6F25FC27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147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ED41B2-EBC1-4FA3-BF86-BAC82B40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90E6E5-3BAF-4C27-B5AF-0C130D00C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eligible; high ALS score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9842ED-BA29-429D-9339-1EC9D4C5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576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CD94B4-EA99-4D49-AAAB-36E771E3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473CC5-DDDC-487F-AF75-76A34CA0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4B84D-58E4-4F5E-AA8E-A51A08C7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147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 category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B97945-05FC-4F6C-803F-3418AC1C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EF55EE-27AE-4C0C-B0DC-5A10F67D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147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B15C17-C2AB-4B2A-9778-B14AC4C4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05765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B6D918-6929-4C80-A8BF-F64749E2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148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FF4441-04B2-4B84-ADF7-5DA0B24B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1480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E9323E-5592-44F4-B309-8D17F4BF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148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E3AA59F-DA8E-4F17-9592-8FF6759F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5169E2-3C5C-4C1E-9C38-AD36A904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1148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ECE197-4BB0-49EE-8C0D-B3E32D1B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1028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3B15F5-CFAE-42FA-9E03-4F60703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148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036C54-BF05-4B70-B1B3-EF686F14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148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44150A-5DD4-463A-B05E-1F845E0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148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Frequent category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867E41-9483-44C4-9793-CF030F33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14850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D30C5B-0944-46B9-B22B-6DBA5AA5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1485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FA6B4E-AD77-41B5-AE33-E7F987B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14900"/>
            <a:ext cx="742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The budget slider changes coupon assignment, not the underlying Top-K relevance list unless clearly labeled.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12DDB3-EFF2-49B7-B372-52A32CE5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AFA448-41EF-4E95-8A9D-33F48C47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A312D5-FDF4-4797-967C-ACFED6CA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862825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902F81-F09F-4BB0-A2F9-31AE1F2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96A28-692A-4ADB-9B1D-FEFE603B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F7A11-3E80-479B-A770-2B86596B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1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15"/>
                </a:solidFill>
                <a:latin typeface="Aptos"/>
                <a:ea typeface="Aptos"/>
                <a:cs typeface="Aptos"/>
              </a:rPr>
              <a:t>FEASIBILITY AND RISK CONTROLS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2E5B0-2326-4459-881F-4D22417D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project has a stable core path and clear extensions.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D6B0F-6375-48B1-8B5D-6AEF7AC5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By the final presentation, we will report the finalized dataset, model comparisons, reranking ablations, working demo, limitations, and future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329B1-0781-4E8F-A194-3E7D087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11AEE-6082-474B-A7F6-6594845A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Minimum complete 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0C058-42A0-430F-88D2-26EE8DCC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FF899-AAF4-4A2F-9D8C-310F97AD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Chronological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930BC-5971-4C42-9285-A858CD85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D8811F-6AE1-4192-AAA5-1863BB63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 + 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8D993-C7BA-4CEA-BCCA-39E8D57C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E6737-718B-4D19-BC20-C96BB18D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Promotion-aware reranking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8606F9-D9B6-4242-A7EF-9B581A2E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63F275-D0E0-47CF-9EA2-4F8BD11B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CF9986-BF44-4679-BC23-23418D0D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E0E380-B3D5-4356-9904-D06751AB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385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Streamlit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39A61-FDAF-47D4-BF30-6A1DDBD6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267CB-4937-4F37-8887-8748C694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Experiment package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42AEEB-F411-4A96-BCCA-0CDD92EC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861E3F-0608-4E3E-917C-CDCA77E0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Recall/NDCG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72F4A2-2369-4F1D-81BA-C8780A5A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20AF2-BA44-4351-9314-1236DF75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Coverage/diversity/novelty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8B9CCF-B56C-4F82-9F75-A6EC15E4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973629-4288-4DE1-8B9B-260DE325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Reranking ablations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7BDACD-B7C3-45D1-8B98-607CBBEB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F1D5C0-CDC1-40A8-B8E7-C035E955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Budget sensitivity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3BDA5D-7158-415B-8A31-9FF592B2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C656F2-B6A5-4973-8B14-19285CEE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Extensions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234A0E-382B-44E3-AF4C-080D395A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B1D28E-DFEA-4C2A-9A4B-69CC3DF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 + BPR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158C10-1E67-4598-A84D-A7D5034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A2E178-6B68-4964-9273-8E686C1B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LightGCN via RecBole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43911F-160C-477F-A2C1-03DE26DB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4CF7AF-DE0A-4B9E-BB8F-5CC9301D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 subgroup 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9950-A91E-485C-ACF4-95A5A9D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BB2CC9-0494-48A3-BAD5-D52BB108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Future causal uplift framing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60AF5A-9B5F-4ABF-8CD4-C89244B3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6BD4781-5FEE-4B5A-BFBA-360C3B60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0C6C75-EC2F-4FEC-AD9C-2AC21F48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624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Risks controlled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7A3FEE-D01D-4767-85BB-FF7C193E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AF6CA6-62F4-4D3D-A031-EDE20493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 redemption is sparse: auxiliary signal only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DB0AEC-F199-4C4A-8B3C-9AF3800E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C07D5C-E981-47FE-A09B-44A38E13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 are partial: optional analysis/demo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EC8EE4-D0C8-4251-B6E0-2A0CD08C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8E86AC-5661-43D3-8D9D-A379C845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No margin data: use proxy, not profit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BC6F41E-273F-448A-A1E0-25B40E7A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987DC24-8857-4631-B1CC-179A4474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9580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508C410-5853-4C44-A1A3-19230A32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624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evidence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2AB02E-F3B7-4D7C-B006-E4AAC0FB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CB23A0D-75E1-4C3B-B172-54D7A566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Time-based offline evaluation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90E8E89-3BB3-4DE1-9145-43FB9E5A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29C598-0CB7-4D14-B1FE-1A2C47B8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Accuracy plus list-health metrics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4760EC-E08E-47FA-9CE7-1A09091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DFD7C3C-63C2-4C33-86C6-0780EAAF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 explains trade-offs; metrics provide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712856-CC20-494F-8897-5F1E0297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4360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Core claim: PromoMind studies grocery recommendation as a retail decision problem, not only a purchase prediction task.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FD96F2-DA5B-435B-A122-06F6C90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6CAEDD-95D7-4AAF-90FE-D8B92F00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972BBA-1541-4968-AECE-ADCCBF66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4425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2026-06-02T09:20:58.5110000Z</dcterms:created>
  <dcterms:modified xsi:type="dcterms:W3CDTF">2026-06-02T09:20:58.5110000Z</dcterms:modified>
</coreProperties>
</file>