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6a5133a917444a9" /><Relationship Type="http://schemas.openxmlformats.org/officeDocument/2006/relationships/extended-properties" Target="/docProps/app.xml" Id="Rf9df7b7975054e48" /><Relationship Type="http://schemas.openxmlformats.org/officeDocument/2006/relationships/officeDocument" Target="/ppt/presentation.xml" Id="Rbb999399bc6f408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019341c9a5b4d8b"/>
  </p:sldMasterIdLst>
  <p:notesMasterIdLst>
    <p:notesMasterId xmlns:r="http://schemas.openxmlformats.org/officeDocument/2006/relationships" r:id="R89b1064e216547d5"/>
  </p:notesMasterIdLst>
  <p:sldIdLst>
    <p:sldId xmlns:r="http://schemas.openxmlformats.org/officeDocument/2006/relationships" id="256" r:id="R5e03492fa7e54220"/>
    <p:sldId xmlns:r="http://schemas.openxmlformats.org/officeDocument/2006/relationships" id="257" r:id="R0cb5b4cdb71d49fd"/>
    <p:sldId xmlns:r="http://schemas.openxmlformats.org/officeDocument/2006/relationships" id="258" r:id="Rf08e880c01be4ab1"/>
    <p:sldId xmlns:r="http://schemas.openxmlformats.org/officeDocument/2006/relationships" id="259" r:id="R22c5a8f7ea1f4b0a"/>
    <p:sldId xmlns:r="http://schemas.openxmlformats.org/officeDocument/2006/relationships" id="260" r:id="R103ed9c0d3c74290"/>
    <p:sldId xmlns:r="http://schemas.openxmlformats.org/officeDocument/2006/relationships" id="261" r:id="R4bf228e63dce4f10"/>
    <p:sldId xmlns:r="http://schemas.openxmlformats.org/officeDocument/2006/relationships" id="262" r:id="R7ed9479126074c7c"/>
    <p:sldId xmlns:r="http://schemas.openxmlformats.org/officeDocument/2006/relationships" id="263" r:id="Re2de5f9ad0af4439"/>
    <p:sldId xmlns:r="http://schemas.openxmlformats.org/officeDocument/2006/relationships" id="264" r:id="R8dd836cadc4244c8"/>
    <p:sldId xmlns:r="http://schemas.openxmlformats.org/officeDocument/2006/relationships" id="265" r:id="Re90c2d9271654e7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8e9b11705854b65" /><Relationship Type="http://schemas.openxmlformats.org/officeDocument/2006/relationships/slideMaster" Target="/ppt/slideMasters/slideMaster1.xml" Id="Rb019341c9a5b4d8b" /><Relationship Type="http://schemas.openxmlformats.org/officeDocument/2006/relationships/notesMaster" Target="/ppt/notesMasters/notesMaster1.xml" Id="R89b1064e216547d5" /><Relationship Type="http://schemas.openxmlformats.org/officeDocument/2006/relationships/presProps" Target="/ppt/presProps.xml" Id="R46601a79f6614613" /><Relationship Type="http://schemas.openxmlformats.org/officeDocument/2006/relationships/viewProps" Target="/ppt/viewProps.xml" Id="Ra825a75745e34817" /><Relationship Type="http://schemas.openxmlformats.org/officeDocument/2006/relationships/tableStyles" Target="/ppt/tableStyles.xml" Id="Rcf47e20184cd49b4" /><Relationship Type="http://schemas.openxmlformats.org/officeDocument/2006/relationships/slide" Target="/ppt/slides/slide1.xml" Id="R5e03492fa7e54220" /><Relationship Type="http://schemas.openxmlformats.org/officeDocument/2006/relationships/slide" Target="/ppt/slides/slide2.xml" Id="R0cb5b4cdb71d49fd" /><Relationship Type="http://schemas.openxmlformats.org/officeDocument/2006/relationships/slide" Target="/ppt/slides/slide3.xml" Id="Rf08e880c01be4ab1" /><Relationship Type="http://schemas.openxmlformats.org/officeDocument/2006/relationships/slide" Target="/ppt/slides/slide4.xml" Id="R22c5a8f7ea1f4b0a" /><Relationship Type="http://schemas.openxmlformats.org/officeDocument/2006/relationships/slide" Target="/ppt/slides/slide5.xml" Id="R103ed9c0d3c74290" /><Relationship Type="http://schemas.openxmlformats.org/officeDocument/2006/relationships/slide" Target="/ppt/slides/slide6.xml" Id="R4bf228e63dce4f10" /><Relationship Type="http://schemas.openxmlformats.org/officeDocument/2006/relationships/slide" Target="/ppt/slides/slide7.xml" Id="R7ed9479126074c7c" /><Relationship Type="http://schemas.openxmlformats.org/officeDocument/2006/relationships/slide" Target="/ppt/slides/slide8.xml" Id="Re2de5f9ad0af4439" /><Relationship Type="http://schemas.openxmlformats.org/officeDocument/2006/relationships/slide" Target="/ppt/slides/slide9.xml" Id="R8dd836cadc4244c8" /><Relationship Type="http://schemas.openxmlformats.org/officeDocument/2006/relationships/slide" Target="/ppt/slides/slide10.xml" Id="Re90c2d9271654e7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62a39b2ce1c43c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58c38b56c8b4cc0" /><Relationship Type="http://schemas.openxmlformats.org/officeDocument/2006/relationships/notesMaster" Target="/ppt/notesMasters/notesMaster1.xml" Id="R5abb5be0fd284f2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2b49745cef340a5" /><Relationship Type="http://schemas.openxmlformats.org/officeDocument/2006/relationships/notesMaster" Target="/ppt/notesMasters/notesMaster1.xml" Id="R3c90347e968e43a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86a454086bc495a" /><Relationship Type="http://schemas.openxmlformats.org/officeDocument/2006/relationships/notesMaster" Target="/ppt/notesMasters/notesMaster1.xml" Id="R60519b42724e429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feb67a2bcfb414e" /><Relationship Type="http://schemas.openxmlformats.org/officeDocument/2006/relationships/notesMaster" Target="/ppt/notesMasters/notesMaster1.xml" Id="R6a9d785c4d7d4a7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28986cdf5844f82" /><Relationship Type="http://schemas.openxmlformats.org/officeDocument/2006/relationships/notesMaster" Target="/ppt/notesMasters/notesMaster1.xml" Id="Redfbd727de1f471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a356c62e6dc408d" /><Relationship Type="http://schemas.openxmlformats.org/officeDocument/2006/relationships/notesMaster" Target="/ppt/notesMasters/notesMaster1.xml" Id="R02da8f53fcef42d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0cbfa05d8904904" /><Relationship Type="http://schemas.openxmlformats.org/officeDocument/2006/relationships/notesMaster" Target="/ppt/notesMasters/notesMaster1.xml" Id="Rf8e9f8345b5f4fc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5521e21e62041c1" /><Relationship Type="http://schemas.openxmlformats.org/officeDocument/2006/relationships/notesMaster" Target="/ppt/notesMasters/notesMaster1.xml" Id="Ra996ffd71279440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f7137487d674076" /><Relationship Type="http://schemas.openxmlformats.org/officeDocument/2006/relationships/notesMaster" Target="/ppt/notesMasters/notesMaster1.xml" Id="R51b98ad534a6453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dd700c212dd4a4f" /><Relationship Type="http://schemas.openxmlformats.org/officeDocument/2006/relationships/notesMaster" Target="/ppt/notesMasters/notesMaster1.xml" Id="R14cfb3ebfc57424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9c8c0f03c1453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1ffc044c8924443" /><Relationship Type="http://schemas.openxmlformats.org/officeDocument/2006/relationships/slideLayout" Target="/ppt/slideLayouts/slideLayout1.xml" Id="Ra880739e8899464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880739e8899464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0f383e18bf492e" /><Relationship Type="http://schemas.openxmlformats.org/officeDocument/2006/relationships/notesSlide" Target="/ppt/notesSlides/notesSlide1.xml" Id="R1a0ed468dd5f41a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c11ea816c44ab6" /><Relationship Type="http://schemas.openxmlformats.org/officeDocument/2006/relationships/notesSlide" Target="/ppt/notesSlides/notesSlide2.xml" Id="R1bc0a87646a047b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5cbb8220064932" /><Relationship Type="http://schemas.openxmlformats.org/officeDocument/2006/relationships/notesSlide" Target="/ppt/notesSlides/notesSlide3.xml" Id="R2cd24a748b03421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8b859816214a1a" /><Relationship Type="http://schemas.openxmlformats.org/officeDocument/2006/relationships/notesSlide" Target="/ppt/notesSlides/notesSlide4.xml" Id="R5d1730e852e545f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331eca1af34436" /><Relationship Type="http://schemas.openxmlformats.org/officeDocument/2006/relationships/notesSlide" Target="/ppt/notesSlides/notesSlide5.xml" Id="Rbf6b9f2f3b554c9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029aebd2fe4847" /><Relationship Type="http://schemas.openxmlformats.org/officeDocument/2006/relationships/notesSlide" Target="/ppt/notesSlides/notesSlide6.xml" Id="R780a23f77ac9490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8a4c56c5be4477" /><Relationship Type="http://schemas.openxmlformats.org/officeDocument/2006/relationships/notesSlide" Target="/ppt/notesSlides/notesSlide7.xml" Id="Rf66a6769064448c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acfbca0afc49ff" /><Relationship Type="http://schemas.openxmlformats.org/officeDocument/2006/relationships/notesSlide" Target="/ppt/notesSlides/notesSlide8.xml" Id="Rcc049b1819b2486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62f5a2c5614aa5" /><Relationship Type="http://schemas.openxmlformats.org/officeDocument/2006/relationships/notesSlide" Target="/ppt/notesSlides/notesSlide9.xml" Id="R8ae34bcfd1ba428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48eb0fd3c14083" /><Relationship Type="http://schemas.openxmlformats.org/officeDocument/2006/relationships/notesSlide" Target="/ppt/notesSlides/notesSlide10.xml" Id="R80abd4be63b54ec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46DD566-E5AE-4142-A070-71462D110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FE53B7-C104-460F-BA3E-FC09336F9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B80872-3678-4312-851A-91AA2A966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3143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EE5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87DD58-C191-42A4-9A73-BA31F7CF4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2914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CS608 Project 2 Proposal | 2026-06-03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681D8F-6CB8-4A89-86B2-A9E97DB02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defRPr>
            </a:pPr>
            <a:r>
              <a:rPr sz="43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rPr>
              <a:t>PromoMind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D49154-4C9F-4282-86AB-6F42A96F6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7239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促销感知型超市购物篮与优惠券推荐系统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6C4C63-FA9C-419A-9926-9EE94C730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723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先预测家庭下次可能购买的商品，再判断哪些推荐值得配合促销或优惠券支持。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9FC166-41E4-47E0-95F4-BABEA9EE1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2095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E05059-205E-47C9-9A6A-8CE95AF9F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33850"/>
            <a:ext cx="1752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46B4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146B4D"/>
                </a:solidFill>
                <a:latin typeface="Aptos Display"/>
                <a:ea typeface="Aptos Display"/>
                <a:cs typeface="Aptos Display"/>
              </a:rPr>
              <a:t>2,469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A60175-F41F-4943-8602-B685B03D7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76750"/>
            <a:ext cx="1752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households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7A942F-6ED3-4057-A85A-4FB38815B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48200"/>
            <a:ext cx="1752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家庭级购物记录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C9AE4E-DC56-4D2D-94BB-189544ABA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000500"/>
            <a:ext cx="2095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AE01FE-AC34-42F8-8DA0-4EDF94F74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133850"/>
            <a:ext cx="1752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B5C9E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2B5C9E"/>
                </a:solidFill>
                <a:latin typeface="Aptos Display"/>
                <a:ea typeface="Aptos Display"/>
                <a:cs typeface="Aptos Display"/>
              </a:rPr>
              <a:t>1.47M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794478-CA40-4F15-9ABA-23B97B07B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476750"/>
            <a:ext cx="1752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transactions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AD05D4-D4CC-4D56-B12E-744F26D13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648200"/>
            <a:ext cx="1752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basket-product 明细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6E0E43-9EDC-4575-A06A-4C9EE357E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000500"/>
            <a:ext cx="2095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9A87C8-0A3D-45EE-B834-249B57A7C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133850"/>
            <a:ext cx="1752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96F13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96F13"/>
                </a:solidFill>
                <a:latin typeface="Aptos Display"/>
                <a:ea typeface="Aptos Display"/>
                <a:cs typeface="Aptos Display"/>
              </a:rPr>
              <a:t>92K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CE09D7-1CAE-435C-BFFD-E820736AD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476750"/>
            <a:ext cx="1752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products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D34496-120D-4F63-A87C-9743F2134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648200"/>
            <a:ext cx="1752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大规模超市商品目录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3B7D2B-3A5F-4997-88B0-96EFB9B76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000500"/>
            <a:ext cx="2095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00961F-7745-4385-BF19-1E67F985A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133850"/>
            <a:ext cx="1752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9C3B38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C3B38"/>
                </a:solidFill>
                <a:latin typeface="Aptos Display"/>
                <a:ea typeface="Aptos Display"/>
                <a:cs typeface="Aptos Display"/>
              </a:rPr>
              <a:t>重排序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DE46B8-8030-46F9-B012-5F8726948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476750"/>
            <a:ext cx="1752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X-factor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62F451-F893-4A87-B555-1FE48E4AA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648200"/>
            <a:ext cx="1752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促销 + 优惠券 + 成本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417D4DB-D0DF-4A4B-874E-7FA5BCDC4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汇报分工：P1 数据集/问题/系统流程 | P2 方法/重排序/实验/demo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A2BF21-6D94-4A2E-9829-5566A1587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C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0BD242C-8768-4140-A233-1552A104B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PromoMind Project 2 Proposal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D66AEAE-ECAB-4C34-A036-16FC770A7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59274172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0E7D2C3-7C57-40F7-8377-258C3FC02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0DAB21-AD9C-49FB-8657-110371CE3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52A7A5-83C9-4277-86C7-E034B2D62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09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B96F1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B96F13"/>
                </a:solidFill>
                <a:latin typeface="Aptos"/>
                <a:ea typeface="Aptos"/>
                <a:cs typeface="Aptos"/>
              </a:rPr>
              <a:t>研究问题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D5B263-13A1-4AE1-9BA4-4267E4D5B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rPr>
              <a:t>促销上下文能否改善超市推荐的权衡？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C327D0-FA53-471E-9269-32C48EF9F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572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我们研究促销和优惠券信号是否能在稀疏、观察性零售数据中改变相关性、效用代理指标和多样性。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8A323B-14EA-4F4F-9E35-5048F608C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95550"/>
            <a:ext cx="2714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7D2"/>
          </a:solidFill>
          <a:ln xmlns:a="http://schemas.openxmlformats.org/drawingml/2006/main" w="9525">
            <a:solidFill>
              <a:srgbClr val="B96F1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221400-71D5-4F1C-847B-D1AB6368A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241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96F1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B96F13"/>
                </a:solidFill>
                <a:latin typeface="Aptos"/>
                <a:ea typeface="Aptos"/>
                <a:cs typeface="Aptos"/>
              </a:rPr>
              <a:t>零售痛点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A00162-8A63-4FD2-8E2B-CD12EDEF7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05150"/>
            <a:ext cx="2247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优惠券经常粗放投放，折扣可能给到本来就会购买的家庭。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1CD70D-87F7-4944-A0CC-FEAEBA137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495550"/>
            <a:ext cx="2714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CF8"/>
          </a:solidFill>
          <a:ln xmlns:a="http://schemas.openxmlformats.org/drawingml/2006/main" w="9525">
            <a:solidFill>
              <a:srgbClr val="2B5C9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FF7D4A-C643-4F98-A96C-81CE5F96E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7241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推荐任务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2031B2-346B-4B79-8AD8-4722E5450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105150"/>
            <a:ext cx="2247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预测每个家庭在未来目标周期最可能购买的 Top-K 商品。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9A6A64-16E1-4D93-828E-5A6106317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495550"/>
            <a:ext cx="2714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EE5"/>
          </a:solidFill>
          <a:ln xmlns:a="http://schemas.openxmlformats.org/drawingml/2006/main" w="9525">
            <a:solidFill>
              <a:srgbClr val="146B4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DAB642-7779-4C96-8250-0945A7888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7241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商业决策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812FE7-5E35-40BD-A151-DC9E198CD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105150"/>
            <a:ext cx="2247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在促销曝光、优惠券资格、折扣成本和多样性之间做排序权衡。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9C30BA-3DD0-4599-9900-836D044C3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0"/>
            <a:ext cx="152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15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63AAA1-DDC5-4557-9BFD-EC182380F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33925"/>
            <a:ext cx="1295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Research thesis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C0F257-59A8-43CB-A89E-325A697A1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686300"/>
            <a:ext cx="8001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我们会测试 promotion-aware second stage 是否能在不造成不可接受排序损失的情况下提升 business-oriented utility。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489B94-5FBC-40B2-954D-E19BE8C75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C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056A0A-0386-4417-A746-7D5EEBEF6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PromoMind Project 2 Proposal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BEB2E1-80FB-4255-94B9-10EB0F1A5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65115004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E38F85C-1698-41C9-A96F-DFAE44D2A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F58736-8188-4212-8E4E-4AAB908BA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3F5A37-71AC-48C9-832C-410F4A48D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09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数据集与采集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C18A16-CD20-444D-B014-79529E1A0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rPr>
              <a:t>The Complete Journey 同时提供购买记录和营销上下文。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70DB49-5C9E-4733-A3B8-92935BE05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572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我们使用仓库中的公开 completejourney RDS/RDA 原始文件；R 脚本记录可复现导出流程。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360E3A-5331-44F6-931F-2303A9D04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714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CBC50F-FF15-4DB1-BE43-F5D214687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1371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46B4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146B4D"/>
                </a:solidFill>
                <a:latin typeface="Aptos Display"/>
                <a:ea typeface="Aptos Display"/>
                <a:cs typeface="Aptos Display"/>
              </a:rPr>
              <a:t>2,469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244A77-3F84-4599-A590-9683B184C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67000"/>
            <a:ext cx="1371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households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A1E118-114E-4AAC-9E96-AEACFE3B9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38450"/>
            <a:ext cx="1371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跟踪一年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0A958D-F702-4771-95DE-11A04DB5F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190750"/>
            <a:ext cx="1714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881D1A-FA98-4E1A-A852-683A0C531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324100"/>
            <a:ext cx="1371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B5C9E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2B5C9E"/>
                </a:solidFill>
                <a:latin typeface="Aptos Display"/>
                <a:ea typeface="Aptos Display"/>
                <a:cs typeface="Aptos Display"/>
              </a:rPr>
              <a:t>1.47M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EB5681-9323-4575-8FE8-C0F220982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667000"/>
            <a:ext cx="1371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transactions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FDFC7D-55AB-4914-A417-C6450E13C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838450"/>
            <a:ext cx="1371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商品级交易行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EB409F-59D8-43FA-A8B5-2E9CF925E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190750"/>
            <a:ext cx="1714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C27F62-69C6-46B2-881C-1A239D5B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24100"/>
            <a:ext cx="1371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96F13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96F13"/>
                </a:solidFill>
                <a:latin typeface="Aptos Display"/>
                <a:ea typeface="Aptos Display"/>
                <a:cs typeface="Aptos Display"/>
              </a:rPr>
              <a:t>92,331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2AADE4-0F58-4831-9008-11DFCD635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667000"/>
            <a:ext cx="1371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products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E4F203-D4E0-40C2-8DF1-2FEBDA671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838450"/>
            <a:ext cx="1371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超市商品目录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E1D4DE-20A4-4DBD-9266-23765AEBA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190750"/>
            <a:ext cx="1714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BB274-7501-4189-B62F-51CE65956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324100"/>
            <a:ext cx="1371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9C3B38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C3B38"/>
                </a:solidFill>
                <a:latin typeface="Aptos Display"/>
                <a:ea typeface="Aptos Display"/>
                <a:cs typeface="Aptos Display"/>
              </a:rPr>
              <a:t>2,102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B5615E-752B-4167-98E6-8F0912C62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667000"/>
            <a:ext cx="1371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redemptions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EE661A-B291-4A1E-A8EB-EAE67168A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838450"/>
            <a:ext cx="1371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稀疏优惠券信号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1A6086-3FF1-40DE-8E28-A77DD7020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190750"/>
            <a:ext cx="1714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26A780-F0D2-46E0-AAA7-DCF6350E7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24100"/>
            <a:ext cx="1371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667267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667267"/>
                </a:solidFill>
                <a:latin typeface="Aptos Display"/>
                <a:ea typeface="Aptos Display"/>
                <a:cs typeface="Aptos Display"/>
              </a:rPr>
              <a:t>801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B84350C-4622-4596-8142-9AD203605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667000"/>
            <a:ext cx="1371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demographics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3E8413-E150-4199-BB74-07134116F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838450"/>
            <a:ext cx="1371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部分画像记录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AFFFA99-B85B-4660-9C82-3294AE658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10096500" cy="2114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36C488A-4E3B-427B-962D-102AD47BB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9570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CF8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CE369B3-8951-4555-ACCF-1A8151011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62375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核心原始表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C269B3B-0986-430F-912A-12088E6A4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14800"/>
            <a:ext cx="933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transactions -&gt; products -&gt; promotions -&gt; campaigns -&gt; coupons -&gt; coupon_redemptions -&gt; demographics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837E4CD-3324-4608-BFDA-9A4E02125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29150"/>
            <a:ext cx="9334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字段例子：household_id、basket_id、product_id、week、quantity、sales_value、retail/coupon discounts、department、category、brand、promotion exposure、campaign/coupon mapping、income/age/household size。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1D2CCB2-71E7-4F61-814C-29BB600E3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19700"/>
            <a:ext cx="8572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这页先讲清楚 dataset 长什么样，再进入推荐模型。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75DC7D1-CE61-48D5-B5E5-F4EDB8657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C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02DB2E5-4B79-4AE2-8D56-A1025D572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PromoMind Project 2 Proposal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7ABAC8C-4A80-4C22-B950-2894246A8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2542615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EECAEAB-242E-43F8-B639-2CFFC4239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23D16E-AAAD-419E-917D-839E3FBD3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469BA2-DA79-4113-9581-3D25F748B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09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问题定义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7A6810-A25A-4079-8006-1DF61E9E4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rPr>
              <a:t>用过去 household 行为预测未来超市商品。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5CB017-D782-4096-B869-93609641F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096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目标是 implicit feedback：如果 household 在目标周期购买某商品，则该商品为正样本。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62AC04-D50D-4C2E-9DE8-FBF604C09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33625"/>
            <a:ext cx="8572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y(h,j,t) = 1 if household h buys product j in the target period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A2BF79-E9C6-44AF-A332-F10308146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19500"/>
            <a:ext cx="24765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EE5"/>
          </a:solidFill>
          <a:ln xmlns:a="http://schemas.openxmlformats.org/drawingml/2006/main" w="9525">
            <a:solidFill>
              <a:srgbClr val="146B4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7770B8-C9B3-416C-8F3D-8E5B634EB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10000"/>
            <a:ext cx="190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Train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5AC88B-9677-454C-AA86-47E79DDB5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95750"/>
            <a:ext cx="2095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Weeks 1-40</a:t>
            </a:r>
          </a:p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训练推荐器和历史特征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2BEBE9-71E1-4B7E-A70F-6BD67FDEB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619500"/>
            <a:ext cx="24765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CF8"/>
          </a:solidFill>
          <a:ln xmlns:a="http://schemas.openxmlformats.org/drawingml/2006/main" w="9525">
            <a:solidFill>
              <a:srgbClr val="2B5C9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E4978B-97A3-44A0-BBAF-E3CFECE62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810000"/>
            <a:ext cx="190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Validation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823F6D-F19D-490B-90C6-8C70F2D45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095750"/>
            <a:ext cx="2095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Weeks 41-46</a:t>
            </a:r>
          </a:p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调 ALS/BPR 和重排序权重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AFB64B-2517-4773-A1A3-8E81C1C21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619500"/>
            <a:ext cx="24765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7D2"/>
          </a:solidFill>
          <a:ln xmlns:a="http://schemas.openxmlformats.org/drawingml/2006/main" w="9525">
            <a:solidFill>
              <a:srgbClr val="B96F1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A0B44B-E0AE-4DA8-9524-7C38A51BA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810000"/>
            <a:ext cx="190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96F1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96F13"/>
                </a:solidFill>
                <a:latin typeface="Aptos"/>
                <a:ea typeface="Aptos"/>
                <a:cs typeface="Aptos"/>
              </a:rPr>
              <a:t>Test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B5A995-45B2-4172-9505-2DB600545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095750"/>
            <a:ext cx="2095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Weeks 47-53</a:t>
            </a:r>
          </a:p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最终 hold-out 汇报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C663D9-C127-4E1C-BD80-67944B5A4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19700"/>
            <a:ext cx="1809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15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AE0FD1-FDD0-4615-B577-9890CF229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286375"/>
            <a:ext cx="158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Why chronological split?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A4A385-4BAE-486A-8A8D-C8D1BA8A3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238750"/>
            <a:ext cx="7810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真实推荐系统必须用过去预测未来。随机切分会把未来购物行为泄漏进训练。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E0155E-6319-4897-B82E-5A850A0AF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C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A10E0C-E1D3-44EF-8BF8-DC49CD09B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PromoMind Project 2 Proposal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FCCADD-D057-429C-AB58-54342A5F6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9857829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D8C4E76-9125-4C43-8AF8-8C22A2938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3B7FF5-E6BA-4C07-A97D-8F17C0517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77A65B-7909-424F-BBF3-A55B43C34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09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系统架构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2A65DA-D5FC-4C31-B1F5-5C8FF0AA2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rPr>
              <a:t>PromoMind 是两阶段推荐管线。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4F3FDA-A043-4A53-9ACF-940EF487D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096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第一阶段预测可能购买的商品；第二阶段把候选商品转成促销感知的零售决策。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07164E-1337-4BD6-9F44-3F3A65FF3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0"/>
            <a:ext cx="1619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A11967-FD9F-4BAF-A233-EF11FBF0A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09850"/>
            <a:ext cx="1314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6DCD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6DCD4"/>
                </a:solidFill>
                <a:latin typeface="Aptos"/>
                <a:ea typeface="Aptos"/>
                <a:cs typeface="Aptos"/>
              </a:rPr>
              <a:t>Raw data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C9516D-49E8-42AE-894F-ED505C37E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95600"/>
            <a:ext cx="13144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Transactions</a:t>
            </a:r>
          </a:p>
          <a:p xmlns:a="http://schemas.openxmlformats.org/drawingml/2006/main">
            <a:pPr algn="l">
              <a:defRPr sz="90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Products</a:t>
            </a:r>
          </a:p>
          <a:p xmlns:a="http://schemas.openxmlformats.org/drawingml/2006/main">
            <a:pPr algn="l">
              <a:defRPr sz="90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Promotions</a:t>
            </a:r>
          </a:p>
          <a:p xmlns:a="http://schemas.openxmlformats.org/drawingml/2006/main">
            <a:pPr algn="l">
              <a:defRPr sz="90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Coupons</a:t>
            </a:r>
          </a:p>
          <a:p xmlns:a="http://schemas.openxmlformats.org/drawingml/2006/main">
            <a:pPr algn="l">
              <a:defRPr sz="90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Campaigns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9210A9-1565-490D-82E1-33C5C33E5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23850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26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E71BBC-4654-4D89-B01B-4DB8D4E91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476500"/>
            <a:ext cx="1619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EE5"/>
          </a:solidFill>
          <a:ln xmlns:a="http://schemas.openxmlformats.org/drawingml/2006/main" w="9525">
            <a:solidFill>
              <a:srgbClr val="146B4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E32D98-3A7B-49F9-9030-F9B118CAD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609850"/>
            <a:ext cx="1314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Clean + split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CC583C-1446-4090-B8AD-318DD3978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895600"/>
            <a:ext cx="13144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Time split</a:t>
            </a:r>
          </a:p>
          <a:p xmlns:a="http://schemas.openxmlformats.org/drawingml/2006/main">
            <a:pPr algn="l">
              <a:defRPr sz="90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Features</a:t>
            </a:r>
          </a:p>
          <a:p xmlns:a="http://schemas.openxmlformats.org/drawingml/2006/main">
            <a:pPr algn="l">
              <a:defRPr sz="90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Leakage checks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BABA1C-8DC3-4EB1-B3A4-F649B6BD5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23850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26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09B5DE-8486-4560-BB91-9A387A07D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76500"/>
            <a:ext cx="1619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CF8"/>
          </a:solidFill>
          <a:ln xmlns:a="http://schemas.openxmlformats.org/drawingml/2006/main" w="9525">
            <a:solidFill>
              <a:srgbClr val="2B5C9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C8908E-6474-44A8-BA9C-82B1CF966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609850"/>
            <a:ext cx="1314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Candidates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A0A15F-5F2F-41E0-BE71-E4A0CDF8E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895600"/>
            <a:ext cx="13144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Popularity</a:t>
            </a:r>
          </a:p>
          <a:p xmlns:a="http://schemas.openxmlformats.org/drawingml/2006/main">
            <a:pPr algn="l">
              <a:defRPr sz="90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ItemKNN</a:t>
            </a:r>
          </a:p>
          <a:p xmlns:a="http://schemas.openxmlformats.org/drawingml/2006/main">
            <a:pPr algn="l">
              <a:defRPr sz="90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ALS/BPR</a:t>
            </a:r>
          </a:p>
          <a:p xmlns:a="http://schemas.openxmlformats.org/drawingml/2006/main">
            <a:pPr algn="l">
              <a:defRPr sz="90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LightGCN bonus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AA9317-5333-492D-A376-4EF449C5E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23850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26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61CF6A-766B-43D5-AB5F-2C0AE418E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476500"/>
            <a:ext cx="1619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7D2"/>
          </a:solidFill>
          <a:ln xmlns:a="http://schemas.openxmlformats.org/drawingml/2006/main" w="9525">
            <a:solidFill>
              <a:srgbClr val="B96F1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97E6A3-41F1-4CDE-B507-3A75D91D1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09850"/>
            <a:ext cx="1314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96F1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96F13"/>
                </a:solidFill>
                <a:latin typeface="Aptos"/>
                <a:ea typeface="Aptos"/>
                <a:cs typeface="Aptos"/>
              </a:rPr>
              <a:t>Reranking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3CE9FA-7389-4D3A-BDDC-4610D142C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95600"/>
            <a:ext cx="13144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Promotion</a:t>
            </a:r>
          </a:p>
          <a:p xmlns:a="http://schemas.openxmlformats.org/drawingml/2006/main">
            <a:pPr algn="l">
              <a:defRPr sz="90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Coupon</a:t>
            </a:r>
          </a:p>
          <a:p xmlns:a="http://schemas.openxmlformats.org/drawingml/2006/main">
            <a:pPr algn="l">
              <a:defRPr sz="90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Discount cost</a:t>
            </a:r>
          </a:p>
          <a:p xmlns:a="http://schemas.openxmlformats.org/drawingml/2006/main">
            <a:pPr algn="l">
              <a:defRPr sz="90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Diversity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AA8643-D169-471F-AED3-C38793603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23850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26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78DFEE8-7A26-4B5F-B731-6470F4608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76500"/>
            <a:ext cx="1619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DDB"/>
          </a:solidFill>
          <a:ln xmlns:a="http://schemas.openxmlformats.org/drawingml/2006/main" w="9525">
            <a:solidFill>
              <a:srgbClr val="9C3B3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CFA33B-AA50-4914-AD30-95C693921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609850"/>
            <a:ext cx="1314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C3B3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9C3B38"/>
                </a:solidFill>
                <a:latin typeface="Aptos"/>
                <a:ea typeface="Aptos"/>
                <a:cs typeface="Aptos"/>
              </a:rPr>
              <a:t>Evaluation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861E9BE-0D26-45EB-BE69-DE8376863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95600"/>
            <a:ext cx="13144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Recall/NDCG</a:t>
            </a:r>
          </a:p>
          <a:p xmlns:a="http://schemas.openxmlformats.org/drawingml/2006/main">
            <a:pPr algn="l">
              <a:defRPr sz="90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Coverage</a:t>
            </a:r>
          </a:p>
          <a:p xmlns:a="http://schemas.openxmlformats.org/drawingml/2006/main">
            <a:pPr algn="l">
              <a:defRPr sz="90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Business Utility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3307484-344F-4763-B973-BDA5B4135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23850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26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7DDDF02-67AC-4A74-8331-6DDB4CEF9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476500"/>
            <a:ext cx="13906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D3AA88C-3A55-4A8A-8239-689D81885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609850"/>
            <a:ext cx="1085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6DCD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6DCD4"/>
                </a:solidFill>
                <a:latin typeface="Aptos"/>
                <a:ea typeface="Aptos"/>
                <a:cs typeface="Aptos"/>
              </a:rPr>
              <a:t>Demo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F3B8F5-8E5F-4F4A-A3A3-EBFE5FFDA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895600"/>
            <a:ext cx="10858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Household view</a:t>
            </a:r>
          </a:p>
          <a:p xmlns:a="http://schemas.openxmlformats.org/drawingml/2006/main">
            <a:pPr algn="l">
              <a:defRPr sz="90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Top-10 products</a:t>
            </a:r>
          </a:p>
          <a:p xmlns:a="http://schemas.openxmlformats.org/drawingml/2006/main">
            <a:pPr algn="l">
              <a:defRPr sz="90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Budget slider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87B7BFF-109C-45F6-9DEF-DD25C9FB2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1009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E808CAE-9E0A-43A0-AF7F-FEF06F250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24450"/>
            <a:ext cx="933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共享输出格式：每个模型都输出 raw household_id、product_id、base_score、model_name、base_rank，保证下游重排序和 demo 稳定。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86F81F2-8931-4E78-A998-4C6A532CE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C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5AE7CAA-6099-41A6-8773-A7067B583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PromoMind Project 2 Proposal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3A8A388-0502-46F9-ACD5-25AADEC15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9357369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75CF6D1-1635-419F-911B-9F134D056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93D90C-0A26-4415-83AE-C4AA74583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E77CCD-41FD-49AF-857A-CFE4F7053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09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计划实现的算法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44FD8D-96ED-4B5E-B680-625201803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rPr>
              <a:t>比较 grocery baselines 与 implicit-feedback 推荐器。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05C54B-DDDB-488F-AF64-080F494C0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096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即使 bonus deep model 花更多时间，模型阶梯也能保证项目主线完整。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89D912-6592-4A91-A1BB-0DB9131BE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76500"/>
            <a:ext cx="26670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EE5"/>
          </a:solidFill>
          <a:ln xmlns:a="http://schemas.openxmlformats.org/drawingml/2006/main" w="9525">
            <a:solidFill>
              <a:srgbClr val="146B4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30FC98-D708-47C3-9755-449ED31D8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67000"/>
            <a:ext cx="1047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033AD2-C55C-479C-9676-93EDA6B5D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733675"/>
            <a:ext cx="819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Required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92AD24-1A44-4A0C-ADDF-1AF793063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194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80758C-9FB4-41B5-8B05-4079EB114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43250"/>
            <a:ext cx="19240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Popularity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902FC9-FB67-4A8F-B772-EFE61097F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5052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F8796E-EAE6-45E5-A5AE-CB1422213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429000"/>
            <a:ext cx="19240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Category Popularity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DE43F2-2507-4564-AB58-C0F7159AD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7909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84FB1F-8092-468C-996C-B6E6D7F6F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714750"/>
            <a:ext cx="19240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Implicit ALS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0BA24E-AF80-403E-A338-FB1E58C38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476500"/>
            <a:ext cx="2857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CF8"/>
          </a:solidFill>
          <a:ln xmlns:a="http://schemas.openxmlformats.org/drawingml/2006/main" w="9525">
            <a:solidFill>
              <a:srgbClr val="2B5C9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093DEE-D7FA-4D3A-ADF5-31CAA6520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667000"/>
            <a:ext cx="1047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B69BC5-0578-43CA-9D23-659511C0D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733675"/>
            <a:ext cx="819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Standard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8A1781-E750-40D6-809C-DFDB41208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2194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459022-AE72-4677-B345-722154415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143250"/>
            <a:ext cx="21145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ItemKNN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062849-AD05-4730-89BB-8AAA0D71B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5052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7213C4-2882-4399-82CC-8CC898690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429000"/>
            <a:ext cx="21145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BPR matrix factorization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A8933A-15A3-4496-AFF3-7C5350580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7909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FD0E0B-EB0B-4877-81D4-2A79E9981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714750"/>
            <a:ext cx="21145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ALS tuning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4925B6-DD6B-4C69-8AB5-B2E159A00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476500"/>
            <a:ext cx="2857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7D2"/>
          </a:solidFill>
          <a:ln xmlns:a="http://schemas.openxmlformats.org/drawingml/2006/main" w="9525">
            <a:solidFill>
              <a:srgbClr val="B96F1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1DBC00-4A70-4937-8E86-F9F1121B0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667000"/>
            <a:ext cx="1047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9F0D8B1-437B-415E-883C-768A0D715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733675"/>
            <a:ext cx="819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Bonus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9026911-044C-4E10-A339-2F28F566F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2194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6CD1DC7-3DC4-43A6-B317-0F82A21BA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143250"/>
            <a:ext cx="21145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RecBole LightGCN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4150A93-9DAC-44AF-A13B-1B4CECF09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5052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8FFDD7-1EA2-413F-86A6-88CFA1D2C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429000"/>
            <a:ext cx="21145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Graph-based candidates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EA729C0-7617-45A9-AD2D-55FD6EE89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7909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B4EC237-B508-4016-B3AA-9333AFB1F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714750"/>
            <a:ext cx="21145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Sensitivity curves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81F1569-C8D2-4BA5-A06E-79A52ED6F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57750"/>
            <a:ext cx="9906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DD39FD1-5F12-48F2-A902-1211E95C7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24450"/>
            <a:ext cx="2000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Library acknowledgements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86A13C1-356C-444E-8E83-7BDB958F6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0863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5B7A8E5-52B6-44A6-8353-486EAC68F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010150"/>
            <a:ext cx="63055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implicit for implicit-feedback ALS/BPR-style models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63DF0C2-8235-4846-87C0-F9F969FD5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2578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A31D378-244C-40F2-9C3D-77F2CD172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181600"/>
            <a:ext cx="63055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RecBole if LightGCN is attempted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8873656-56DD-443C-82A0-943465AFD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4292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FBC0208-6943-4090-96F7-580F2C31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353050"/>
            <a:ext cx="63055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Cornac as optional course-aligned experiment framework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46E6AB3-4487-49EA-80F7-A79F1BADB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C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F0440E0-6B86-46BB-8D6A-ECCE07C5A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PromoMind Project 2 Proposal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B1E2561-7C79-4F7A-93ED-EEF0887F7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50689520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6E095A0-22D4-4BCD-BDE4-DADAF9509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71ADD3-D9B5-45D5-BF7C-725DB0F20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1256DC-3DAF-4F4D-827F-0B79239FB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09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B96F1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B96F13"/>
                </a:solidFill>
                <a:latin typeface="Aptos"/>
                <a:ea typeface="Aptos"/>
                <a:cs typeface="Aptos"/>
              </a:rPr>
              <a:t>X-FACTOR: 促销感知重排序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E078AE-58F7-4696-85F8-3621EB401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rPr>
              <a:t>第二阶段决定哪些推荐值得推送。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B405F5-AF5C-45D4-95F1-271BE16B9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096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基础相关性仍然重要，但营销信号和估计折扣成本会影响最终排序。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2EB50C-AE8A-4227-A048-D8CC03AD8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10287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15"/>
          </a:solidFill>
          <a:ln xmlns:a="http://schemas.openxmlformats.org/drawingml/2006/main" w="9525">
            <a:solidFill>
              <a:srgbClr val="11181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D9B211-2B3F-45FA-AED3-AD513C455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33650"/>
            <a:ext cx="981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final_score = alpha * base + beta * promotion + gamma * coupon - lambda * discount_cost + rho * diversity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D90090-C3F7-4E74-AB52-1F94E0BDD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76625"/>
            <a:ext cx="1952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CF8"/>
          </a:solidFill>
          <a:ln xmlns:a="http://schemas.openxmlformats.org/drawingml/2006/main" w="9525">
            <a:solidFill>
              <a:srgbClr val="2B5C9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0427EF-5710-403D-A3F2-E7C73D46A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7665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Base score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6B3A46-0F72-4C8B-9866-06AFE42E4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62400"/>
            <a:ext cx="16478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ALS/BPR/其他模型给出的候选相关性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A970D9-74B1-4160-AECE-35F1AFC18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476625"/>
            <a:ext cx="1952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CF8"/>
          </a:solidFill>
          <a:ln xmlns:a="http://schemas.openxmlformats.org/drawingml/2006/main" w="9525">
            <a:solidFill>
              <a:srgbClr val="2B5C9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B2F1F8-3979-49F3-9330-6CA66AA74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67665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Promotion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EF422B-927F-483A-82DF-9F78805FF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962400"/>
            <a:ext cx="16478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目标周期商品促销曝光信号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9A56D9-4A9E-46A6-A711-D779C4EB1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476625"/>
            <a:ext cx="1952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EE5"/>
          </a:solidFill>
          <a:ln xmlns:a="http://schemas.openxmlformats.org/drawingml/2006/main" w="9525">
            <a:solidFill>
              <a:srgbClr val="146B4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ADC3F7-F3F3-49BF-B673-E8FDFC082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7665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Coupon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520E3C-9C6B-4119-B848-EB7221246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962400"/>
            <a:ext cx="16478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家庭/商品/活动优惠券匹配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36676D-9995-4319-86DD-7FA15B001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476625"/>
            <a:ext cx="1952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DDB"/>
          </a:solidFill>
          <a:ln xmlns:a="http://schemas.openxmlformats.org/drawingml/2006/main" w="9525">
            <a:solidFill>
              <a:srgbClr val="9C3B3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6EA6B9-8529-46F3-9BF4-476595BE8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67665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9C3B3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C3B38"/>
                </a:solidFill>
                <a:latin typeface="Aptos"/>
                <a:ea typeface="Aptos"/>
                <a:cs typeface="Aptos"/>
              </a:rPr>
              <a:t>Discount cost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FCA6C0-0B3A-4631-872B-BC7D5AD1C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962400"/>
            <a:ext cx="16478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由 retail 和 coupon 折扣估计成本代理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228F72-F46A-444D-99C1-8F9DB336C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476625"/>
            <a:ext cx="1809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7D2"/>
          </a:solidFill>
          <a:ln xmlns:a="http://schemas.openxmlformats.org/drawingml/2006/main" w="9525">
            <a:solidFill>
              <a:srgbClr val="B96F1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771049-69DF-4504-B545-71421C125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67665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96F1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B96F13"/>
                </a:solidFill>
                <a:latin typeface="Aptos"/>
                <a:ea typeface="Aptos"/>
                <a:cs typeface="Aptos"/>
              </a:rPr>
              <a:t>Diversity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F09D1D-D97E-428E-822D-7BC11FCA2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962400"/>
            <a:ext cx="15049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避免 Top-K 全部集中在同一类别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82358C-B033-4ED7-B710-194EA932B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43500"/>
            <a:ext cx="152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3B38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A36CC87-899E-4FC2-9D5B-5B3DBEACE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10175"/>
            <a:ext cx="1295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Important wording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5E307CF-2CD8-4C0A-B545-0A1985EE3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143500"/>
            <a:ext cx="857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这是观察性决策代理，不是 causal coupon uplift，也不是真实 profit，因为缺少 margin 和随机 treatment 标签。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5799EF5-EB15-456C-B92D-F4F3FE4ED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C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BF5B7A2-D871-436E-A68B-E3CBF3D20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PromoMind Project 2 Proposal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C11E281-5A1C-44A6-8F94-9CE6A8F4F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39761738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1CCDA9F-2740-401E-BD88-8E9188F38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793618-6B7F-48EE-AEBB-6E96F5F42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3B3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3CA299-96A7-4FB7-B70D-01EB1D672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09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9C3B3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9C3B38"/>
                </a:solidFill>
                <a:latin typeface="Aptos"/>
                <a:ea typeface="Aptos"/>
                <a:cs typeface="Aptos"/>
              </a:rPr>
              <a:t>研究问题与实验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C2CA7E-019E-4894-9926-CCCA09941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rPr>
              <a:t>把 PromoMind 作为 recommender systems study 来评估。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007E91-A464-44BD-A6E2-00DE4433B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096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Demo 是展示形态；研究价值来自可控模型比较和重排序消融。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6C5F07-02E8-4346-8E81-1BB2213C7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28575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1F71AE-6CBA-4E80-B31E-F1D990272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781300"/>
            <a:ext cx="15716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CF8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507BCD-86F0-4BFF-83B1-5A92E7CCB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847975"/>
            <a:ext cx="13430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Research questions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42B82C-3B83-4E3B-95D6-957BA4431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623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617B96-B590-4BFA-B97C-7E7817FF4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86125"/>
            <a:ext cx="21145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RQ1: 最好的候选模型？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EC4046-36DB-4292-80BA-AA9199E48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290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208FF1-CE16-487E-BFB1-812586536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552825"/>
            <a:ext cx="21145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RQ2: 促销/优惠券信号价值？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E86F0E-F360-44D0-8579-80A63A5BC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957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FDD0CF-6E89-46F7-989D-F9ECB4418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19525"/>
            <a:ext cx="21145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RQ3: 折扣成本 trade-off？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4E9AA4-6881-4DCF-A688-B53737A82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624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C263B5-8258-4261-870A-839F59D61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086225"/>
            <a:ext cx="21145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RQ4: 多样性 vs 准确率？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C4340D-73FB-4117-9358-631CD79FD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571750"/>
            <a:ext cx="28575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F2504A-1772-48CF-AE89-3A9A62833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781300"/>
            <a:ext cx="114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EE5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B5535C-6A2C-46DC-BF46-DB178AF74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847975"/>
            <a:ext cx="914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Metrics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3B1CE7-11AA-49E5-88CE-76316D730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3623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6AD8D7-2FE0-4CE6-A8FF-192463802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286125"/>
            <a:ext cx="22098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Recall@10 / Recall@20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7B1D37-9F97-4E68-845B-0DE3DA4D7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6290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1DBC80-4E96-4A33-A2B9-AA844E6DC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552825"/>
            <a:ext cx="22098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NDCG@10 / NDCG@20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F66E17-2DA8-4503-B740-D2D3C8AFF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8957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E828412-27D1-4820-B787-BC6C7FF1C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819525"/>
            <a:ext cx="22098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Coverage, diversity, novelty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030D94-85E9-480C-85AF-EC392CD74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1624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4FBC1BE-9628-411C-A9B5-27DB9C501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086225"/>
            <a:ext cx="22098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Business Utility@K proxy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181D19E-83CC-4372-A028-C10C7801C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571750"/>
            <a:ext cx="28575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B59407C-C3C6-4C32-8F53-61AEF9A8A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781300"/>
            <a:ext cx="114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7D2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8666DDA-DF6F-4750-A59D-2FDAEF1CC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847975"/>
            <a:ext cx="914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B96F1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B96F13"/>
                </a:solidFill>
                <a:latin typeface="Aptos"/>
                <a:ea typeface="Aptos"/>
                <a:cs typeface="Aptos"/>
              </a:rPr>
              <a:t>Ablations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B6732FF-7F54-4745-9A9B-DA4CF12D1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3147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6F30BBE-F958-4B6C-B145-29A681BBA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238500"/>
            <a:ext cx="22098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Base only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6762498-CE78-420A-A62F-888A9EFAD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5623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FEAE74A-AE9E-4A56-B4B8-C63E9A812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486150"/>
            <a:ext cx="22098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+ Promotion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E985C1F-D6A5-43C5-A199-4B2BEBC10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8100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E09E4EF-F13A-450C-A405-8E93E30CC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733800"/>
            <a:ext cx="22098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+ Coupon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CFF242E-E936-4ACE-8C1B-C7FB2D89A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0576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7031D05-9019-48B8-9114-293F5AB74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981450"/>
            <a:ext cx="22098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+ Discount cost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EF777A1-C8D4-44AF-969C-5B9B4106E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3053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F601665-8711-4E4A-8C7F-133E391D6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229100"/>
            <a:ext cx="22098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+ Diversity full rerank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3BEF246-12E8-45EF-B595-ED6FE66B5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43500"/>
            <a:ext cx="10096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DDB"/>
          </a:solidFill>
          <a:ln xmlns:a="http://schemas.openxmlformats.org/drawingml/2006/main" w="9525">
            <a:solidFill>
              <a:srgbClr val="9C3B3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8C4EAAA-D6D8-44D6-AFF7-D7A363EB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305425"/>
            <a:ext cx="952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Guardrail: 用 validation 选择重排序权重；提升 Business Utility@K 的同时必须展示 Recall/NDCG 损失。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C17F2AF-4DE7-4050-9BBA-1DCD7C434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C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A75191F-AEF2-4ACE-81C1-62A677581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PromoMind Project 2 Proposal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9DFAED9-4D64-46CC-801C-2DE5CBACB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29612108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7D0F86A-4B77-40E4-9B7F-08CDBB030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C5A2B3-5448-40C9-90F2-E18C474DE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1395CE-59CF-4B08-9232-70839A28C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09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研究贡献与 DEMO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984F72-B5A0-4AEC-BBE1-E02D5EA40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rPr>
              <a:t>Demo 用来可视化推荐权衡。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187830-9134-4620-9F01-026D86920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Streamlit 会展示家庭上下文、排序商品、coupon 标记、解释和预算变化；证据仍来自离线评估。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99EFCC-DBB0-4724-8D87-B665345BB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76500"/>
            <a:ext cx="26193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15"/>
          </a:solidFill>
          <a:ln xmlns:a="http://schemas.openxmlformats.org/drawingml/2006/main" w="9525">
            <a:solidFill>
              <a:srgbClr val="11181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18D0D5-53F3-4634-B4FC-236CB13EA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24150"/>
            <a:ext cx="190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Controls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E404C3-FB12-4856-AFB9-E043B5B72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90875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E6CBCC-F12F-462A-8705-6356B511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314700"/>
            <a:ext cx="1619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Household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5B4EE3-4025-40E4-A465-36E9FEF2F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543300"/>
            <a:ext cx="1695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选择 household_id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522929-3058-4182-80F6-C95D65A20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0050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DAD4C6-42A9-4711-930C-44BF53CA3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124325"/>
            <a:ext cx="1619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Model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AA8BA5-8B91-4908-A346-AEB6A6D3B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352925"/>
            <a:ext cx="1695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ALS vs reranked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E87079-A1AC-4B1B-8C0F-72B7228E3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810125"/>
            <a:ext cx="200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6A0DB0-6CE6-40AD-A8B3-A8EA729CE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933950"/>
            <a:ext cx="1619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Budget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13EE32-813B-41E8-AA8B-CE01847ED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162550"/>
            <a:ext cx="1695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优惠券数量或折扣成本上限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F29834-C8DE-4820-B164-73BADA8C7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476500"/>
            <a:ext cx="70485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C1D184-BCA7-4ABA-A86D-A783ADA7A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743200"/>
            <a:ext cx="2095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CF8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D6C466-FCB5-4E83-AB3A-457865472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809875"/>
            <a:ext cx="1866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Top-10 recommendation table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464678-42E2-433E-B694-346093169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2385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Rank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348211F-E2AF-4FEB-961E-C86E24E44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238500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Product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5824B4-76C4-4D70-A1FA-303B8E046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238500"/>
            <a:ext cx="13811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Category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7C07CD-A5B7-4776-AC42-961EE3C7A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238500"/>
            <a:ext cx="104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Coupon?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A5875D4-143F-4F86-9184-261E50BDE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238500"/>
            <a:ext cx="1238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Reason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0FBCD4D-17B2-4F66-8EC4-46CD4A9F3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6004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A0A7D86-BBF3-40A5-8DBF-A3C6ADEAE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60045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Candidate product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C3479B8-B818-4D59-83C5-10A49045D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600450"/>
            <a:ext cx="13811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高频类别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10460BB-FA68-4CFA-9E69-0C962172D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600450"/>
            <a:ext cx="104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268FD9A-3F21-4E68-AAA0-E263A4191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600450"/>
            <a:ext cx="133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Coupon eligible; high score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90C63D2-0709-4809-8F6F-66B2425E9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00050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0B5D61D-274F-43BF-8115-57EBC62F2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00050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Product option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A059AED-4BA8-48D5-95FC-67F5E1C87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000500"/>
            <a:ext cx="13811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Household category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58D1599-2D23-4826-B342-BB3D36172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000500"/>
            <a:ext cx="104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D52EDD3-9161-4816-A304-568AA07D9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4000500"/>
            <a:ext cx="133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Matches prior basket pattern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26E5663-0D8D-4F72-B03B-9AADED28F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4005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3D7490B-1D67-4EBB-9F2B-3373C0B4D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40055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Product option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4C71B75-8B09-4FE7-A864-1FBDBE9E3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400550"/>
            <a:ext cx="13811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高频类别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9CEE5C2-CB7C-4A77-93C4-D3CCDC9E9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400550"/>
            <a:ext cx="104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B96F1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B96F13"/>
                </a:solidFill>
                <a:latin typeface="Aptos"/>
                <a:ea typeface="Aptos"/>
                <a:cs typeface="Aptos"/>
              </a:rPr>
              <a:t>Budget limited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92125D0-A388-4AEB-AA85-541EABC2A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4400550"/>
            <a:ext cx="133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Matches prior basket pattern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F0962A6-6732-4C8E-9298-DBEA0D116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80060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16963CA-4242-429B-B08C-5C9FD3B85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80060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Product option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FE9CB7A-CA77-4E54-AC4C-D45839729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800600"/>
            <a:ext cx="13811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高频类别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9F9F2F6-B9B5-4F94-909A-883FFEBDF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800600"/>
            <a:ext cx="104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B96F1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B96F13"/>
                </a:solidFill>
                <a:latin typeface="Aptos"/>
                <a:ea typeface="Aptos"/>
                <a:cs typeface="Aptos"/>
              </a:rPr>
              <a:t>Budget limited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C108BC4-5B0D-46E9-AFBA-D05A38E7E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4800600"/>
            <a:ext cx="133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Matches prior basket pattern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F911E1B-B60B-4D4A-B722-4A70F5469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191125"/>
            <a:ext cx="619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预算滑杆改变 coupon 分配，而不是改变底层 Top-K relevance list，除非明确标注。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CCC44DE-91A4-4969-A024-24759E7C7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C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1C78A71-6FEE-427D-9319-4313D9FFF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PromoMind Project 2 Proposal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2D89E01-CA00-45A8-8B2C-C685B7085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07140998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5DA1769-2558-4C68-876C-4092BF803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55A51A-1DBC-4622-AD56-7E3DD0C09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1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E507DB-A12B-483B-B052-0D96635F5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09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1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815"/>
                </a:solidFill>
                <a:latin typeface="Aptos"/>
                <a:ea typeface="Aptos"/>
                <a:cs typeface="Aptos"/>
              </a:rPr>
              <a:t>计划与分工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44496E-FA57-405A-A212-2492599E5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rPr>
              <a:t>主线可完成；bonus 模型不影响项目完整性。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05B7A9-9FB1-432E-9EDD-3EDD1B850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096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两位汇报人分工清晰，线上会议可以直接集中问问题。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36CBBA-8086-41B5-BDCF-B60DDDB04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5143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EE5"/>
          </a:solidFill>
          <a:ln xmlns:a="http://schemas.openxmlformats.org/drawingml/2006/main" w="9525">
            <a:solidFill>
              <a:srgbClr val="146B4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99B434-38CD-46F9-A138-66B8CC090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Presenter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9A7916-CBD7-452A-B3F2-ADBB75E0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14650"/>
            <a:ext cx="4476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Slides 1-5：动机、数据集选择、字段例子、推荐任务、时间切分、系统流程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FF4B05-3611-40D7-A0B2-3CA1DB81D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66950"/>
            <a:ext cx="5143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CF8"/>
          </a:solidFill>
          <a:ln xmlns:a="http://schemas.openxmlformats.org/drawingml/2006/main" w="9525">
            <a:solidFill>
              <a:srgbClr val="2B5C9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570C4F-FC7D-43A5-B895-6EB370655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765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Presenter 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C61CFA-1A35-4DDD-91A1-853052B10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914650"/>
            <a:ext cx="4476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Slides 6-10：模型、外部库说明、重排序设计、实验、demo、风险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2555D3-9DCC-437A-98DA-1901E6C87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57625"/>
            <a:ext cx="514350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EAD00B-E993-40AC-92B9-32FFD58F7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86225"/>
            <a:ext cx="1905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15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ECF7FC-9D0F-42AB-9614-BA900638B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152900"/>
            <a:ext cx="1676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Minimum delivery line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E709C6-43A2-45DA-9E2E-B56BE522A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6101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2E93DD-258E-4DD3-B001-A90F8351F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533900"/>
            <a:ext cx="4210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Chronological data split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B3352D-B1C2-433A-994E-0298DFA5B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387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E34E66-1085-4BC4-A94B-182BBB72F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762500"/>
            <a:ext cx="4210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Popularity + ALS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D5C69A-809E-4E34-AC17-BC57B9741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673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E3E360-2DF8-42AE-B566-33D9A6073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991100"/>
            <a:ext cx="4210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Promotion-aware reranking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3EA9D7-6C4C-487E-8133-88F89658D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959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23A0E5-31F9-4E70-A7DA-068687898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219700"/>
            <a:ext cx="4210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Business Utility@K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52099B-D7CF-443D-B620-146F68DF6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5245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5EED9F4-B23C-41FC-8E5B-5993CA843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448300"/>
            <a:ext cx="4210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Streamlit demo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76225E-CFED-4DEF-8983-90F65CA91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57625"/>
            <a:ext cx="514350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A7F3D3D-42E6-4712-8F14-9ABCE467E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086225"/>
            <a:ext cx="152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3B38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BAD329-BC06-41DD-8C5A-1F528273E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152900"/>
            <a:ext cx="1295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Risks controlled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93AB6BE-959B-4845-9F76-0BA8865A6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101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3B3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BE2180C-C053-4885-8E20-E7D70D48F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533900"/>
            <a:ext cx="430530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Coupon redemption 稀疏：只作辅助信号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7846C5F-B90A-40AB-BB49-CCB92C279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8387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3B3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61D3F10-5F5D-4F20-9BDD-92C0C2621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762500"/>
            <a:ext cx="430530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Demographics 部分覆盖：可选分析/demo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81DB2DB-4C08-4845-85C8-E6C50F1D3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0673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3B3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46BF33C-280E-4788-9A4B-33B1B7CC2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991100"/>
            <a:ext cx="430530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没有 margin data：使用 proxy，不说 profit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82A56FE-1CE9-48FC-9DD7-0643FCBEE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2959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3B3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C179C5B-7FDA-4ECA-AD17-73071C838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219700"/>
            <a:ext cx="430530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LightGCN 是 bonus，不是 blocker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7531E75-F66B-4166-BE0A-92002147A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62650"/>
            <a:ext cx="952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希望获得反馈：chronological split、reranking proxy、evaluation scope。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21776FA-E691-4341-987D-71F539975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C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33EE3EC-4A86-471A-BF7F-330EA04AC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PromoMind Project 2 Proposal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4EB955E-F477-4288-991D-17A8F16C1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48411886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2026-06-02T09:10:28.8340000Z</dcterms:created>
  <dcterms:modified xsi:type="dcterms:W3CDTF">2026-06-02T09:10:28.8340000Z</dcterms:modified>
</coreProperties>
</file>