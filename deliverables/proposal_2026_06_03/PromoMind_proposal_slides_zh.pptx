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6afb83c11234e8b" /><Relationship Type="http://schemas.openxmlformats.org/officeDocument/2006/relationships/extended-properties" Target="/docProps/app.xml" Id="R234d28ee179b4c72" /><Relationship Type="http://schemas.openxmlformats.org/officeDocument/2006/relationships/officeDocument" Target="/ppt/presentation.xml" Id="R2c37e10930d044e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807933ce0c4f0c"/>
  </p:sldMasterIdLst>
  <p:notesMasterIdLst>
    <p:notesMasterId xmlns:r="http://schemas.openxmlformats.org/officeDocument/2006/relationships" r:id="Rf1df337b759340f7"/>
  </p:notesMasterIdLst>
  <p:sldIdLst>
    <p:sldId xmlns:r="http://schemas.openxmlformats.org/officeDocument/2006/relationships" id="256" r:id="Ref68c98d3ba6440c"/>
    <p:sldId xmlns:r="http://schemas.openxmlformats.org/officeDocument/2006/relationships" id="257" r:id="Rc262ba980ec44c1e"/>
    <p:sldId xmlns:r="http://schemas.openxmlformats.org/officeDocument/2006/relationships" id="258" r:id="Rc0dbb74f2841496a"/>
    <p:sldId xmlns:r="http://schemas.openxmlformats.org/officeDocument/2006/relationships" id="259" r:id="Re65f793e5a7a4094"/>
    <p:sldId xmlns:r="http://schemas.openxmlformats.org/officeDocument/2006/relationships" id="260" r:id="R4e3d4226ea5b475d"/>
    <p:sldId xmlns:r="http://schemas.openxmlformats.org/officeDocument/2006/relationships" id="261" r:id="R53c36dfec5104e4d"/>
    <p:sldId xmlns:r="http://schemas.openxmlformats.org/officeDocument/2006/relationships" id="262" r:id="R2914e21a37cd46a0"/>
    <p:sldId xmlns:r="http://schemas.openxmlformats.org/officeDocument/2006/relationships" id="263" r:id="Rcc3bc53c70c94a9d"/>
    <p:sldId xmlns:r="http://schemas.openxmlformats.org/officeDocument/2006/relationships" id="264" r:id="R25704ddbb4c7440c"/>
    <p:sldId xmlns:r="http://schemas.openxmlformats.org/officeDocument/2006/relationships" id="265" r:id="R747c3fcd236041a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eda7b4ceeed4858" /><Relationship Type="http://schemas.openxmlformats.org/officeDocument/2006/relationships/slideMaster" Target="/ppt/slideMasters/slideMaster1.xml" Id="Rb8807933ce0c4f0c" /><Relationship Type="http://schemas.openxmlformats.org/officeDocument/2006/relationships/notesMaster" Target="/ppt/notesMasters/notesMaster1.xml" Id="Rf1df337b759340f7" /><Relationship Type="http://schemas.openxmlformats.org/officeDocument/2006/relationships/presProps" Target="/ppt/presProps.xml" Id="Rd75cf7cf7a904afa" /><Relationship Type="http://schemas.openxmlformats.org/officeDocument/2006/relationships/viewProps" Target="/ppt/viewProps.xml" Id="R93d253b1a06448e4" /><Relationship Type="http://schemas.openxmlformats.org/officeDocument/2006/relationships/tableStyles" Target="/ppt/tableStyles.xml" Id="Rf46da592f2a048e1" /><Relationship Type="http://schemas.openxmlformats.org/officeDocument/2006/relationships/slide" Target="/ppt/slides/slide1.xml" Id="Ref68c98d3ba6440c" /><Relationship Type="http://schemas.openxmlformats.org/officeDocument/2006/relationships/slide" Target="/ppt/slides/slide2.xml" Id="Rc262ba980ec44c1e" /><Relationship Type="http://schemas.openxmlformats.org/officeDocument/2006/relationships/slide" Target="/ppt/slides/slide3.xml" Id="Rc0dbb74f2841496a" /><Relationship Type="http://schemas.openxmlformats.org/officeDocument/2006/relationships/slide" Target="/ppt/slides/slide4.xml" Id="Re65f793e5a7a4094" /><Relationship Type="http://schemas.openxmlformats.org/officeDocument/2006/relationships/slide" Target="/ppt/slides/slide5.xml" Id="R4e3d4226ea5b475d" /><Relationship Type="http://schemas.openxmlformats.org/officeDocument/2006/relationships/slide" Target="/ppt/slides/slide6.xml" Id="R53c36dfec5104e4d" /><Relationship Type="http://schemas.openxmlformats.org/officeDocument/2006/relationships/slide" Target="/ppt/slides/slide7.xml" Id="R2914e21a37cd46a0" /><Relationship Type="http://schemas.openxmlformats.org/officeDocument/2006/relationships/slide" Target="/ppt/slides/slide8.xml" Id="Rcc3bc53c70c94a9d" /><Relationship Type="http://schemas.openxmlformats.org/officeDocument/2006/relationships/slide" Target="/ppt/slides/slide9.xml" Id="R25704ddbb4c7440c" /><Relationship Type="http://schemas.openxmlformats.org/officeDocument/2006/relationships/slide" Target="/ppt/slides/slide10.xml" Id="R747c3fcd236041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d637e3db5149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e6b2566e7f84a19" /><Relationship Type="http://schemas.openxmlformats.org/officeDocument/2006/relationships/notesMaster" Target="/ppt/notesMasters/notesMaster1.xml" Id="Ref0dcabe7b9c427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4c5b12f783a483e" /><Relationship Type="http://schemas.openxmlformats.org/officeDocument/2006/relationships/notesMaster" Target="/ppt/notesMasters/notesMaster1.xml" Id="R6a9d47ad4e3346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43b71cf76ac4e32" /><Relationship Type="http://schemas.openxmlformats.org/officeDocument/2006/relationships/notesMaster" Target="/ppt/notesMasters/notesMaster1.xml" Id="Ra58b39a007884c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cb819472b94a8d" /><Relationship Type="http://schemas.openxmlformats.org/officeDocument/2006/relationships/notesMaster" Target="/ppt/notesMasters/notesMaster1.xml" Id="R665d45bf3cec446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835b1c25bd4ea3" /><Relationship Type="http://schemas.openxmlformats.org/officeDocument/2006/relationships/notesMaster" Target="/ppt/notesMasters/notesMaster1.xml" Id="R49019cc2925348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2f8274c01d48a1" /><Relationship Type="http://schemas.openxmlformats.org/officeDocument/2006/relationships/notesMaster" Target="/ppt/notesMasters/notesMaster1.xml" Id="Re2f7183f8d8b42e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88f5067df74194" /><Relationship Type="http://schemas.openxmlformats.org/officeDocument/2006/relationships/notesMaster" Target="/ppt/notesMasters/notesMaster1.xml" Id="R7e2f5cdf80ae4de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86836a17584c55" /><Relationship Type="http://schemas.openxmlformats.org/officeDocument/2006/relationships/notesMaster" Target="/ppt/notesMasters/notesMaster1.xml" Id="R90c40c20e86042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3ddefcc9981450c" /><Relationship Type="http://schemas.openxmlformats.org/officeDocument/2006/relationships/notesMaster" Target="/ppt/notesMasters/notesMaster1.xml" Id="Rf43a3c918b76497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fa600018ba444a" /><Relationship Type="http://schemas.openxmlformats.org/officeDocument/2006/relationships/notesMaster" Target="/ppt/notesMasters/notesMaster1.xml" Id="R81e2511440fd44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4b959d620545b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63ae47eff24905" /><Relationship Type="http://schemas.openxmlformats.org/officeDocument/2006/relationships/slideLayout" Target="/ppt/slideLayouts/slideLayout1.xml" Id="Re980dd6c9432465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80dd6c9432465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dc9739f654093" /><Relationship Type="http://schemas.openxmlformats.org/officeDocument/2006/relationships/notesSlide" Target="/ppt/notesSlides/notesSlide1.xml" Id="Re0375d348698497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433f4225342ac" /><Relationship Type="http://schemas.openxmlformats.org/officeDocument/2006/relationships/notesSlide" Target="/ppt/notesSlides/notesSlide2.xml" Id="Rb17606f20b55430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706439286448f" /><Relationship Type="http://schemas.openxmlformats.org/officeDocument/2006/relationships/notesSlide" Target="/ppt/notesSlides/notesSlide3.xml" Id="R626ccf729c3d48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d377453d44d2f" /><Relationship Type="http://schemas.openxmlformats.org/officeDocument/2006/relationships/notesSlide" Target="/ppt/notesSlides/notesSlide4.xml" Id="R3bab8d0a1dbe40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1cb8a0cb7c4b4d" /><Relationship Type="http://schemas.openxmlformats.org/officeDocument/2006/relationships/notesSlide" Target="/ppt/notesSlides/notesSlide5.xml" Id="R919bbe7a41dd48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e0ccf61c4f41d2" /><Relationship Type="http://schemas.openxmlformats.org/officeDocument/2006/relationships/notesSlide" Target="/ppt/notesSlides/notesSlide6.xml" Id="R936c904e6b1c431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93ef1c3bb9438a" /><Relationship Type="http://schemas.openxmlformats.org/officeDocument/2006/relationships/notesSlide" Target="/ppt/notesSlides/notesSlide7.xml" Id="Rfffe3b5bf5654e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301baff5e14ec2" /><Relationship Type="http://schemas.openxmlformats.org/officeDocument/2006/relationships/notesSlide" Target="/ppt/notesSlides/notesSlide8.xml" Id="Rcc31435b2ec74ae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a1ede40e51414d" /><Relationship Type="http://schemas.openxmlformats.org/officeDocument/2006/relationships/notesSlide" Target="/ppt/notesSlides/notesSlide9.xml" Id="Re8ff327cb3f145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236ddc25e4cbb" /><Relationship Type="http://schemas.openxmlformats.org/officeDocument/2006/relationships/notesSlide" Target="/ppt/notesSlides/notesSlide10.xml" Id="R0749bb7762d44ae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4A0F42-B85A-4496-9E67-14C4F8EB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DB276A-B916-4D03-BF60-61E9076F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D19BF-48F7-46E3-9237-C1EF39E0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3143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2A162-4CB6-4277-B22A-3E9E2DBA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CS608 Project 2 Proposal | 2026-06-03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7E60AB-6E80-4C25-915B-A742BD01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5847DB-F152-4506-8915-214F901E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239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促销感知型超市购物篮与优惠券推荐系统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8CEADC-AD09-413F-A5DA-6870B8510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7239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8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先预测家庭下次可能购买的商品，再判断哪些推荐值得配合促销或优惠券支持。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BA5B16-A53F-4CD1-9E05-E38C2F358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D792F4-3725-44DB-8597-29338CD17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CB747-DA98-40EA-BA51-FD236EEF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4632C7-DEA5-4BFD-9585-B52BFA6B3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家庭级购物记录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FC78EB-C74C-4C1D-AAC1-3784ABDB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21D888-337B-4F76-9EE5-E6E9A9F4F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8D4AC-B5BF-40BF-9EA0-1FD851F4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5B1885-CC94-4D1E-904D-26FDDEF2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basket-product 明细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44DB96-9034-4D0B-81DD-299F26C7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212423-4174-4FB0-A315-2D449C1F9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76431F-BCF7-4ECB-B918-8714B7DED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25736A-7242-44C5-B773-92D937265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大规模超市商品目录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FC38FA-8A91-400E-8E81-BCE891FA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000500"/>
            <a:ext cx="2095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04DC61-E55E-4D75-BAF0-24503E6C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133850"/>
            <a:ext cx="1752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重排序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3ADBFC-DA8A-41A7-A97B-25F00F33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76750"/>
            <a:ext cx="1752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X-factor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E6E756-F87F-4EAC-B1FB-E80A54F50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648200"/>
            <a:ext cx="1752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促销 + 优惠券 + 成本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9A3D8D-6615-404A-9061-5B13EED7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933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数据集：The Complete Journey | 任务：下一阶段 Top-K 超市商品推荐 | 亮点：商业感知重排序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2885E2-F8B5-4E93-BCF8-517DB9541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1C6842-0634-4F1E-A55A-9520A886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836131-1987-45EE-8749-D631C0B8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7801400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5B5089-7B9B-46BD-A967-5F978D9F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699DE3-B8B1-4096-90E5-F8AACAC6D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CC86C9-A972-40F3-9D02-7A27CA13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研究问题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1AA8F-E993-43C4-84D2-9C792D262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促销上下文能否改善超市推荐的权衡？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8FCD7-5CBF-4682-888F-9576C5B71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我们研究促销和优惠券信号是否能在稀疏、观察性零售数据中改变相关性、效用代理指标和多样性。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A758C0-49A5-48F9-82C0-DE59327F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AA8354-C341-4950-A3C7-4BE5C84A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零售痛点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A49957-C0C2-40FC-8DFA-2A865FA35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优惠券经常粗放投放，折扣可能给到本来就会购买的家庭。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7EB89-CECB-4408-9CDB-47A8EF990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DD9DA-34DA-4C3F-8064-B9ACEE1E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推荐任务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6AD08-79AA-42E6-9AFE-3D932810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预测每个家庭在未来目标周期最可能购买的 Top-K 商品。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E85C10-D890-4578-AFF4-D5DFE0BA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95550"/>
            <a:ext cx="27146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B2E3D6-89BD-4811-BD0E-09E267F7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228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商业决策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EF320-E122-47D4-9D4C-543FBA80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1051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在促销曝光、优惠券资格、折扣成本和多样性之间做排序权衡。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E05D67-80D5-4A45-805D-A4410367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6725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089084-EF53-425A-9D86-5EF527DF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3392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Research thesis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D5FD67-F940-4240-9D11-7A143AD54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686300"/>
            <a:ext cx="8001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我们会测试 promotion-aware second stage 是否能在不造成不可接受排序损失的情况下提升 business-oriented utility。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2C9181-22E3-41F2-BF41-D46DCBCBB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74255-58CE-44C7-8D27-012920D5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AC0A2C-A0F6-4D66-80B0-C41A055E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7419744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9123167-A41D-4F55-AF2A-E147294B2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2BD74F-8950-482F-B3C8-B3FB2E7F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D720A-750C-49E5-AD44-52E7798A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数据集与采集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8EB6D-4587-429F-BEEB-66D6573C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The Complete Journey 同时提供购买记录和营销上下文。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7F32C-8B1A-4A07-BA75-564D7E75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我们使用仓库中的公开 completejourney RDS/RDA 原始文件；R 脚本记录可复现导出流程。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E0795-5B35-4C6D-8B6E-32BD1C85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27570-F434-4798-BC51-49A40C0B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46B4D"/>
                </a:solidFill>
                <a:latin typeface="Aptos Display"/>
                <a:ea typeface="Aptos Display"/>
                <a:cs typeface="Aptos Display"/>
              </a:rPr>
              <a:t>2,469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B9296D-8E7D-4CDA-8459-5E06543D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7F9B77-5BD2-4F8C-A434-DFFB32D5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跟踪一年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E4AD86-BAE4-4781-A592-C1B286560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085DC4-E627-4AE2-8FA1-39C37953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2B5C9E"/>
                </a:solidFill>
                <a:latin typeface="Aptos Display"/>
                <a:ea typeface="Aptos Display"/>
                <a:cs typeface="Aptos Display"/>
              </a:rPr>
              <a:t>1.47M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DC496-17E6-4437-BB5A-C7A2ADA01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DD2149-102E-424A-84F4-ABA282E8C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商品级交易行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2CE7B4-2F79-4EC8-A753-00DA7F4D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FD1DF6-7EEE-44F0-BD85-72D474EA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96F13"/>
                </a:solidFill>
                <a:latin typeface="Aptos Display"/>
                <a:ea typeface="Aptos Display"/>
                <a:cs typeface="Aptos Display"/>
              </a:rPr>
              <a:t>92,331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C90F11-1B14-4E55-B4C2-83CCDD95D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B3BB9C-2120-4B39-9914-46467FBC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超市商品目录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8C1363-9557-4CAA-9611-1666940FA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0E0D8A-9B8F-4556-9A2D-510B6908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9C3B38"/>
                </a:solidFill>
                <a:latin typeface="Aptos Display"/>
                <a:ea typeface="Aptos Display"/>
                <a:cs typeface="Aptos Display"/>
              </a:rPr>
              <a:t>2,102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5FB243-4057-42B8-8631-0A90405EE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redemptions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E8ACA1-3E41-4F08-82C8-2C5A3B562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稀疏优惠券信号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2E9F1B-E73E-41C5-8DA8-EA244D0C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1714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C13E5FE-4BD5-452A-954F-8E284C70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24100"/>
            <a:ext cx="13716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667267"/>
                </a:solidFill>
                <a:latin typeface="Aptos Display"/>
                <a:ea typeface="Aptos Display"/>
                <a:cs typeface="Aptos Display"/>
              </a:rPr>
              <a:t>801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007BFD-6DFB-4285-BB95-E6BFBD760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67000"/>
            <a:ext cx="13716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7EB87D-ABF2-4D9E-9F14-8589FC2FE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38450"/>
            <a:ext cx="13716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部分画像记录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48DD00-5A0F-4718-87C9-22F13F96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096500" cy="2114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450F5-ACF1-4643-B303-8E7E0DEEB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9570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FC94DC-8424-4BF6-9FF1-C13FE0348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762375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核心原始表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694B3FF-A941-46F9-9DBE-5A405C35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1480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transactions -&gt; products -&gt; promotions -&gt; campaigns -&gt; coupons -&gt; coupon_redemptions -&gt; demographics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E6BEBD-12D2-4ED9-B3E3-378991E6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29150"/>
            <a:ext cx="9334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字段例子：household_id、basket_id、product_id、week、quantity、sales_value、retail/coupon discounts、department、category、brand、promotion exposure、campaign/coupon mapping、income/age/household size。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8E6EFFC-9E52-4B19-9DAE-F7DED4E3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8572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这页先讲清楚 dataset 长什么样，再进入推荐模型。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5B84C4C-932C-4AF8-B676-94839662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AEB1131-ADAA-44C9-9421-AB112C06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0368B9D-F184-4800-B5FA-BD0FDB68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2941473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03758D-5F15-4265-AC3F-BBD344CF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220E3-EB35-4B08-AD17-F8A838F5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CA2C4E-A554-4004-BA73-BBEF41837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问题定义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FB29CC-02BD-496E-B1E1-AF13A0A22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用过去 household 行为预测未来超市商品。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0A03A0-FF82-42D7-BD61-A048281E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目标是 implicit feedback：如果 household 在目标周期购买某商品，则该商品为正样本。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371AB-6B5C-434A-A712-D3B2C2F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857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y(h,j,t) = 1 if household h buys product j in the target period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45F414-2C06-4808-BD87-923406258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D6206-0698-4B08-886C-3210D80A0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Train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CB5B38-E91E-4897-8B9D-D1C2CD9E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1-40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训练推荐器和历史特征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0E7AB9-5EFF-45D6-A7A1-1B145EE4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EEF4D-423E-4959-AAF3-16A1CD90F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980E6E-8549-4C2A-8F0C-AB3C270B9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41-46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调 ALS/BPR 和重排序权重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8E773-8A58-4DE9-A9E5-2A614800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19500"/>
            <a:ext cx="24765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5791B-CB0F-4BA1-A6B6-0924D8481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81000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2EC22-A7B2-449D-BF81-3173563D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095750"/>
            <a:ext cx="2095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Weeks 47-53</a:t>
            </a:r>
          </a:p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最终 hold-out 汇报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09689E-568A-41A9-93C0-745D483B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1809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939D8-54E7-4609-B6BE-2FAF992E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286375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Why chronological split?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8D847-C6D6-4F07-9A52-4C24C0926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38750"/>
            <a:ext cx="7810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真实推荐系统必须用过去预测未来。随机切分会把未来购物行为泄漏进训练。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AF90B3-287F-4C72-9154-043F70F6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60A135-484C-438E-966D-F98F37F6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42F8A0-3E89-4245-948C-557C31F6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324977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2660055-290E-4FFF-9D6B-0CF56E16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526CAC-3C2C-4428-8042-08A23EA1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8739A3-AD17-4633-9D56-AE741D39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系统架构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555CEE-66C5-45EC-86B2-FB3FA816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PromoMind 是两阶段推荐管线。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59989B-B3F2-4BCA-A157-56F938DA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第一阶段预测可能购买的商品；第二阶段把候选商品转成促销感知的零售决策。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0ECD73-8B2E-480B-AEA4-22F4C35B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269BD-B59B-4395-9918-3C8A854A4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DC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DCD4"/>
                </a:solidFill>
                <a:latin typeface="Aptos"/>
                <a:ea typeface="Aptos"/>
                <a:cs typeface="Aptos"/>
              </a:rPr>
              <a:t>Raw data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6D674-589F-47C3-B8BF-31D5B9093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Transactions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Products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Campaigns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EADAC2-DCA2-4347-B719-BC086F6C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EFC763-6425-4280-817C-B305549E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629DED-D1E2-4243-B0A9-5D2208370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Clean + split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7F77DB-F980-432A-A496-62DE289DE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Time split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Features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Leakage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E81667-E0A1-42C0-91FE-996B51ABE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790B90-AEF3-431A-AFC1-DA59EE41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B0104-EAD4-4758-A259-0DAB1CF9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55C1B0-B675-4A62-A9F3-ED7E3D86C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Popularity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ItemKNN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ALS/BPR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LightGCN bonus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474EFD-33F3-48FF-B19B-BEC1D0955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18982-D467-4A4B-A47D-DDBDA2FA7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79B2D8-1902-4D03-B53D-75B126B2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Reranking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E4B5F-E77C-493F-943F-CE8ECA9E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Promotion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Discount cost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0E156A-0B0B-46D1-B45F-371838D9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36FE93-ED11-460F-95FA-FB3171C7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76500"/>
            <a:ext cx="1619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67C9D4-543B-4D6C-91EB-D33814DFC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098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Evaluation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D9F136-D3AC-4A0D-BA47-DEF12AA8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95600"/>
            <a:ext cx="13144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Recall/NDCG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Coverage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Business Utility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2D41C5B-9157-466E-A766-541CE6B51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23850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726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1937F4-94D4-4D45-9789-403D925A7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476500"/>
            <a:ext cx="13906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67A052-CFAC-46A2-AFF5-C31808DD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60985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D6DCD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6DCD4"/>
                </a:solidFill>
                <a:latin typeface="Aptos"/>
                <a:ea typeface="Aptos"/>
                <a:cs typeface="Aptos"/>
              </a:rPr>
              <a:t>Demo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3A44C0-595A-4BE1-AEA3-ED0ABACB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2895600"/>
            <a:ext cx="10858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Household view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Top-10 products</a:t>
            </a:r>
          </a:p>
          <a:p xmlns:a="http://schemas.openxmlformats.org/drawingml/2006/main">
            <a:pPr algn="l">
              <a:defRPr sz="90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Budget slider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101D05-01CF-4A47-823A-ADE5BFA4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09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8587D8-B0A5-456D-BC42-DBA5D8DF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24450"/>
            <a:ext cx="933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共享输出格式：每个模型都输出 raw household_id、product_id、base_score、model_name、base_rank，保证下游重排序和 demo 稳定。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9983DA-1CA0-4BB1-9DEA-3F8540B0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F7BC0CA-EAB9-469A-88DD-6DFD352B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093A6B-973D-4F58-90F4-4CD5F787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266213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4A94C8A-92AA-4B8D-B511-BA8D8EB0C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5AAD9B-3EA5-4760-A863-D2F097C4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D9A679-B170-498B-AE3C-9139133CF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计划实现的算法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BDEFA7-3692-42D5-9E82-222689848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比较 grocery baselines 与 implicit-feedback 推荐器。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642609-4E64-40A3-939C-F4091458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即使 bonus deep model 花更多时间，模型阶梯也能保证项目主线完整。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9D3FA-F695-4885-855D-7A9DE13C3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26670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B02B9-6B54-4B9E-8F79-8897AC063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ED102C-A47C-47BF-B01F-A0859123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1DD84B-3BE9-40C1-B8E7-F71C92BF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EC8AB8-2E2A-4F07-9FD6-124FF7BCB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4325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B5EC1E-B976-486D-931F-48103DF33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2B8E0-F177-41E5-9B09-03DA0E5C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42900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 Popularity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FBDB07-CD81-45C5-862E-BC27975D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087099-0E8D-4682-8545-53571D3F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14750"/>
            <a:ext cx="19240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587CDD-FDD5-4034-991F-63EF02E3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765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10F668-E05F-4F6B-A1B1-BF8D7021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4F04CE-7583-4600-A4F7-C99F8A77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Standard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D57E82-0287-4FC4-9E56-967F4415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BC2C3E-1D1C-49C2-B7EA-C798A653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432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9B6BB2-B3A0-4731-8683-76343636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D61646-B62F-4D0E-91FF-946FE0E6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42900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BPR matrix factorization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41005-48A9-46BD-9552-F45886FF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FC92DE-EF74-4086-99BD-85D265D0F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147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ALS tuning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328591-10B5-4902-961E-B2450F17D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76500"/>
            <a:ext cx="2857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DA6FF3-1028-4FB0-AD34-C10F476B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667000"/>
            <a:ext cx="1047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CD3B0F-C36D-41AA-8875-1769157E4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733675"/>
            <a:ext cx="819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Bonus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54CF17-9FA1-44C5-86D0-6FC1C0D7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19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463A76-A585-4988-9C10-F8F9139E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LightGCN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55B407-8618-4C09-B446-17F58909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5052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DE6C8D-D774-4939-8B9E-12278052A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42900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Graph-based candidates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85B576-3A4A-4AE5-9D2F-633D6C89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909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FE17D3-2932-4418-8EEE-707C17F8A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211455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Sensitivity curves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55DECF-C2FA-4F7F-9CDA-092A0AC2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57750"/>
            <a:ext cx="990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141A68B-15FF-42F7-A516-8A094F9A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24450"/>
            <a:ext cx="2000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Library acknowledgements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5BBB6A-C496-42CE-82D4-BDF3CFE7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863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053653-E5BC-4487-8D33-DDF51006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01015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implicit for implicit-feedback ALS/BPR-style models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9EA6B7-FBEA-49F5-98BA-7856C5D5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40566E-4D46-4BD8-9A49-18C04169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8160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if LightGCN is attempted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84DA72-BF47-43ED-B3A0-33B1E853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4292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79BB54-DE90-4267-A248-EAF26A2A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353050"/>
            <a:ext cx="6305550" cy="161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Cornac as optional course-aligned experiment framework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67F9B62-432F-452F-AC02-1D7AB239B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FD79BB4-B916-4426-B062-5C158108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B54A548-3122-47C3-A1D3-B8AD59FD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9107315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7ED79EF-8E77-42C0-9746-BCD12A024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383FE5-A037-46FE-A48D-85FDA3D9C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692DF-24EE-4356-8862-4DCB504B2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X-FACTOR: 促销感知重排序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4A1343-5B9F-4AB2-962B-642DB1B3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第二阶段决定哪些推荐值得推送。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0155D-833A-49DA-A605-567876F8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基础相关性仍然重要，但营销信号和估计折扣成本会影响最终排序。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CA32A2-C084-46A0-9962-11C77D42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89F8FD-9200-4F81-842D-D1E37213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final_score = alpha * base + beta * promotion + gamma * coupon - lambda * discount_cost + rho * diversity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295E96-F615-493E-B40D-519CB8629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44132-EFE3-4156-8918-9959EC53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Base score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3DB280-8319-45DB-BC83-672FEB072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ALS/BPR/其他模型给出的候选相关性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4CE479-4592-4162-84D5-B0F9B471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50953-161E-4BD6-AD1C-29ED87B0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Promotion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6AC06-2452-4C29-A448-09E3D67AC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目标周期商品促销曝光信号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E2C336-DCD8-4AB0-80E2-CC2F131C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BC6F7-B91D-409A-B00D-A23D4AE8F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Coupon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432C55-3DB8-40CE-817D-B273D660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家庭/商品/活动优惠券匹配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1AA63F-7847-4FC4-B878-4150B7AB6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76625"/>
            <a:ext cx="195262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920A92-71A3-4027-BD4B-E84DB7AC6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Discount cost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35C500-662A-440F-83F3-49FC9480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62400"/>
            <a:ext cx="16478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由 retail 和 coupon 折扣估计成本代理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D0712-3BF4-4408-BA50-B7091126D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476625"/>
            <a:ext cx="18097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9FD72E-F973-4C95-B9F0-878BD5473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6766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Diversity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F64C3B-1818-465E-9B02-C9C89ACF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96240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避免 Top-K 全部集中在同一类别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4D4513-D1E8-4369-9454-59117D4C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43500"/>
            <a:ext cx="1524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BA2D8F-58A7-494C-84F0-89096CE4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210175"/>
            <a:ext cx="1295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Important wording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BDAFC0-8339-458A-8A77-EBAD2BA1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143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这是观察性决策代理，不是 causal coupon uplift，也不是真实 profit，因为缺少 margin 和随机 treatment 标签。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F810B2-2B99-4E0A-A3A6-5EFF067CE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58CFE2-EE32-4D4D-8534-573BBCF0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52D31-588A-4A0E-82B8-BB4BFFC97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9634020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75E25C1-BE20-4402-803B-82F9A3A72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9A2B4-75F3-43D0-A5B9-FE80EB4D8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0D623F-9B64-4D9B-9838-F14D6F717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9C3B38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9C3B38"/>
                </a:solidFill>
                <a:latin typeface="Aptos"/>
                <a:ea typeface="Aptos"/>
                <a:cs typeface="Aptos"/>
              </a:rPr>
              <a:t>研究问题与实验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85459B-AB76-4C17-8421-2E2463A5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把 PromoMind 作为 recommender systems study 来评估。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123CA-2549-4AA8-AA5C-3B262B5B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96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Demo 是展示形态；研究价值来自可控模型比较和重排序消融。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CA56A-31A4-422A-82AF-EC379904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2620D-2549-41EF-9BE5-B7036461A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81300"/>
            <a:ext cx="1571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066D23-B70C-4D90-9EA4-232F66DE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847975"/>
            <a:ext cx="1343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Research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9A747-A921-4C14-9B5C-9125B9656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623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46DE64-00BC-41C8-8CBD-3F49F2799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RQ1: 最好的候选模型？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927C5-A3F9-4ACA-A7D6-A3799392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A12E0-D517-4AEF-8B61-2F7582906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5528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RQ2: 促销/优惠券信号价值？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66BBFD-4364-4D93-A895-D16A2880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95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F5898E-3525-49D8-8CD9-34D914185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8195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RQ3: 折扣成本 trade-off？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AE3B31-9FBE-491E-8CD5-0AE70AEAF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62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AB2F19-1A01-478F-9671-FBA2C1D6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86225"/>
            <a:ext cx="21145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RQ4: 多样性 vs 准确率？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AD6398-A3ED-4A8E-BB01-D4C711B91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758362-DC73-4CBB-BF86-849E4DBD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DA88E2-D0AF-4F64-B02F-0D36ECA6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479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Metrics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8816EE-D538-4507-BF56-D6D2397C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623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FA9E1C-36B7-460D-86AC-B6FD4387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861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Recall@10 / Recall@20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AB55962-5433-4742-A7C3-E50D752F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290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1FBF24-0BC5-422C-9E7A-6870FEE0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5528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NDCG@10 / NDCG@20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E8221B-776F-416C-9726-73A493C31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8957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D2B67A-1321-476F-8D51-06A3DE1B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8195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Coverage, diversity, novelty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BFF62E-FD10-46FB-968C-CBF28F0F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62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C0C59A-CA77-4E4F-85BE-E487B46D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86225"/>
            <a:ext cx="2209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 proxy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9E9196-2373-406D-85FC-BB38004A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71750"/>
            <a:ext cx="28575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5E982A-2E8C-4ACA-9014-EC5993F40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813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6E1ED9C-49F8-4669-A7BF-22A46A98C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479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Ablations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255B3A-6F4F-4A5C-A01E-EE73C4FC1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3147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8470B88-B3C0-42DB-99F0-346C1C858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Base only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01B3EE-B71E-4C09-A207-3D06953D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623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8AE7C9-6DD3-47AE-976B-3AC5B36AB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Promotion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7393E3-BB71-4BA9-AD5A-C263320F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8100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358F83C-A49A-42F2-B0FA-806C1BEA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Coupon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BA61D4-0458-4473-96A8-135C095E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0576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ACF3963-FE10-48CF-9184-4CF31FB8A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98145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Discount cost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49FAE9-ECFE-4A43-BDBA-FC01D2B4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0530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35DC26-CA7A-4D83-824B-BAC13BDA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29100"/>
            <a:ext cx="22098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+ Diversity full rerank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2C2D60-8DB2-4E6E-B116-B484389FD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0"/>
            <a:ext cx="10096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DDDB"/>
          </a:solidFill>
          <a:ln xmlns:a="http://schemas.openxmlformats.org/drawingml/2006/main" w="9525">
            <a:solidFill>
              <a:srgbClr val="9C3B3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92C1025-6722-4AFF-860B-ADC50A5A9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305425"/>
            <a:ext cx="952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Guardrail: 用 validation 选择重排序权重；提升 Business Utility@K 的同时必须展示 Recall/NDCG 损失。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FF7539-EC3A-4FAF-AA55-37084080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D4849B4-5D35-4BB1-939F-CC4F5D11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26A633-17CD-4A68-95F0-B43945A0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71506241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5AD7F5C-FE07-4935-9FB9-EB90B1946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BA676-8BB1-4C2C-8040-D3447E9F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DE3C4C-365F-4F3C-9CE5-1C458FFC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研究贡献与 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1B7EA3-4E88-4841-8ED8-9CF9DE8B3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Demo 用来可视化推荐权衡。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17A3D8-FD67-41C0-BE98-6BA2E58D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144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Streamlit 会展示家庭上下文、排序商品、coupon 标记、解释和预算变化；证据仍来自离线评估。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13CBA-87F2-4AE7-BDD5-42EAEE059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619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1118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DE2DB-BF3C-4E5D-BED0-E0C504939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24150"/>
            <a:ext cx="190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Controls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C40173-9D97-4544-A088-B2384232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90875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E84ECD-A526-4C0F-B797-34CD34BB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1470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Household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D0C8C1-F60F-4AA2-BBBA-455D918C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54330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选择 household_id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F321F7-315A-4A37-84C0-C01C8E55F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00500"/>
            <a:ext cx="2000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EB9B42-A8C1-422D-8EF9-ABC03A3A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24325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0B7AE5-F869-4D68-8404-4035B3A2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352925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ALS vs reranked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00D25-2E38-4B0C-8A94-90B9A806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10125"/>
            <a:ext cx="200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EA2AC8-59B8-4883-8256-5DF6547AE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933950"/>
            <a:ext cx="1619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Budget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D1D32-7D82-4831-BFAB-F850E35D4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62550"/>
            <a:ext cx="1695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优惠券数量或折扣成本上限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5ED50F-87F4-419D-9E9D-30AE2CC0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476500"/>
            <a:ext cx="704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185A89-29D1-4C37-9994-F9C6BDB5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7432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3AA918-941D-45CE-A93F-17D0E9B3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809875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Top-10 recommendation table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9E8903-E150-4EDF-B801-25AB87FB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666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Rank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817C0E-E5E8-42DE-83E7-C6C4453C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238500"/>
            <a:ext cx="1619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456D1D-85EE-4552-A884-CC90CCB8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2385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Category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621911-D388-4235-B837-5E9BD1C1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135C78-98A0-4612-A237-07C6B991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238500"/>
            <a:ext cx="1238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A0498-ACF3-4037-9B3A-DD2B952D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6004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8BC4CA-F899-44B4-8D78-B56F55EF8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6004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Candidate product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74344B-35A9-435E-9329-A1EF5687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6004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FC427D-47E1-4106-B594-36D30DF1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004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8AA813-6A20-45D8-A3C6-C35D06D3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004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Coupon eligible; high score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CCE92B-0EAA-410A-A7AD-FED896E1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0005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23BBC0-085E-4EEF-890B-D7A5AF893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0005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94C78D-92B9-4928-8AF1-8C54CE94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0005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Household category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C06FCAF-BAA4-42AB-8B5C-B631CF1B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005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Yes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2005B60-038A-4FE7-B7C0-9CF6D2AA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0005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8F1813-4D98-4135-8202-93685C079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0055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D2D1C9-7E39-4813-8E35-69E2FD5DE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40055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A073C35-6170-4769-A70B-6DA08677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40055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D87CFF9-5007-4627-BF2B-56192F846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0055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2EC493-A2D0-461A-8146-50C53ADB3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0055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A47F20-D09B-4A5D-8CF6-39748C85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00600"/>
            <a:ext cx="476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2CE8C4-8405-43FF-B71B-3204573F8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00600"/>
            <a:ext cx="152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Product option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8A5F08-EBEC-49EF-866B-74683E89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800600"/>
            <a:ext cx="13811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高频类别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9ED4CD5-B107-45F0-9DA4-6140390A5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006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Budget limited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345C83F-C122-4AC8-BF30-C1B546C5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8006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Matches prior basket pattern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CA801B-5919-454A-BBA2-F4637202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91125"/>
            <a:ext cx="6191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预算滑杆改变 coupon 分配，而不是改变底层 Top-K relevance list，除非明确标注。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187AA5-B18D-4233-919C-5E44709F2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D6A678-AA91-442F-885E-DEA213F25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6508A22-7AC3-45C0-BD4D-B6CCFD46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4681865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84C28D2-118D-4AD0-B3B9-9286788F5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8F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512F64-0D1A-4E7A-824E-0F03349D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17710B-33D7-4BFD-BB92-D1D11B25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096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1181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11815"/>
                </a:solidFill>
                <a:latin typeface="Aptos"/>
                <a:ea typeface="Aptos"/>
                <a:cs typeface="Aptos"/>
              </a:rPr>
              <a:t>可行性与风险控制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11844-CFAD-49A8-850F-8F09E1F26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8201B"/>
                </a:solidFill>
                <a:latin typeface="Aptos Display"/>
                <a:ea typeface="Aptos Display"/>
                <a:cs typeface="Aptos Display"/>
              </a:rPr>
              <a:t>项目有稳定主线，也有清晰扩展方向。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9535C0-EED3-4D9A-931D-8419E686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334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最终汇报会展示确定数据集、模型比较、重排序消融、可运行 demo、限制讨论和未来工作。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12BD1E-B4E9-4863-AC75-110ECD12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EE5"/>
          </a:solidFill>
          <a:ln xmlns:a="http://schemas.openxmlformats.org/drawingml/2006/main" w="9525">
            <a:solidFill>
              <a:srgbClr val="146B4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64293D-F866-443D-9D8D-5359FD93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46B4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6B4D"/>
                </a:solidFill>
                <a:latin typeface="Aptos"/>
                <a:ea typeface="Aptos"/>
                <a:cs typeface="Aptos"/>
              </a:rPr>
              <a:t>最低完整主线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5C9FC-D9C0-448F-9FA1-9C201ACD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AE0711-E509-4331-9A62-DFBE5DCE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Chronological split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0C97B2-B725-4F2E-B34A-B0633A5F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9E3805-01DA-4570-9585-ABD012D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Popularity + 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419401-25E2-4F99-A842-105ECC92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0ABE6-2619-41A3-8965-7BA06521C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Promotion-aware reranking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B0CBAC-F32F-44E8-A698-6EC01B8B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AF3606-4E87-4A9C-8834-14FB9D0A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Business Utility@K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73E02-F3D5-4A61-9407-0E873933C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147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EE624F-97EF-459A-89DB-71466657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385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Streamlit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FB2E32-D886-4D30-A605-0592BA0B7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ECF8"/>
          </a:solidFill>
          <a:ln xmlns:a="http://schemas.openxmlformats.org/drawingml/2006/main" w="9525">
            <a:solidFill>
              <a:srgbClr val="2B5C9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2F706F-EFBC-4EF8-8D63-D42C2D5E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5C9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5C9E"/>
                </a:solidFill>
                <a:latin typeface="Aptos"/>
                <a:ea typeface="Aptos"/>
                <a:cs typeface="Aptos"/>
              </a:rPr>
              <a:t>实验包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237514-DB65-43EF-888C-50E20F0F6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EF6EA4-B846-4FB9-A755-E54B31A6D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Recall/NDCG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A458F5-6008-49C8-8A9C-65FFBA45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BF3FA0-8791-49F7-B8E8-6D41DE8C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Coverage/diversity/novelty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78703-AC93-493C-A21C-A0B325A0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08C9B4-4CF2-42CD-A2E3-2BF72D528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Reranking ablations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BE52C2-B2E5-4A50-B161-2890E799C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5C9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667827-51A3-4EB3-AD4B-046E07EFA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Budget sensitivity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40F537-A6DF-4C8C-8230-0AD12162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33625"/>
            <a:ext cx="3238500" cy="1905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E7D2"/>
          </a:solidFill>
          <a:ln xmlns:a="http://schemas.openxmlformats.org/drawingml/2006/main" w="9525">
            <a:solidFill>
              <a:srgbClr val="B96F1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635123-467B-4808-BE37-DCA89FF41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56222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6F13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6F13"/>
                </a:solidFill>
                <a:latin typeface="Aptos"/>
                <a:ea typeface="Aptos"/>
                <a:cs typeface="Aptos"/>
              </a:rPr>
              <a:t>扩展方向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886D62-F0B0-49A8-B01C-9D8F28428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76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3B1D97-9923-4737-87B5-8C1F766B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0003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ItemKNN + BPR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68993B-7FDD-4283-8579-936E22A4E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286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FCB5D8-8F20-4974-9E2D-DE83D069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RecBole LightGCN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95E5CB5-B223-45D5-87EA-FBB568B14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95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E1794D5-E20C-4180-8A02-EE5A8960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1947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 subgroup view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39AD65-BBF1-43F3-8ADF-40728F15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6F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35BCF2-25C7-4E81-89DC-A29EBB46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29025"/>
            <a:ext cx="2638425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Future causal uplift framing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CB08E76-DDAF-40D7-8915-F101DA00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90057A-540B-420F-86E1-CCE2BE0F8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8E80A56-73F8-4F32-AEBE-2EE5C7C3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624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风险控制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BB6EBC-6ADD-4D2F-914D-FB83E000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1824D4-AED5-4FED-B887-976FF60EC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coupon redemption 稀疏：只作辅助信号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CB109D-B2F1-4435-843F-D1164F89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1CAD40-C2C5-49DF-87CE-96976EF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demographics 部分覆盖：可选分析/demo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0E2550-3F4D-4ABB-B76D-EC1A469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3B3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9664D34-DA2D-4C20-868C-66E0B13BC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没有 margin data：用 proxy，不说 profit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ED0508-F42E-4AC1-A19F-47655F8C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86250"/>
            <a:ext cx="51435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CD4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057B3D3-D035-4DDA-BC83-4EBC71C6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495800"/>
            <a:ext cx="1143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15"/>
          </a:solidFill>
          <a:ln xmlns:a="http://schemas.openxmlformats.org/drawingml/2006/main" w="9525">
            <a:solidFill>
              <a:srgbClr val="DCEEE5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01BED2-1ACC-46AE-85CD-B54AEC01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62475"/>
            <a:ext cx="914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最终证据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85CDE7-20EC-4B79-A7CD-CD3B56B0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815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BBF616-C267-447C-B7AE-0593263D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9053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基于时间切分的离线评估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965403-85CB-4244-A9A6-236ADFCB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81AB3DC-482D-4D95-B863-A83F873F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1492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准确率 + list-health 指标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1A309BA-3F5C-4B3B-AFF7-FE51C627D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006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B4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0BA7931-A28D-4598-959A-FFF139A9C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324475"/>
            <a:ext cx="430530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01B"/>
                </a:solidFill>
                <a:latin typeface="Aptos"/>
                <a:ea typeface="Aptos"/>
                <a:cs typeface="Aptos"/>
              </a:rPr>
              <a:t>Demo 解释权衡；指标提供证据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F902D7-3BA0-4992-8A9E-59A8A7B7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4360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8201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8201B"/>
                </a:solidFill>
                <a:latin typeface="Aptos"/>
                <a:ea typeface="Aptos"/>
                <a:cs typeface="Aptos"/>
              </a:rPr>
              <a:t>核心主张：PromoMind 把超市推荐作为零售决策问题研究，而不只是购买预测。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54254F2-E402-44D5-8EC5-825EBE54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363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C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41E15E3-5FAF-48F5-802D-CAE021448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342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PromoMind Project 2 Proposal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6E3BC06-CE66-4D8B-802C-6EF2A08AB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438900"/>
            <a:ext cx="76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6726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67267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003256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2026-06-02T09:21:10.1180000Z</dcterms:created>
  <dcterms:modified xsi:type="dcterms:W3CDTF">2026-06-02T09:21:10.1180000Z</dcterms:modified>
</coreProperties>
</file>