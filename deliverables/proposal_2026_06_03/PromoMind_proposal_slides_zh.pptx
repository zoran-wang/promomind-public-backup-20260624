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ac6f9e86e884dcf" /><Relationship Type="http://schemas.openxmlformats.org/officeDocument/2006/relationships/extended-properties" Target="/docProps/app.xml" Id="R6995924b47bd4a27" /><Relationship Type="http://schemas.openxmlformats.org/officeDocument/2006/relationships/officeDocument" Target="/ppt/presentation.xml" Id="R5721943dd09d40b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2f4ba2dae04de8"/>
  </p:sldMasterIdLst>
  <p:notesMasterIdLst>
    <p:notesMasterId xmlns:r="http://schemas.openxmlformats.org/officeDocument/2006/relationships" r:id="R5aef7142023f42a0"/>
  </p:notesMasterIdLst>
  <p:sldIdLst>
    <p:sldId xmlns:r="http://schemas.openxmlformats.org/officeDocument/2006/relationships" id="256" r:id="Rbeefd6259e5d46ae"/>
    <p:sldId xmlns:r="http://schemas.openxmlformats.org/officeDocument/2006/relationships" id="257" r:id="R194acf2e8e2547b9"/>
    <p:sldId xmlns:r="http://schemas.openxmlformats.org/officeDocument/2006/relationships" id="258" r:id="Ra33c7bc6571f4950"/>
    <p:sldId xmlns:r="http://schemas.openxmlformats.org/officeDocument/2006/relationships" id="259" r:id="R07fcfc509d304ecd"/>
    <p:sldId xmlns:r="http://schemas.openxmlformats.org/officeDocument/2006/relationships" id="260" r:id="R6354014e171f47ed"/>
    <p:sldId xmlns:r="http://schemas.openxmlformats.org/officeDocument/2006/relationships" id="261" r:id="R9a21de4c6f864419"/>
    <p:sldId xmlns:r="http://schemas.openxmlformats.org/officeDocument/2006/relationships" id="262" r:id="R7134f1f3f5364b36"/>
    <p:sldId xmlns:r="http://schemas.openxmlformats.org/officeDocument/2006/relationships" id="263" r:id="Rde68cec871f248df"/>
    <p:sldId xmlns:r="http://schemas.openxmlformats.org/officeDocument/2006/relationships" id="264" r:id="Rc7b255b2dc8a4fc4"/>
    <p:sldId xmlns:r="http://schemas.openxmlformats.org/officeDocument/2006/relationships" id="265" r:id="R4ba50749daaf471f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f0559d1a774a74" /><Relationship Type="http://schemas.openxmlformats.org/officeDocument/2006/relationships/slideMaster" Target="/ppt/slideMasters/slideMaster1.xml" Id="R3a2f4ba2dae04de8" /><Relationship Type="http://schemas.openxmlformats.org/officeDocument/2006/relationships/notesMaster" Target="/ppt/notesMasters/notesMaster1.xml" Id="R5aef7142023f42a0" /><Relationship Type="http://schemas.openxmlformats.org/officeDocument/2006/relationships/presProps" Target="/ppt/presProps.xml" Id="Rbd384cdf2e1b4f07" /><Relationship Type="http://schemas.openxmlformats.org/officeDocument/2006/relationships/viewProps" Target="/ppt/viewProps.xml" Id="Rb8d9c4500755433f" /><Relationship Type="http://schemas.openxmlformats.org/officeDocument/2006/relationships/tableStyles" Target="/ppt/tableStyles.xml" Id="Rd255c2ad2def4f5d" /><Relationship Type="http://schemas.openxmlformats.org/officeDocument/2006/relationships/slide" Target="/ppt/slides/slide1.xml" Id="Rbeefd6259e5d46ae" /><Relationship Type="http://schemas.openxmlformats.org/officeDocument/2006/relationships/slide" Target="/ppt/slides/slide2.xml" Id="R194acf2e8e2547b9" /><Relationship Type="http://schemas.openxmlformats.org/officeDocument/2006/relationships/slide" Target="/ppt/slides/slide3.xml" Id="Ra33c7bc6571f4950" /><Relationship Type="http://schemas.openxmlformats.org/officeDocument/2006/relationships/slide" Target="/ppt/slides/slide4.xml" Id="R07fcfc509d304ecd" /><Relationship Type="http://schemas.openxmlformats.org/officeDocument/2006/relationships/slide" Target="/ppt/slides/slide5.xml" Id="R6354014e171f47ed" /><Relationship Type="http://schemas.openxmlformats.org/officeDocument/2006/relationships/slide" Target="/ppt/slides/slide6.xml" Id="R9a21de4c6f864419" /><Relationship Type="http://schemas.openxmlformats.org/officeDocument/2006/relationships/slide" Target="/ppt/slides/slide7.xml" Id="R7134f1f3f5364b36" /><Relationship Type="http://schemas.openxmlformats.org/officeDocument/2006/relationships/slide" Target="/ppt/slides/slide8.xml" Id="Rde68cec871f248df" /><Relationship Type="http://schemas.openxmlformats.org/officeDocument/2006/relationships/slide" Target="/ppt/slides/slide9.xml" Id="Rc7b255b2dc8a4fc4" /><Relationship Type="http://schemas.openxmlformats.org/officeDocument/2006/relationships/slide" Target="/ppt/slides/slide10.xml" Id="R4ba50749daaf471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a0f256c1721449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0ba5ed137b3749ec" /><Relationship Type="http://schemas.openxmlformats.org/officeDocument/2006/relationships/notesMaster" Target="/ppt/notesMasters/notesMaster1.xml" Id="Ra247091aad324b0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dd17c5d89c94a0e" /><Relationship Type="http://schemas.openxmlformats.org/officeDocument/2006/relationships/notesMaster" Target="/ppt/notesMasters/notesMaster1.xml" Id="R1e37ed72a6204cf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357a7310a834f7c" /><Relationship Type="http://schemas.openxmlformats.org/officeDocument/2006/relationships/notesMaster" Target="/ppt/notesMasters/notesMaster1.xml" Id="R1d8e2307dd8644b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4e1d23fae74c41" /><Relationship Type="http://schemas.openxmlformats.org/officeDocument/2006/relationships/notesMaster" Target="/ppt/notesMasters/notesMaster1.xml" Id="R69d1bef155764ff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be98b195be6f4fc8" /><Relationship Type="http://schemas.openxmlformats.org/officeDocument/2006/relationships/notesMaster" Target="/ppt/notesMasters/notesMaster1.xml" Id="Rcdb0e8df26e9433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949b9f61e57f4b08" /><Relationship Type="http://schemas.openxmlformats.org/officeDocument/2006/relationships/notesMaster" Target="/ppt/notesMasters/notesMaster1.xml" Id="R73553e257d2f45d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e0ebda544c64b0a" /><Relationship Type="http://schemas.openxmlformats.org/officeDocument/2006/relationships/notesMaster" Target="/ppt/notesMasters/notesMaster1.xml" Id="R41565ff623d3426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8cd1a3975824694" /><Relationship Type="http://schemas.openxmlformats.org/officeDocument/2006/relationships/notesMaster" Target="/ppt/notesMasters/notesMaster1.xml" Id="Re8c7324a31204cc3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9c5a6362391453a" /><Relationship Type="http://schemas.openxmlformats.org/officeDocument/2006/relationships/notesMaster" Target="/ppt/notesMasters/notesMaster1.xml" Id="R0d6c2e45bea6451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6e9d1dcedb84db1" /><Relationship Type="http://schemas.openxmlformats.org/officeDocument/2006/relationships/notesMaster" Target="/ppt/notesMasters/notesMaster1.xml" Id="R37a28cbe614540d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17e530b6ac438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87eab33e454580" /><Relationship Type="http://schemas.openxmlformats.org/officeDocument/2006/relationships/slideLayout" Target="/ppt/slideLayouts/slideLayout1.xml" Id="Rfd98c456c7ce485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d98c456c7ce485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46cda24b034aec" /><Relationship Type="http://schemas.openxmlformats.org/officeDocument/2006/relationships/notesSlide" Target="/ppt/notesSlides/notesSlide1.xml" Id="R2f27d003a11545e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54b048d0348d9" /><Relationship Type="http://schemas.openxmlformats.org/officeDocument/2006/relationships/notesSlide" Target="/ppt/notesSlides/notesSlide2.xml" Id="Rcfbe317bb9a44b8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87ee30fdd94645" /><Relationship Type="http://schemas.openxmlformats.org/officeDocument/2006/relationships/notesSlide" Target="/ppt/notesSlides/notesSlide3.xml" Id="R0bb5a9ad69bb448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d917b0613047f6" /><Relationship Type="http://schemas.openxmlformats.org/officeDocument/2006/relationships/notesSlide" Target="/ppt/notesSlides/notesSlide4.xml" Id="Rdf7dada0b963421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bce2931cb4865" /><Relationship Type="http://schemas.openxmlformats.org/officeDocument/2006/relationships/notesSlide" Target="/ppt/notesSlides/notesSlide5.xml" Id="R04463f197a884f2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173743d6024d2c" /><Relationship Type="http://schemas.openxmlformats.org/officeDocument/2006/relationships/notesSlide" Target="/ppt/notesSlides/notesSlide6.xml" Id="R84f61f5a57f345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bf8466d5cd64a1b" /><Relationship Type="http://schemas.openxmlformats.org/officeDocument/2006/relationships/notesSlide" Target="/ppt/notesSlides/notesSlide7.xml" Id="R73e70bd5a929409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af07e21f1e4b6f" /><Relationship Type="http://schemas.openxmlformats.org/officeDocument/2006/relationships/notesSlide" Target="/ppt/notesSlides/notesSlide8.xml" Id="R3cbb0d1ac51d450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1b22f7a3fe74a50" /><Relationship Type="http://schemas.openxmlformats.org/officeDocument/2006/relationships/notesSlide" Target="/ppt/notesSlides/notesSlide9.xml" Id="R072424523396424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0a8c86063404578" /><Relationship Type="http://schemas.openxmlformats.org/officeDocument/2006/relationships/notesSlide" Target="/ppt/notesSlides/notesSlide10.xml" Id="Re1f0a97be6f04cc6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BF940B6-0EC7-483C-B5E2-EA1D9716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5869D-4B1A-480C-B0E2-4AA9DA704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BE76DF-698F-4E1D-92E6-0A66B723F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3143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B0D998F-E6D8-4C44-9F9D-DCFA2CD7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"/>
            <a:ext cx="29146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CS608 Project 2 Proposal | 2026-06-03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493D2F4-8280-4F4A-8914-0F2F169D6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43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43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PromoMind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ECB3C1-5BF7-42F8-9DB7-9FFF811B0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7239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8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促销感知型超市购物篮与优惠券推荐系统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990293-CEDC-4104-B2DD-527934AE7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24125"/>
            <a:ext cx="7239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8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先预测家庭下次可能购买的商品，再判断哪些推荐值得配合促销或优惠券支持。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988B4E-36E9-43C8-9E1A-22C6747A5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2A32A71-BB0B-4EC0-98E0-FFFE55570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rPr>
              <a:t>2,469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627CD0-54C2-4B22-BE0F-EEB9FAF8E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7FE9E33-1221-4B5A-A598-29411F5FB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家庭级购物记录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9CEEE63-F404-4388-925A-8C9B0C277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5D1EC5-57FF-4541-BB54-A5B33D879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rPr>
              <a:t>1.47M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A2E6534-0D59-4EAD-926C-097990C13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9914B-F62B-49B5-BA94-A65122D8E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basket-product 明细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BDE59C-A1F5-4943-AC89-31AE7AEF2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AFD2905-4556-42E3-B9A3-BAA48969C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rPr>
              <a:t>92K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DA2B9D7-38A1-497A-9033-7105779DD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76E3DB-309E-4B5F-8BD0-1EA0A587E3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大规模超市商品目录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617D2F0-1003-4341-8F0D-1EB561F30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6200" y="4000500"/>
            <a:ext cx="2095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7E99670-8FE7-49BC-9DD0-469BEE775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133850"/>
            <a:ext cx="1752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rPr>
              <a:t>重排序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0576CF5-42C3-443E-A0C9-0E753C5A0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476750"/>
            <a:ext cx="1752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X-factor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D999CEB-7364-4094-AA85-0AD67885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4648200"/>
            <a:ext cx="1752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促销 + 优惠券 + 成本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EB48BA-38D5-41EA-AC2D-276BF3663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0"/>
            <a:ext cx="9334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数据集：The Complete Journey | 任务：下一阶段 Top-K 超市商品推荐 | 亮点：商业感知重排序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217D266-93E6-4AF9-8FE3-1CAD364A6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75749F6-EFB1-4F24-8DE6-56F3CDC33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9A02756-05AB-46F1-A5A9-DB82F2E2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27713035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FED6FD5-3A72-4968-8542-88FFD7318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A5D0C3-44D6-4A62-98BB-6533CEB1C3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44D5B1C-D74E-4D05-B00B-560BD55A6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研究问题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80DD91-192B-4E9E-9A70-D4C4C68E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促销上下文能否改善超市推荐的权衡？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DB1D62-18BD-437C-A14A-A096649F75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我们研究促销和优惠券信号是否能在稀疏、观察性零售数据中改变相关性、效用代理指标和多样性。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BEFD2D-4EC7-4999-9E03-E8666E3F1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955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6DEF87-9895-41A1-A4E6-D05F188B7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24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零售痛点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3DEE179-4A5B-4C6D-99F5-AEC62F25D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051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优惠券经常粗放投放，折扣可能给到本来就会购买的家庭。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09D0EF-3AD2-4A33-BA5C-DF985C995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24955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DFB6C9-6D57-41B8-AF4C-109B49850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2724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推荐任务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F4CF27-BB2B-4519-9EFC-1E7F061A7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7650" y="31051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预测每个家庭在未来目标周期最可能购买的 Top-K 商品。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433CF62-13DB-432B-AEA4-78AD23085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495550"/>
            <a:ext cx="2714625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205F80C-4835-4132-8265-BDC5A9C4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2724150"/>
            <a:ext cx="228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商业决策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72845B-D556-4ABC-BF02-A4B2FEBF6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00900" y="3105150"/>
            <a:ext cx="22479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在促销曝光、优惠券资格、折扣成本和多样性之间做排序权衡。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CDD3BE-5B7C-41C9-B8F4-F03E13E7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66725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0AE0F2B-40B7-4CAD-BA67-ED083F6E9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3392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Research thesis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9D1A6F-8F74-41FE-B283-C71DDB2E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686300"/>
            <a:ext cx="80010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我们会测试 promotion-aware second stage 是否能在不造成不可接受排序损失的情况下提升 business-oriented utility。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25FE070-66FC-4B89-8190-0C47325FC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AD7B5B-ECBC-42BF-9980-F8A9503C8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6D5927E-F427-4F2F-BAE1-0EC7967F9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972987498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7C3C00B-14AB-4E7F-B22C-9DDBD73846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D29721-84CA-43B3-9973-586CFF674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D6DFC5-E5F7-404F-BC61-42ECDB6B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数据集与采集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56AE3B-5DCE-498B-BB33-4B4F655ED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The Complete Journey 同时提供购买记录和营销上下文。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5B2C4AC-151E-4184-8CB9-CEB1C7F91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572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我们使用仓库中的公开 completejourney RDS/RDA 原始文件；R 脚本记录可复现导出流程。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155A34-0B4C-4E8E-8E37-BA58CEEC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85796B-97F4-4848-B15C-A3EC5E869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146B4D"/>
                </a:solidFill>
                <a:latin typeface="Aptos Display"/>
                <a:ea typeface="Aptos Display"/>
                <a:cs typeface="Aptos Display"/>
              </a:rPr>
              <a:t>2,469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2BEB32-2D2B-4D21-A9DB-39D66740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D43E8EA-D90A-408A-A9A8-FD8DD189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跟踪一年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D2A851-48C1-4BE3-8B8F-C0B336871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E00BDE-4C3B-4094-82E4-F153F9402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2B5C9E"/>
                </a:solidFill>
                <a:latin typeface="Aptos Display"/>
                <a:ea typeface="Aptos Display"/>
                <a:cs typeface="Aptos Display"/>
              </a:rPr>
              <a:t>1.47M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69F09-49FC-4526-81B5-F49C9721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A44EFBA-636C-471F-8994-84F6F8DAE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商品级交易行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1401DC1-5114-43F0-BEEB-F6AED9279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090C8F7-43F4-469C-9BC9-0599895FE2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B96F13"/>
                </a:solidFill>
                <a:latin typeface="Aptos Display"/>
                <a:ea typeface="Aptos Display"/>
                <a:cs typeface="Aptos Display"/>
              </a:rPr>
              <a:t>92,331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0FBA8E-272E-4B32-8877-8B30C0E59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1D334B6-8AA3-46C6-AE1F-9A1B451098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超市商品目录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4EDBDD-1862-424B-A50F-B399C54EC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742DE9-1660-4B57-A5EA-AF993AB2F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9C3B38"/>
                </a:solidFill>
                <a:latin typeface="Aptos Display"/>
                <a:ea typeface="Aptos Display"/>
                <a:cs typeface="Aptos Display"/>
              </a:rPr>
              <a:t>2,102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8F505F2-D6BC-4848-97B9-B125F9E9A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redemptions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CEB924-8B07-4150-B0AF-A7273DBF9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稀疏优惠券信号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17EE652-FC65-4D1F-B003-BDF455473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90750"/>
            <a:ext cx="17145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FC28DC6-F0F4-4C20-9A3C-09DC4D9AE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324100"/>
            <a:ext cx="13716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667267"/>
                </a:solidFill>
                <a:latin typeface="Aptos Display"/>
                <a:ea typeface="Aptos Display"/>
                <a:cs typeface="Aptos Display"/>
              </a:defRPr>
            </a:pPr>
            <a:r>
              <a:rPr sz="1875" b="1">
                <a:solidFill>
                  <a:srgbClr val="667267"/>
                </a:solidFill>
                <a:latin typeface="Aptos Display"/>
                <a:ea typeface="Aptos Display"/>
                <a:cs typeface="Aptos Display"/>
              </a:rPr>
              <a:t>801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877BC1-4D9F-4094-9EBA-B77313301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667000"/>
            <a:ext cx="13716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2E35EF0-A691-46DE-AEA9-4890CC2E42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2838450"/>
            <a:ext cx="13716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7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67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部分画像记录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9CF94E6-5CA4-46D2-879B-18B741940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10096500" cy="2114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C02D89-0F1D-4212-8EE7-72C1F27B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9570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C519424-E00E-4853-A890-91D51D66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762375"/>
            <a:ext cx="1200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核心原始表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A6823BD-B2D8-4FC2-A4CB-A018022FA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14800"/>
            <a:ext cx="9334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transactions -&gt; products -&gt; promotions -&gt; campaigns -&gt; coupons -&gt; coupon_redemptions -&gt; demographics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507EF56-F8CB-4D18-A9C4-D1E87543B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629150"/>
            <a:ext cx="9334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字段例子：household_id、basket_id、product_id、week、quantity、sales_value、retail/coupon discounts、department、category、brand、promotion exposure、campaign/coupon mapping、income/age/household size。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EEFD111-1431-4C36-9C5F-043B526C6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19700"/>
            <a:ext cx="85725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这页先讲清楚 dataset 长什么样，再进入推荐模型。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6AFC82-C98F-4123-BED8-C3E818EE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DD7B117-62CF-469A-9E1F-15F1DC211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672208A-E196-4036-899E-58F925773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440706623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14AA0AD-F22E-4EC9-B5A3-B18F7281E8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FFE5EA-72B7-4571-A088-0C75CF81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75496-2532-40EB-9190-2B9215979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问题定义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CBA3798-CF38-4FF9-91C0-A5ACE5EB7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用过去 household 行为预测未来超市商品。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C7927E-607E-4BFC-B8F5-B2FC1B849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目标是 implicit feedback：如果 household 在目标周期购买某商品，则该商品为正样本。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97502D-0049-428E-AD46-ABB63BA94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85725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9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y(h,j,t) = 1 if household h buys product j in the target period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59F71A-56B8-4655-82B9-49412BA45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195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54C91B-053B-412F-B88E-E9582A08B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810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847BFC-69E2-46DC-9C0B-1122A6403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095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Weeks 1-40</a:t>
            </a:r>
          </a:p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训练推荐器和历史特征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23C344-0589-49B8-8328-08F0EBE7C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6195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A426357-253F-4550-8FAB-BE3F2B47A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3810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D4B116-0C7E-4F2C-ADFF-CDB2F4A52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4095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Weeks 41-46</a:t>
            </a:r>
          </a:p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调 ALS/BPR 和重排序权重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16843-E64E-46EF-A29F-EF642F7E4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3619500"/>
            <a:ext cx="2476500" cy="904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B9CBBE1-18C3-4F4A-AECE-64FD481FD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81000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8D9EA-A0D6-4747-9C11-E5029CE31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95750"/>
            <a:ext cx="20955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Weeks 47-53</a:t>
            </a:r>
          </a:p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最终 hold-out 汇报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432D9E5-46CC-487F-9D03-C710A88927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219700"/>
            <a:ext cx="1809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F34BBEF-F19E-404E-A075-5A267FB08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286375"/>
            <a:ext cx="1581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Why chronological split?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F688407-4F26-4B02-A077-3D6F3F754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5238750"/>
            <a:ext cx="7810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真实推荐系统必须用过去预测未来。随机切分会把未来购物行为泄漏进训练。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B8F5278-EE60-45EC-B983-17C9C5E8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B96D94-7EA4-46F4-817A-12126259F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AB21E08-C5FB-4A8E-82FB-469A11EFA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308437827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AC0D82A-C557-4747-ADA6-3EE5D6144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BCB389-6F25-4671-8E1E-06F80EEBF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4E0ACA-9CDE-42E7-B128-76719667D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系统架构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669839-04B8-4CB8-B5C7-1C1EE4439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PromoMind 是两阶段推荐管线。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B26D43E-4005-4593-BF5B-4E375AC44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第一阶段预测可能购买的商品；第二阶段把候选商品转成促销感知的零售决策。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6F00D51-2779-400C-A499-2932B83E8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7B7833E-837C-4AE1-9D28-888245145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DC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DCD4"/>
                </a:solidFill>
                <a:latin typeface="Aptos"/>
                <a:ea typeface="Aptos"/>
                <a:cs typeface="Aptos"/>
              </a:rPr>
              <a:t>Raw data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214B8F-C8BE-472D-B858-4906CC316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Transactions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Products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Promotions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Coupons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Campaigns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0519BC-582B-449D-86DE-21AE41791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EF567B-FB39-4808-9D9D-79885D7D4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EC771E9-E0DB-4972-8602-F8FB02EB9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Clean + split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641495-BB8C-4519-A39B-A1713F048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Time split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Features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Leakage checks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A4257D-E6C6-4197-A760-D9B1F8D0F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2CC887-3B1B-47FC-8AA2-DE2C70E49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F19F87-999D-4B4B-821F-42472C811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Candidates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835586A-DE34-4C6B-A95F-E19E2402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Popularity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ItemKNN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ALS/BPR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LightGCN bonus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8F2FB6-1932-4F12-9BB9-28C51FAD6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94CA5A-E27E-4D97-A2DB-2B948E8DE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5EBE1DE-4C53-4036-B1C0-8ED2657B8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Reranking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E847711-AA58-4F59-A982-D57635FE85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Promotion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Discount cost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1F05958-A3F6-422B-ADF9-76BE1DA901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FCDE109-7803-4604-8679-33F7BC087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476500"/>
            <a:ext cx="16192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97ED896-EB79-4BC9-B763-30E1B27B6C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609850"/>
            <a:ext cx="1314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Evaluation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D4B39BD-DFEF-420F-BF6C-16F91A947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895600"/>
            <a:ext cx="13144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Recall/NDCG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Coverage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Business Utility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EC54C7-D3D1-4E76-99B8-258FFDDE8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34600" y="3238500"/>
            <a:ext cx="3429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72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573A637-71DD-45D1-966C-C883F67EA1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0" y="2476500"/>
            <a:ext cx="1390650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60A2C8F-4991-4854-A361-BA76A9894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609850"/>
            <a:ext cx="10858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D6DCD4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D6DCD4"/>
                </a:solidFill>
                <a:latin typeface="Aptos"/>
                <a:ea typeface="Aptos"/>
                <a:cs typeface="Aptos"/>
              </a:rPr>
              <a:t>Demo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003C648-267B-493F-80F1-A0766A592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0" y="2895600"/>
            <a:ext cx="1085850" cy="1028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Household view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Top-10 products</a:t>
            </a:r>
          </a:p>
          <a:p xmlns:a="http://schemas.openxmlformats.org/drawingml/2006/main">
            <a:pPr algn="l">
              <a:defRPr sz="90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Budget slider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A86E3F5-5576-4C41-96BC-83576BE60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0965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62B9F3F-0D43-45F9-93DD-01A3AE96B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24450"/>
            <a:ext cx="93345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共享输出格式：每个模型都输出 raw household_id、product_id、base_score、model_name、base_rank，保证下游重排序和 demo 稳定。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DF60F90-CD27-4C8E-9E42-BDA3FE65A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AA8A8A-B9D5-4A22-A7CD-CB9E5BB60A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2D727AA0-3BAE-4F4A-B476-38DDC7B7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10764032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0B6CF9-0969-4CBF-93BA-F078DE26D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941678-A920-4E77-A7DC-87EA1822D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645C3F-E90B-45C5-BEB0-F1DD4763C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计划实现的算法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DEE0C4-DC2F-4A8E-86D6-E8526B6CC0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比较 grocery baselines 与 implicit-feedback 推荐器。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B3EAB-FDBB-428C-A7BA-E46266E26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即使 bonus deep model 花更多时间，模型阶梯也能保证项目主线完整。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5C018E-0215-4B27-B1DD-9553B1C15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476500"/>
            <a:ext cx="26670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FC6CFD-3927-4F96-AB81-15EB31CEB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6670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D95698-8986-4E42-9673-BBA065D648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7336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Required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79D7229-4794-43BA-A371-14F7C0C2D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63EA7D-96D3-48E4-B21A-8784611B5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143250"/>
            <a:ext cx="1924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1B8603-1A72-4064-B320-18976C527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505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2265661-6230-483F-A7DA-5E2D2F0AA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29000"/>
            <a:ext cx="1924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Category Popularity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55FA0F-5D5F-4DA6-89A0-8D564AE64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790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9D7F8A8-D8BA-47C0-9916-503701A8C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14750"/>
            <a:ext cx="19240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Implicit 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F23A4B-2478-4750-92BD-8AE26E5C7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4765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47F8EFB-F3DC-46C5-B31D-65B28900D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6670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9FD3994-6956-4CBC-99D5-FC5FE1193E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27336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Standard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AE725B-B5F8-4CE4-9E24-D7F501D4F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36D0957-69AB-4075-806D-1DE41A80C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143250"/>
            <a:ext cx="211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ItemKNN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F392E22-80EA-4D86-95F8-F8CC4CF4C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505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F5DB72-F691-4CB0-AC2E-68879823E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429000"/>
            <a:ext cx="211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BPR matrix factorization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78E7C-7751-45C6-82EA-C17E1700E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2950" y="3790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6CF9951-47DF-4D23-9D8C-0F0E4AB09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4400" y="3714750"/>
            <a:ext cx="211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ALS tuning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6E9A8F3-E3CB-4818-9A53-AD7875BB5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476500"/>
            <a:ext cx="2857500" cy="1714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13C295-C753-4C79-B51B-3C704730D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67000"/>
            <a:ext cx="1047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7500301-3B49-4C66-9B1D-D8E2FDD03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733675"/>
            <a:ext cx="8191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Bonus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0DE382B-216F-4539-BFA3-8BC2A036E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B5ACBE0-A12C-427C-A351-C96BFA7D3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143250"/>
            <a:ext cx="211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RecBole LightGCN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21FBE6D-2978-45CA-9AA5-CC47292A4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5052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977013D-E42B-433F-909F-E20024B6B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429000"/>
            <a:ext cx="211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Graph-based candidates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C688FDB-5F7C-4704-912B-3334DC35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909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ECB90C3-0FBF-4C2E-8E47-357D769B5D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714750"/>
            <a:ext cx="2114550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Sensitivity curves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27CB8F0-CF48-4A0F-B29F-BB27BEE2A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57750"/>
            <a:ext cx="99060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94B56D7-295D-4DA2-9B69-C9019C7FD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24450"/>
            <a:ext cx="2000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Library acknowledgements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457C40-9213-4510-8A67-99C35813E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086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AF9D7D4-7A32-4C86-B2D2-5964A863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010150"/>
            <a:ext cx="6305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implicit for implicit-feedback ALS/BPR-style models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6BE1F86-98C5-4764-82D4-E82480D02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2578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6872E31E-F930-4DC9-9244-6AADB4B6D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181600"/>
            <a:ext cx="6305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RecBole if LightGCN is attempted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A4D8FFA-C73D-45EC-9366-33EA1206D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54292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4507D1F-DF44-47D0-A99E-802741D1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353050"/>
            <a:ext cx="630555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Cornac as optional course-aligned experiment framework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BD2805E7-1411-455E-82FA-2B90A600C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F2DF57B2-98DF-4015-B1D8-8E2A6189A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0545D28-64A6-4715-9251-C0B49FDCDB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58159464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D2C0EE0-138D-403C-9055-4220732379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BEC546-F79A-42ED-A36A-FF2DEE410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1825D3-EA42-4634-BCB7-88ECFDE1A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X-FACTOR: 促销感知重排序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492B4F-212E-48B0-A7B2-1CC7912D3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第二阶段决定哪些推荐值得推送。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3945B4-6D9B-4096-87AD-42EBA2F27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基础相关性仍然重要，但营销信号和估计折扣成本会影响最终排序。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E50FD50-89BE-43DC-A86F-C2B06698E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10287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88F03C-AD9C-474E-940C-511A2558C7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533650"/>
            <a:ext cx="9810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final_score = alpha * base + beta * promotion + gamma * coupon - lambda * discount_cost + rho * diversity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0FFD81-F386-4EAE-BD89-0E49A1FBB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F73348-558F-4FF6-977B-5C67E905E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Base score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D5B0F3D-CD97-450E-A280-468F9D622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962400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ALS/BPR/其他模型给出的候选相关性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2B7EF3-FFC6-4E30-A850-0314DE65D5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832A386-1CEC-4B41-B942-B8AD8E1A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676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Promotion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C7AECCD-2EB2-48A9-86C6-CDE05EDA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962400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目标周期商品促销曝光信号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1B3285F-535C-4611-A189-D6C53D633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95D698-0F5B-4091-B3AB-6C7D4B84D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676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Coupon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E49F55-B20B-4A7B-9DF1-08C70D413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3962400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家庭/商品/活动优惠券匹配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5EC6998-B193-48F6-A7BC-7DC23992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72350" y="3476625"/>
            <a:ext cx="1952625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3AB028A-3FF8-4558-AF86-4481CA47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676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Discount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0797EE-C621-4711-B877-7A150CE4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62400"/>
            <a:ext cx="1647825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由 retail 和 coupon 折扣估计成本代理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0683BAD-E91A-4D8D-9234-E1FB97EC7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3476625"/>
            <a:ext cx="18097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43D3929-1B46-47D5-8B6D-DB9BE2002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6766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Diversity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5B3AB33-9B6A-4D61-827D-549DFFAB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962400"/>
            <a:ext cx="15049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避免 Top-K 全部集中在同一类别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E766C3-1C21-4706-A1D1-A49A3FBACA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143500"/>
            <a:ext cx="1524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94498F-F3DD-467F-917D-DD704183F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10175"/>
            <a:ext cx="1295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Important wording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E155B97-D3C8-4D34-9E09-4CBDFF53B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14350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4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这是观察性决策代理，不是 causal coupon uplift，也不是真实 profit，因为缺少 margin 和随机 treatment 标签。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A925534-8273-4443-ADA9-1A49EA044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6FA6A25-3607-438F-BA6A-63B816BCE0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9C4B13C-1A7A-4EC5-8B7D-61737F67C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46367358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98454FA-DA0C-4728-8C9C-6B5F8251F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6BD4EA-1BFA-4B14-9AB4-FF3EBDEFA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EF0617-80C5-4F4A-9293-FFFCD0B4D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9C3B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9C3B38"/>
                </a:solidFill>
                <a:latin typeface="Aptos"/>
                <a:ea typeface="Aptos"/>
                <a:cs typeface="Aptos"/>
              </a:rPr>
              <a:t>研究问题与实验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79793-486A-4CE0-9790-9D6D326EA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把 PromoMind 作为 recommender systems study 来评估。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CBF83B-9164-49CF-B2CD-E58A40650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809625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Demo 是展示形态；研究价值来自可控模型比较和重排序消融。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E865B7C-873A-4E5F-B5F9-9712313C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71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B441720-0B13-4ED5-B2EE-4A886749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81300"/>
            <a:ext cx="15716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4E19056-EA95-4678-B0D2-EFD8DB788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2847975"/>
            <a:ext cx="13430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Research questions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098255-8FC3-4BE2-8486-BA256306A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62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A8B29F-56B1-49CA-8946-523789F28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286125"/>
            <a:ext cx="2114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RQ1: 最好的候选模型？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DFF1C7-BE20-4979-BE4E-8D63B48B6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8F5586C-3F6F-4BD0-B1AD-31F482A5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552825"/>
            <a:ext cx="2114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RQ2: 促销/优惠券信号价值？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C1BA8E-B4CD-494E-9373-5A6B85EFF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95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E0E398F-BAD9-4564-82E3-762C0DC82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819525"/>
            <a:ext cx="2114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RQ3: 折扣成本 trade-off？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AEAD8-45AE-4B92-96ED-8836BA7F7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162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F2D05F1-4EB6-4880-86A9-F44664255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4086225"/>
            <a:ext cx="21145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RQ4: 多样性 vs 准确率？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AF8E60-EE2F-4122-AD9D-005AD8D1F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571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96AD79E-8B0A-45BB-A88E-FF82FE3E7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7813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5575B6D-D54D-46E6-8F91-DDD0C231F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0600" y="28479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Metrics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EC92837-C8D5-4752-A231-AF1917420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3623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5514DDD-E9D5-4A8F-BEE1-14B12A7C6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286125"/>
            <a:ext cx="2209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Recall@10 / Recall@20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D5FFDA6-E75D-4A47-8149-27BEDF84D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6290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15D8B8D-5842-4D60-88E5-16D760EF1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52825"/>
            <a:ext cx="2209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NDCG@10 / NDCG@20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4426CDC-FF33-4E28-8D70-581B2AFDE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38957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1EE6910-1EBA-4AF1-8210-4EA499471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819525"/>
            <a:ext cx="2209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Coverage, diversity, novelty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4CC5A7-778D-422E-8DC6-83590F42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41624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547519-C52B-4103-987E-2BE6108E6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086225"/>
            <a:ext cx="2209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Business Utility@K proxy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D4A939F-1E14-4EEF-8D44-8D4DC9E305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571750"/>
            <a:ext cx="2857500" cy="2095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D103B8-380A-42A3-9E96-E9E3E1D74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7813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3A3DA05-0432-42B5-A3ED-05EDD30C2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8479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Ablations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B49245C-8574-455A-B610-3F5959E3A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3147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F5CFEB6-AFCE-4C90-ADA8-36EDE99801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2209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Base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698331-C1B1-4241-A5A5-1EE39333F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5623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269A10A-0054-4898-8646-73722B9D3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486150"/>
            <a:ext cx="2209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Promotion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19F4FC0-0583-4F94-BF05-018BB34CA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8100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24012AE-F373-441E-A1E8-1C49EE3C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733800"/>
            <a:ext cx="2209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Coupon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441746B-3E79-44E4-8C2F-66F5F426B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5765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C27E3F2C-F5CA-48ED-B60E-244CC9440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981450"/>
            <a:ext cx="2209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Discount-cost penalty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4EC0DAB-D4EC-4B3B-A7CE-03B5BDEAC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305300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D705F52-CA5C-400C-A392-BB5E8F330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229100"/>
            <a:ext cx="2209800" cy="23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+ Diversity full rerank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49E1138-0FCD-401A-99D7-30D52A4FD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143500"/>
            <a:ext cx="100965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0DDDB"/>
          </a:solidFill>
          <a:ln xmlns:a="http://schemas.openxmlformats.org/drawingml/2006/main" w="9525">
            <a:solidFill>
              <a:srgbClr val="9C3B38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E8B8BF9-F97E-4100-A2DC-15C7A55BB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305425"/>
            <a:ext cx="952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Guardrail: 用 validation 选择重排序权重；提升 Business Utility@K 的同时必须展示 Recall/NDCG 损失。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A889BFC9-1C17-4B19-871B-3118E1B6F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347B8C8-47E1-42E7-A290-44215FB36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71B71C0-9260-4A0D-A87F-E79A6B378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639311243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CCA478E-C654-4D63-A021-36EB1EBA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E3B341-3E9E-4DD0-B3BA-410E5CC9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7064CC-410F-47F0-B927-1B6FD3F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研究贡献与 DEMO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64F736-710A-4103-8439-62CEFF17B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Demo 用来可视化推荐权衡。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8371B21-F91E-4AFD-9B02-B950B7FDA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1440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Streamlit 会展示家庭上下文、排序商品、coupon 标记、解释和预算变化；证据仍来自离线评估。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F651AEF-BF2B-45BE-AB83-3A5905803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619375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111815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26DC63-9E58-4B09-8ADC-3AC7423EC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724150"/>
            <a:ext cx="1905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Controls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84B7EB-0677-40E3-9935-9C13CBE6A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190875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60AE16-56A2-4930-95DA-349C5BD55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31470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Household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2D5D4D8-92C4-4AE6-89CC-8D90A8598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4330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选择 household_id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C4D23C-8345-4A9D-B7A5-A84F30956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00500"/>
            <a:ext cx="2000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C4EF7E-6107-4C67-83D4-7D8EF09AD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124325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69628A-E9BC-4D40-B49E-D6B1469E9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352925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ALS vs reranked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5B9808A-A5A0-40F8-892C-8A90C58B8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810125"/>
            <a:ext cx="20002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FFFFF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BB92EB-353B-4AFE-BA4B-72A9CA7FB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4933950"/>
            <a:ext cx="161925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Budget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1430C8-3742-46CA-B8C4-0A8BB500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162550"/>
            <a:ext cx="16954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优惠券数量或折扣成本上限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B095E47-B2A9-4FF6-BBBC-FEF710280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476500"/>
            <a:ext cx="7048500" cy="3143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01B01D-181B-4AA6-A900-30ED5FDBE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743200"/>
            <a:ext cx="20955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F64D284-CC29-47B2-AD16-A4341DA36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43425" y="2809875"/>
            <a:ext cx="1866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Top-10 recommendation table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AB6CA17-30B7-48A4-99B1-2F59C25C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3238500"/>
            <a:ext cx="66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Rank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B4D84F-95B3-4EF5-BA16-DC7FD7FCF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238500"/>
            <a:ext cx="1619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F6812CA-5940-4716-A1E2-EF6120F23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2385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Category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EC9A108-F93C-427D-B9F5-C3A349D7A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38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Coupon?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CF3262-C10F-40D8-AD6D-8D84C201F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23850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Reason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0E31AC-0F41-4370-8813-507EAC934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004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6D93312-D8F9-40A9-AD01-E5DD3B1F7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36004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Candidate product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3532F29-3EC0-46DA-9971-A74C20E2B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36004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高频类别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5216B0E-5B1D-4F34-AFF9-6274F7FE2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6004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2A2E4899-179B-4292-951B-EF7F004E0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6004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Coupon eligible; high score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9295743-3A4F-403D-A0B2-19FD49198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0005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6BADA5-636B-4403-B012-D3C6C2CBF8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005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4ED42C-1A51-445D-BF9F-66F14D440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0005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Household category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61155FE-D544-483C-94FD-BA423FC61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0005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Yes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9188163-E6EB-4A2A-A868-CAADC72EA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0005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E337CD7-0EEA-4ADB-AA11-1AD3E4657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40055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5B45F29-750F-41A6-A727-5EDDA43B5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40055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2B7776-120D-4E67-9C21-10C700A9C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40055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高频类别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9A187D8-077C-4191-9035-7B1D95148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0055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Budget limited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BDF63CB-C401-42F8-A41F-4191147B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40055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DE26B2E6-332E-4777-8525-86523C677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800600"/>
            <a:ext cx="476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2C347FF-187B-4BEF-84EA-BCBAD1C9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800600"/>
            <a:ext cx="152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Product option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754F4A2-6ABB-4C82-97E4-8DCEC4B50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4800600"/>
            <a:ext cx="1381125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高频类别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FD8DC06-B965-4153-AE33-6933D66C2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800600"/>
            <a:ext cx="1047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Budget limited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8D436A8-C07C-48F9-843F-7259B6C52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00600"/>
            <a:ext cx="1333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Matches prior basket pattern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5CCEF5B-845E-42E3-8230-E95B31A4A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0" y="5191125"/>
            <a:ext cx="61912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预算滑杆改变 coupon 分配，而不是改变底层 Top-K relevance list，除非明确标注。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B6A072-0BA1-4BA3-9BF8-4438A5D2CD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0783529-DA7B-4EAD-A8D9-DE5FA5B31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599964A-FB7E-422D-BEBB-BFD7539A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362956315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211103-8322-4FFC-9D62-B8CE89F30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8F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B425B4-86A0-4FD4-B66E-4818F64119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952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D55280-D0B7-4223-B0D4-9A7BA3A49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1950"/>
            <a:ext cx="6096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111815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111815"/>
                </a:solidFill>
                <a:latin typeface="Aptos"/>
                <a:ea typeface="Aptos"/>
                <a:cs typeface="Aptos"/>
              </a:rPr>
              <a:t>可行性与风险控制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F2B783-9EB9-46F0-931D-DF29C2092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85725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01B"/>
                </a:solidFill>
                <a:latin typeface="Aptos Display"/>
                <a:ea typeface="Aptos Display"/>
                <a:cs typeface="Aptos Display"/>
              </a:rPr>
              <a:t>项目有稳定主线，也有清晰扩展方向。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3C5F872-80AB-4FFB-9AA2-FFBBC75F0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9334500" cy="533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最终汇报会展示确定数据集、模型比较、重排序消融、可运行 demo、限制讨论和未来工作。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704020-7BAE-496E-90D6-CE7331665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EE5"/>
          </a:solidFill>
          <a:ln xmlns:a="http://schemas.openxmlformats.org/drawingml/2006/main" w="9525">
            <a:solidFill>
              <a:srgbClr val="146B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3E3471B-2ED5-4A4B-A125-B053A7A04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5622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46B4D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6B4D"/>
                </a:solidFill>
                <a:latin typeface="Aptos"/>
                <a:ea typeface="Aptos"/>
                <a:cs typeface="Aptos"/>
              </a:rPr>
              <a:t>最低完整主线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F84570E-3D1C-4F65-BC27-E3A1D87B3F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05D82-4A20-4154-9A66-9ECEDB06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0003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Chronological split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32DFF-4F23-4B1B-802F-34E7284FD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286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226613-8EDC-43D2-B0BC-FB8E443B2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20992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Popularity + ALS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36EDB57-473C-46AE-8104-8A6E7B041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E929F-2977-4BA2-B3A6-617B3F317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194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Promotion-aware reranking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9D39927-62FD-4C7B-8703-459FE6EE4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09B93B-D9A4-4F87-881D-58A36619D7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62902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Business Utility@K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361384-11B9-45E0-B764-3CC77A37A6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99F3B0-6ED7-41DC-94DE-07DCC02C8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385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Streamlit demo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41C0EF4-AF39-4C4A-A25A-75F96A2A2D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333625"/>
            <a:ext cx="3238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CF8"/>
          </a:solidFill>
          <a:ln xmlns:a="http://schemas.openxmlformats.org/drawingml/2006/main" w="9525">
            <a:solidFill>
              <a:srgbClr val="2B5C9E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6E15A08-D712-4F7E-A2F1-BF86E96F0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25622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B5C9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2B5C9E"/>
                </a:solidFill>
                <a:latin typeface="Aptos"/>
                <a:ea typeface="Aptos"/>
                <a:cs typeface="Aptos"/>
              </a:rPr>
              <a:t>实验包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847E7D3-AD00-4374-8A54-2EC9275D8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216F24E-5881-4E2F-ABB8-C9726282D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003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Recall/NDCG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BE41B62-CF83-4DB8-9A42-C26C34C1C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286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6C43C9-41B3-493D-9803-506E3570D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20992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Coverage/diversity/novelty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B7CFD8C-033A-4E99-8702-1493EC1B3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97D4CF2-ECA8-49BF-A0E2-BC7BDB8DA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4194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Reranking ablations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3419748-E3FE-41BB-AACA-767033316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B5C9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2232A7A-5B8A-4A91-B229-71509B2B8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62902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Budget sensitivity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A181182-1A33-45CE-9DF9-504EBFB38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333625"/>
            <a:ext cx="3238500" cy="1905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E7D2"/>
          </a:solidFill>
          <a:ln xmlns:a="http://schemas.openxmlformats.org/drawingml/2006/main" w="9525">
            <a:solidFill>
              <a:srgbClr val="B96F13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64D24B0-0380-4AA1-994F-53370719F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562225"/>
            <a:ext cx="2571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B96F13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B96F13"/>
                </a:solidFill>
                <a:latin typeface="Aptos"/>
                <a:ea typeface="Aptos"/>
                <a:cs typeface="Aptos"/>
              </a:rPr>
              <a:t>扩展方向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FBC3655-88FD-4CE2-85D7-7AADE1B47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76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69E4909-5953-4833-B3DF-AEB2C11B1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03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ItemKNN + BPR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3D6DADC-A8A1-4ED1-A4F0-F7EF189A0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286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F2B8719-64C1-4FD5-BC12-1ACBBDA2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20992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RecBole LightGCN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1A35439-2B04-4FCE-97F3-C1A226D359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95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29A6DE7-5F07-4F1D-BF74-F7372F23D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41947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 subgroup view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A6EDA51F-95C3-44FA-B3AC-0E05FFE48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7052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6F1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5FFD0C2-F4C3-49B4-9A2C-0DD40DA56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29025"/>
            <a:ext cx="2638425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Future causal uplift framing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859FBFC-1D0E-4674-8F0D-E72679C86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286250"/>
            <a:ext cx="5143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6D1649-8629-4746-91D3-BEF10A39E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958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607B9C5B-4F26-4FFC-8469-935B3D987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5624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风险控制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56F2DD1-57EC-4594-A326-7FEFF97B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981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D232B2-1C6F-4C60-932F-15F93905D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4905375"/>
            <a:ext cx="4305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coupon redemption 稀疏：只作辅助信号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21C959C-9971-495A-A791-71D57E10AB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91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3DF3443-FB96-4866-ADB9-7CB6278B4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114925"/>
            <a:ext cx="4305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demographics 部分覆盖：可选分析/demo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FA93E89-FAA2-4903-8AE0-30712CDA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400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9C3B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27EB889-3545-42E7-9EDC-31BBD0CF8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5324475"/>
            <a:ext cx="4305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没有 margin data：用 proxy，不说 profit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ED4F002-61B5-44E7-9A12-9A26244593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86250"/>
            <a:ext cx="51435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6DCD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5861648-CF1A-44DA-90CE-171732900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4495800"/>
            <a:ext cx="11430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15"/>
          </a:solidFill>
          <a:ln xmlns:a="http://schemas.openxmlformats.org/drawingml/2006/main" w="9525">
            <a:solidFill>
              <a:srgbClr val="DCEEE5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485EC5-09DB-464A-B2BB-88778BFF1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562475"/>
            <a:ext cx="9144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最终证据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1B05C28-48A6-4EEE-9437-9185940F5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9815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1B0526D-692B-45D2-A43B-42E1E2EC1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905375"/>
            <a:ext cx="4305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基于时间切分的离线评估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BB20E09-B0AE-4FC8-A9BA-649AF3C89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19112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C4264D0-331A-4794-9C45-DCB2A830E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114925"/>
            <a:ext cx="4305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准确率 + list-health 指标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ED1D08A3-7E7A-4E3B-97C6-4DEC34CD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5400675"/>
            <a:ext cx="57150" cy="57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6B4D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5273D45F-E3D9-4431-8438-2B2A7FF9B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5324475"/>
            <a:ext cx="4305300" cy="200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01B"/>
                </a:solidFill>
                <a:latin typeface="Aptos"/>
                <a:ea typeface="Aptos"/>
                <a:cs typeface="Aptos"/>
              </a:rPr>
              <a:t>Demo 解释权衡；指标提供证据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31F1D8E-703D-43D0-BDD0-B96D783A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43600"/>
            <a:ext cx="9906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8201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8201B"/>
                </a:solidFill>
                <a:latin typeface="Aptos"/>
                <a:ea typeface="Aptos"/>
                <a:cs typeface="Aptos"/>
              </a:rPr>
              <a:t>核心主张：PromoMind 把超市推荐作为零售决策问题研究，而不只是购买预测。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E1946FD-B1C7-4CEB-A506-FA421476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246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DCD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14256124-A9DF-418D-A6F3-8BD03C16E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38900"/>
            <a:ext cx="3429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PromoMind Project 2 Proposal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F662B25E-0B69-441C-B244-DA11D77AC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6438900"/>
            <a:ext cx="76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67267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67267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22600625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2026-06-02T09:29:46.4010000Z</dcterms:created>
  <dcterms:modified xsi:type="dcterms:W3CDTF">2026-06-02T09:29:46.4010000Z</dcterms:modified>
</coreProperties>
</file>