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38e1e55ade34258" /><Relationship Type="http://schemas.openxmlformats.org/officeDocument/2006/relationships/extended-properties" Target="/docProps/app.xml" Id="R446fc61de67d47cc" /><Relationship Type="http://schemas.openxmlformats.org/officeDocument/2006/relationships/officeDocument" Target="/ppt/presentation.xml" Id="R49822d8098f8405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23218cfbcbf443c"/>
  </p:sldMasterIdLst>
  <p:notesMasterIdLst>
    <p:notesMasterId xmlns:r="http://schemas.openxmlformats.org/officeDocument/2006/relationships" r:id="R41635af33bef4c95"/>
  </p:notesMasterIdLst>
  <p:sldIdLst>
    <p:sldId xmlns:r="http://schemas.openxmlformats.org/officeDocument/2006/relationships" id="256" r:id="Rfd081ed76ace4f9c"/>
    <p:sldId xmlns:r="http://schemas.openxmlformats.org/officeDocument/2006/relationships" id="257" r:id="Rda7c5d5f7a29488b"/>
    <p:sldId xmlns:r="http://schemas.openxmlformats.org/officeDocument/2006/relationships" id="258" r:id="R1a0cb3e887f14b76"/>
    <p:sldId xmlns:r="http://schemas.openxmlformats.org/officeDocument/2006/relationships" id="259" r:id="R0a48fd728a994e54"/>
    <p:sldId xmlns:r="http://schemas.openxmlformats.org/officeDocument/2006/relationships" id="260" r:id="Rda7ba6200d0c42f7"/>
    <p:sldId xmlns:r="http://schemas.openxmlformats.org/officeDocument/2006/relationships" id="261" r:id="R107f838e951d4054"/>
    <p:sldId xmlns:r="http://schemas.openxmlformats.org/officeDocument/2006/relationships" id="262" r:id="R5474ce42cd824e0e"/>
    <p:sldId xmlns:r="http://schemas.openxmlformats.org/officeDocument/2006/relationships" id="263" r:id="R7e2fa83c39a54e00"/>
    <p:sldId xmlns:r="http://schemas.openxmlformats.org/officeDocument/2006/relationships" id="264" r:id="Rcd9c94e963c84859"/>
    <p:sldId xmlns:r="http://schemas.openxmlformats.org/officeDocument/2006/relationships" id="265" r:id="R00b18029baf2472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07908c8506c46dd" /><Relationship Type="http://schemas.openxmlformats.org/officeDocument/2006/relationships/slideMaster" Target="/ppt/slideMasters/slideMaster1.xml" Id="R823218cfbcbf443c" /><Relationship Type="http://schemas.openxmlformats.org/officeDocument/2006/relationships/notesMaster" Target="/ppt/notesMasters/notesMaster1.xml" Id="R41635af33bef4c95" /><Relationship Type="http://schemas.openxmlformats.org/officeDocument/2006/relationships/presProps" Target="/ppt/presProps.xml" Id="R14c0d8b40fc24014" /><Relationship Type="http://schemas.openxmlformats.org/officeDocument/2006/relationships/viewProps" Target="/ppt/viewProps.xml" Id="R9bbeb1030d2842a7" /><Relationship Type="http://schemas.openxmlformats.org/officeDocument/2006/relationships/tableStyles" Target="/ppt/tableStyles.xml" Id="Rf049a96fd5a94a75" /><Relationship Type="http://schemas.openxmlformats.org/officeDocument/2006/relationships/slide" Target="/ppt/slides/slide1.xml" Id="Rfd081ed76ace4f9c" /><Relationship Type="http://schemas.openxmlformats.org/officeDocument/2006/relationships/slide" Target="/ppt/slides/slide2.xml" Id="Rda7c5d5f7a29488b" /><Relationship Type="http://schemas.openxmlformats.org/officeDocument/2006/relationships/slide" Target="/ppt/slides/slide3.xml" Id="R1a0cb3e887f14b76" /><Relationship Type="http://schemas.openxmlformats.org/officeDocument/2006/relationships/slide" Target="/ppt/slides/slide4.xml" Id="R0a48fd728a994e54" /><Relationship Type="http://schemas.openxmlformats.org/officeDocument/2006/relationships/slide" Target="/ppt/slides/slide5.xml" Id="Rda7ba6200d0c42f7" /><Relationship Type="http://schemas.openxmlformats.org/officeDocument/2006/relationships/slide" Target="/ppt/slides/slide6.xml" Id="R107f838e951d4054" /><Relationship Type="http://schemas.openxmlformats.org/officeDocument/2006/relationships/slide" Target="/ppt/slides/slide7.xml" Id="R5474ce42cd824e0e" /><Relationship Type="http://schemas.openxmlformats.org/officeDocument/2006/relationships/slide" Target="/ppt/slides/slide8.xml" Id="R7e2fa83c39a54e00" /><Relationship Type="http://schemas.openxmlformats.org/officeDocument/2006/relationships/slide" Target="/ppt/slides/slide9.xml" Id="Rcd9c94e963c84859" /><Relationship Type="http://schemas.openxmlformats.org/officeDocument/2006/relationships/slide" Target="/ppt/slides/slide10.xml" Id="R00b18029baf2472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4d35ebd161c4d3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4b81ebae5d148d4" /><Relationship Type="http://schemas.openxmlformats.org/officeDocument/2006/relationships/notesMaster" Target="/ppt/notesMasters/notesMaster1.xml" Id="R87debc1b562f453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6d7c1819c18429c" /><Relationship Type="http://schemas.openxmlformats.org/officeDocument/2006/relationships/notesMaster" Target="/ppt/notesMasters/notesMaster1.xml" Id="R27adf981562148a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d00fd1dd23846b0" /><Relationship Type="http://schemas.openxmlformats.org/officeDocument/2006/relationships/notesMaster" Target="/ppt/notesMasters/notesMaster1.xml" Id="R8031afe5e00e4e9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8359826ecb44ec8" /><Relationship Type="http://schemas.openxmlformats.org/officeDocument/2006/relationships/notesMaster" Target="/ppt/notesMasters/notesMaster1.xml" Id="Rbbc35e79c8ee41b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4c84be7dbac4829" /><Relationship Type="http://schemas.openxmlformats.org/officeDocument/2006/relationships/notesMaster" Target="/ppt/notesMasters/notesMaster1.xml" Id="R3fa7dd9dd511418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70aaf2e93224c4b" /><Relationship Type="http://schemas.openxmlformats.org/officeDocument/2006/relationships/notesMaster" Target="/ppt/notesMasters/notesMaster1.xml" Id="R758f9a8a52394fb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b2237873bbc4155" /><Relationship Type="http://schemas.openxmlformats.org/officeDocument/2006/relationships/notesMaster" Target="/ppt/notesMasters/notesMaster1.xml" Id="R32edf941b42f4c2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842b5dfb66e4c41" /><Relationship Type="http://schemas.openxmlformats.org/officeDocument/2006/relationships/notesMaster" Target="/ppt/notesMasters/notesMaster1.xml" Id="Rc6172233538b4e4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ac090d1910a4c10" /><Relationship Type="http://schemas.openxmlformats.org/officeDocument/2006/relationships/notesMaster" Target="/ppt/notesMasters/notesMaster1.xml" Id="Rc98139916f5d460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cb29cd22b3e488e" /><Relationship Type="http://schemas.openxmlformats.org/officeDocument/2006/relationships/notesMaster" Target="/ppt/notesMasters/notesMaster1.xml" Id="Rc8a18eb5bbe14e4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d34c3cd04644d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ddb67f9f82d43e9" /><Relationship Type="http://schemas.openxmlformats.org/officeDocument/2006/relationships/slideLayout" Target="/ppt/slideLayouts/slideLayout1.xml" Id="R2345054c0b5f47e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345054c0b5f47e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c3299b2fcb4c95" /><Relationship Type="http://schemas.openxmlformats.org/officeDocument/2006/relationships/notesSlide" Target="/ppt/notesSlides/notesSlide1.xml" Id="R1ca3314cfc094a1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f59399bfd446ed" /><Relationship Type="http://schemas.openxmlformats.org/officeDocument/2006/relationships/notesSlide" Target="/ppt/notesSlides/notesSlide2.xml" Id="R2db1efd49443481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be381f02d4491b" /><Relationship Type="http://schemas.openxmlformats.org/officeDocument/2006/relationships/notesSlide" Target="/ppt/notesSlides/notesSlide3.xml" Id="Rad4984bfebbd472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66d1cf8c974550" /><Relationship Type="http://schemas.openxmlformats.org/officeDocument/2006/relationships/notesSlide" Target="/ppt/notesSlides/notesSlide4.xml" Id="Rfe25f3e011364d8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b8b8e29b40433a" /><Relationship Type="http://schemas.openxmlformats.org/officeDocument/2006/relationships/notesSlide" Target="/ppt/notesSlides/notesSlide5.xml" Id="Rad4e363c0aff4bc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8f591f6a19466f" /><Relationship Type="http://schemas.openxmlformats.org/officeDocument/2006/relationships/notesSlide" Target="/ppt/notesSlides/notesSlide6.xml" Id="R06e8d132fe2a497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6c6dddbd584d73" /><Relationship Type="http://schemas.openxmlformats.org/officeDocument/2006/relationships/notesSlide" Target="/ppt/notesSlides/notesSlide7.xml" Id="Rb29c154ef6a6450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92d817d138433a" /><Relationship Type="http://schemas.openxmlformats.org/officeDocument/2006/relationships/notesSlide" Target="/ppt/notesSlides/notesSlide8.xml" Id="Rf2192499ac79432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6b99a6447444c9" /><Relationship Type="http://schemas.openxmlformats.org/officeDocument/2006/relationships/notesSlide" Target="/ppt/notesSlides/notesSlide9.xml" Id="R6f4fdaa987954ac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f8eb2de22149b5" /><Relationship Type="http://schemas.openxmlformats.org/officeDocument/2006/relationships/notesSlide" Target="/ppt/notesSlides/notesSlide10.xml" Id="R0dede11720b24d9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AED06B8-AAE4-4485-B425-6C819D482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197554-9790-42E0-ADD5-231343E95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869D8A-7291-45A3-9889-C1404837B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2952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E5"/>
          </a:solidFill>
          <a:ln xmlns:a="http://schemas.openxmlformats.org/drawingml/2006/main" w="9525">
            <a:solidFill>
              <a:srgbClr val="DCEE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51DB4D-3358-4D24-BD68-062F585C2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"/>
            <a:ext cx="2724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46B4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46B4D"/>
                </a:solidFill>
                <a:latin typeface="Aptos"/>
                <a:ea typeface="Aptos"/>
                <a:cs typeface="Aptos"/>
              </a:rPr>
              <a:t>CS608 Project 2 Proposal | June 3,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3532D4-58E9-4C5C-A11E-2BEDAFF4C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8572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8201B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18201B"/>
                </a:solidFill>
                <a:latin typeface="Aptos Display"/>
                <a:ea typeface="Aptos Display"/>
                <a:cs typeface="Aptos Display"/>
              </a:rPr>
              <a:t>PromoMind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619103-8323-40D1-8045-7A0F3B08A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7239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A promotion-aware grocery basket recommender for retail marketing optimization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62A089-9AF1-44EF-9DBE-58BCCFBBB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24125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8201B"/>
                </a:solidFill>
                <a:latin typeface="Aptos"/>
                <a:ea typeface="Aptos"/>
                <a:cs typeface="Aptos"/>
              </a:rPr>
              <a:t>Predict next-basket products, then decide which recommendations deserve promotion or coupon support.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8EF2F6-2CB7-489D-86F7-BD8D9F8C3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2095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D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DE1C67-21E8-48CD-A847-E7CEC38E4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33850"/>
            <a:ext cx="1752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6B4D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146B4D"/>
                </a:solidFill>
                <a:latin typeface="Aptos Display"/>
                <a:ea typeface="Aptos Display"/>
                <a:cs typeface="Aptos Display"/>
              </a:rPr>
              <a:t>2,469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F1D3F1-7A22-47B0-B88E-39F3850BE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76750"/>
            <a:ext cx="1752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8201B"/>
                </a:solidFill>
                <a:latin typeface="Aptos"/>
                <a:ea typeface="Aptos"/>
                <a:cs typeface="Aptos"/>
              </a:rPr>
              <a:t>households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D79733-4034-45CE-8B46-7FADCCB27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17526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household-level shopping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DA88E9-B575-4393-9C7A-F166E28B9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000500"/>
            <a:ext cx="2095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D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B34D09-6E0F-4451-AF63-D3F47D871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133850"/>
            <a:ext cx="1752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B5C9E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2B5C9E"/>
                </a:solidFill>
                <a:latin typeface="Aptos Display"/>
                <a:ea typeface="Aptos Display"/>
                <a:cs typeface="Aptos Display"/>
              </a:rPr>
              <a:t>1.47M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E12682-B280-4A1E-913E-10079E4C0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76750"/>
            <a:ext cx="1752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8201B"/>
                </a:solidFill>
                <a:latin typeface="Aptos"/>
                <a:ea typeface="Aptos"/>
                <a:cs typeface="Aptos"/>
              </a:rPr>
              <a:t>transactions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D195E8-2257-4D8A-A5AD-BC3C344BC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648200"/>
            <a:ext cx="17526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basket-product rows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DAF89D-CE62-472E-B575-18FF02790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000500"/>
            <a:ext cx="2095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D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AC906B-CEE7-4DB0-8030-0BC51F587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133850"/>
            <a:ext cx="1752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96F13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B96F13"/>
                </a:solidFill>
                <a:latin typeface="Aptos Display"/>
                <a:ea typeface="Aptos Display"/>
                <a:cs typeface="Aptos Display"/>
              </a:rPr>
              <a:t>92K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390B01-7BD0-4666-98DD-43FEC0D2F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476750"/>
            <a:ext cx="1752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8201B"/>
                </a:solidFill>
                <a:latin typeface="Aptos"/>
                <a:ea typeface="Aptos"/>
                <a:cs typeface="Aptos"/>
              </a:rPr>
              <a:t>products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8F14C0-4ED7-4392-95EC-878F52420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648200"/>
            <a:ext cx="17526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large grocery catalog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00809F-E4F4-4379-BA7B-E40477149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000500"/>
            <a:ext cx="2095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D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2105B0-E7FB-492D-AB97-0988064D6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133850"/>
            <a:ext cx="1752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9C3B38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9C3B38"/>
                </a:solidFill>
                <a:latin typeface="Aptos Display"/>
                <a:ea typeface="Aptos Display"/>
                <a:cs typeface="Aptos Display"/>
              </a:rPr>
              <a:t>Re-rank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8D8EA6-ED5C-4A22-8A92-2DF2EF869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476750"/>
            <a:ext cx="1752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8201B"/>
                </a:solidFill>
                <a:latin typeface="Aptos"/>
                <a:ea typeface="Aptos"/>
                <a:cs typeface="Aptos"/>
              </a:rPr>
              <a:t>X-factor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8F614D-BC96-4740-A0C6-3DF26D4B6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648200"/>
            <a:ext cx="17526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promotion + coupon + cost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A19D72-363C-4916-BBD5-820A5346E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7620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Team roles: A Data | B Models | C Reranking | D Demo and Integration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03C3E3A-5299-4B82-9B5B-E35D2FE79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C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2EF67E4-4AF0-4382-8180-B496E85F8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PromoMind Project 2 Proposal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E8BE054-5493-4710-A2E2-4A61C901A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389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40251854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BEDEC5D-941D-4DCB-8712-3AEE9574E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D46FDF-AC3C-460A-89A5-8F7F51436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F1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B53CDF-3CD9-4696-891B-6CBCBB988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09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96F1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96F13"/>
                </a:solidFill>
                <a:latin typeface="Aptos"/>
                <a:ea typeface="Aptos"/>
                <a:cs typeface="Aptos"/>
              </a:rPr>
              <a:t>RESEARCH PROBLEM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6B71F6-F925-449F-B6C0-FD5699BE9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8572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01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8201B"/>
                </a:solidFill>
                <a:latin typeface="Aptos Display"/>
                <a:ea typeface="Aptos Display"/>
                <a:cs typeface="Aptos Display"/>
              </a:rPr>
              <a:t>Can marketing context improve grocery recommendation trade-offs?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CB4927-2AE6-4444-A800-DEA9895E3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8096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We study whether promotion and coupon signals change relevance, utility proxy, and diversity under sparse observational retail data.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3B34CC-1751-43AB-B400-B47AFD239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33625"/>
            <a:ext cx="29527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7D2"/>
          </a:solidFill>
          <a:ln xmlns:a="http://schemas.openxmlformats.org/drawingml/2006/main" w="9525">
            <a:solidFill>
              <a:srgbClr val="B96F1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112537-5D86-4B47-A986-5B987341D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66975"/>
            <a:ext cx="2647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96F1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96F13"/>
                </a:solidFill>
                <a:latin typeface="Aptos"/>
                <a:ea typeface="Aptos"/>
                <a:cs typeface="Aptos"/>
              </a:rPr>
              <a:t>Retail pain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8EBC2B-9607-4B8E-A0BA-AB56FD3DB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52725"/>
            <a:ext cx="2647950" cy="981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Couponing is often broad: discounts may be sent to households that would buy anyway, while high-potential items are missed.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28D185-8B4A-45DA-9AA0-893081A1A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333625"/>
            <a:ext cx="29527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D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BDEBF9-EAAB-4A22-8C75-4C6F396C2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466975"/>
            <a:ext cx="2647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B5C9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B5C9E"/>
                </a:solidFill>
                <a:latin typeface="Aptos"/>
                <a:ea typeface="Aptos"/>
                <a:cs typeface="Aptos"/>
              </a:rPr>
              <a:t>Recommendation task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B4540B-AC74-4DD0-9DC2-4D0F6BD4E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752725"/>
            <a:ext cx="2647950" cy="981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Predict the next products each household is likely to buy from historical baskets and product metadata.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90B7E5-A47D-4D4C-A190-7663D5FA0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333625"/>
            <a:ext cx="29527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E5"/>
          </a:solidFill>
          <a:ln xmlns:a="http://schemas.openxmlformats.org/drawingml/2006/main" w="9525">
            <a:solidFill>
              <a:srgbClr val="146B4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81E57F-8B2C-4E7C-8111-6F7208FD0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466975"/>
            <a:ext cx="2647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6B4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46B4D"/>
                </a:solidFill>
                <a:latin typeface="Aptos"/>
                <a:ea typeface="Aptos"/>
                <a:cs typeface="Aptos"/>
              </a:rPr>
              <a:t>Business decision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FFFBDF-FCA4-48E4-B459-9DBA08A0D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752725"/>
            <a:ext cx="2647950" cy="981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Re-rank candidates using promotion exposure, coupon eligibility, discount cost, and list diversity.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629123-E78E-4579-8A3A-1FB5D1510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067050"/>
            <a:ext cx="933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26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BC5EC3-039A-4547-A803-C2ECE49A9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067050"/>
            <a:ext cx="838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26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3F615F-E5B2-48B5-93FE-FF527ED08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00550"/>
            <a:ext cx="152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15"/>
          </a:solidFill>
          <a:ln xmlns:a="http://schemas.openxmlformats.org/drawingml/2006/main" w="9525">
            <a:solidFill>
              <a:srgbClr val="DCEEE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1C5C00-5097-4719-BBF0-B12BB8CCB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67225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Research thesis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4B32E4-C261-48AF-9EE3-5E771118B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400550"/>
            <a:ext cx="8096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8201B"/>
                </a:solidFill>
                <a:latin typeface="Aptos"/>
                <a:ea typeface="Aptos"/>
                <a:cs typeface="Aptos"/>
              </a:rPr>
              <a:t>We will test whether a promotion-aware second stage improves business-oriented utility without unacceptable ranking loss.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CD2329-7FB7-4B87-AC88-504030CFE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C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A9C090-1486-425E-8889-CB1CEA6AD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PromoMind Project 2 Proposal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EDC4AB-AB83-43EF-A490-195CD004F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389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46513773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25029A1-C671-4B37-A1F0-341030BF9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BD0B75-579C-4D29-B7CC-324F540DA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5C9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1C7A9F-41C4-4AB9-875B-0424DAAAA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09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B5C9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B5C9E"/>
                </a:solidFill>
                <a:latin typeface="Aptos"/>
                <a:ea typeface="Aptos"/>
                <a:cs typeface="Aptos"/>
              </a:rPr>
              <a:t>DATASET AND COLLECTION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39F5E4-EB05-4041-944A-E513E5D3C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8572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01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8201B"/>
                </a:solidFill>
                <a:latin typeface="Aptos Display"/>
                <a:ea typeface="Aptos Display"/>
                <a:cs typeface="Aptos Display"/>
              </a:rPr>
              <a:t>The Complete Journey gives us purchases plus marketing context.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3B838C-EDAA-4487-9972-B2AADF623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8096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We will use public completejourney RDS/RDA artifacts already stored in the repository; the R extraction script documents reproducible export.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54624F-2FFE-4C4E-89C7-F02EAF735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1714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D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FB1504-7538-4881-B42C-2A2E1F5E9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24100"/>
            <a:ext cx="1371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6B4D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146B4D"/>
                </a:solidFill>
                <a:latin typeface="Aptos Display"/>
                <a:ea typeface="Aptos Display"/>
                <a:cs typeface="Aptos Display"/>
              </a:rPr>
              <a:t>2,469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4E9242-9FA2-4701-8623-BCFFFBFC2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67000"/>
            <a:ext cx="1371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8201B"/>
                </a:solidFill>
                <a:latin typeface="Aptos"/>
                <a:ea typeface="Aptos"/>
                <a:cs typeface="Aptos"/>
              </a:rPr>
              <a:t>households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088E85-3578-418E-A1C7-50F41EE84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38450"/>
            <a:ext cx="13716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tracked for one year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6A5FA6-33CE-4783-AAF8-0A6C1DA35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190750"/>
            <a:ext cx="1714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D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A51C5F-530F-4FA3-8957-8EBC84EDA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324100"/>
            <a:ext cx="1371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B5C9E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2B5C9E"/>
                </a:solidFill>
                <a:latin typeface="Aptos Display"/>
                <a:ea typeface="Aptos Display"/>
                <a:cs typeface="Aptos Display"/>
              </a:rPr>
              <a:t>1.47M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F9C46E-4296-4834-AA2E-8D2C43058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667000"/>
            <a:ext cx="1371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8201B"/>
                </a:solidFill>
                <a:latin typeface="Aptos"/>
                <a:ea typeface="Aptos"/>
                <a:cs typeface="Aptos"/>
              </a:rPr>
              <a:t>transactions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E77B92-0B91-4CC1-A582-F98ECDB94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838450"/>
            <a:ext cx="13716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basket-product rows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6EC3A0-8089-4F4E-B71C-998FC7077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190750"/>
            <a:ext cx="1714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D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7EE53B-66A8-4492-8550-3C6FD3A18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324100"/>
            <a:ext cx="1371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96F13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B96F13"/>
                </a:solidFill>
                <a:latin typeface="Aptos Display"/>
                <a:ea typeface="Aptos Display"/>
                <a:cs typeface="Aptos Display"/>
              </a:rPr>
              <a:t>92,331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90A25C-FEC2-4E2E-BFAC-8E6EF27DA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667000"/>
            <a:ext cx="1371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8201B"/>
                </a:solidFill>
                <a:latin typeface="Aptos"/>
                <a:ea typeface="Aptos"/>
                <a:cs typeface="Aptos"/>
              </a:rPr>
              <a:t>products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D7D5E4-9F60-4F83-9BD2-01C9510B3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838450"/>
            <a:ext cx="13716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grocery catalog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891BE4-AB17-4AD3-A8C1-C843AF510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90750"/>
            <a:ext cx="1714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D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C7710D-83A6-482A-8E29-43615F0DF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324100"/>
            <a:ext cx="1371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9C3B38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9C3B38"/>
                </a:solidFill>
                <a:latin typeface="Aptos Display"/>
                <a:ea typeface="Aptos Display"/>
                <a:cs typeface="Aptos Display"/>
              </a:rPr>
              <a:t>2,102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FD8D45-2A85-4592-93C4-B7CCC490B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667000"/>
            <a:ext cx="1371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8201B"/>
                </a:solidFill>
                <a:latin typeface="Aptos"/>
                <a:ea typeface="Aptos"/>
                <a:cs typeface="Aptos"/>
              </a:rPr>
              <a:t>redemptions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3D1B59-5E00-4335-8E48-ACE864356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838450"/>
            <a:ext cx="13716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sparse coupon signal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54D28F-2C5F-480B-960A-BF6934681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90750"/>
            <a:ext cx="1714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D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FD06DA-B90D-4F4F-A634-A2FD63D85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324100"/>
            <a:ext cx="1371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667267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667267"/>
                </a:solidFill>
                <a:latin typeface="Aptos Display"/>
                <a:ea typeface="Aptos Display"/>
                <a:cs typeface="Aptos Display"/>
              </a:rPr>
              <a:t>801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60386D8-C075-46BC-AEBD-F4B0F4E01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667000"/>
            <a:ext cx="1371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8201B"/>
                </a:solidFill>
                <a:latin typeface="Aptos"/>
                <a:ea typeface="Aptos"/>
                <a:cs typeface="Aptos"/>
              </a:rPr>
              <a:t>demographics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2566205-8799-47B6-A3F5-E360D31F0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838450"/>
            <a:ext cx="13716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partial profile rows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0E86E90-0605-4B24-8B16-BDFEF7331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1009650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D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426D3FF-C141-4935-BDE1-8D32E0408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52850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CF8"/>
          </a:solidFill>
          <a:ln xmlns:a="http://schemas.openxmlformats.org/drawingml/2006/main" w="9525">
            <a:solidFill>
              <a:srgbClr val="DCEEE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FF5D522-B0D3-488A-91E6-CE3C753FD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9525"/>
            <a:ext cx="1200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B5C9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B5C9E"/>
                </a:solidFill>
                <a:latin typeface="Aptos"/>
                <a:ea typeface="Aptos"/>
                <a:cs typeface="Aptos"/>
              </a:rPr>
              <a:t>Core raw tables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A586D7C-6DC0-4648-9CCF-A2FDEA96F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71950"/>
            <a:ext cx="9334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8201B"/>
                </a:solidFill>
                <a:latin typeface="Aptos"/>
                <a:ea typeface="Aptos"/>
                <a:cs typeface="Aptos"/>
              </a:rPr>
              <a:t>transactions -&gt; products -&gt; promotions -&gt; campaigns -&gt; coupons -&gt; coupon_redemptions -&gt; demographics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CCFB96C-1FCF-42AF-895D-995003AE0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857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The table mix is why this dataset is stronger than plain next-basket data: it supports product recommendation and promotion/coupon decision logic.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8A1A4FF-A32B-4ADE-9949-6F6A7CB5D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C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81747C1-E5D1-4BDC-8D37-A37D81107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PromoMind Project 2 Proposal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CD37C12-4A56-49A3-8F95-D84F9C54B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389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23641625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3235830-5CDE-4BFD-A40F-FB5F34803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232127-DB1D-475B-8DFF-64DF9D7D6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1E622A-FC8B-4B8B-A8F5-D6F1B0FD7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09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46B4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46B4D"/>
                </a:solidFill>
                <a:latin typeface="Aptos"/>
                <a:ea typeface="Aptos"/>
                <a:cs typeface="Aptos"/>
              </a:rPr>
              <a:t>PROBLEM DEFINITION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E91B87-62D0-4EAC-B162-19BF8AA0A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8572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01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8201B"/>
                </a:solidFill>
                <a:latin typeface="Aptos Display"/>
                <a:ea typeface="Aptos Display"/>
                <a:cs typeface="Aptos Display"/>
              </a:rPr>
              <a:t>Use past household behavior to predict future grocery products.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3A76E6-9DB7-48C9-8482-E25F4E138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8096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The target is implicit feedback: a product is positive if a household buys it in the target period.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CB455E-B793-421D-8D3F-FC205E534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8096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8201B"/>
                </a:solidFill>
                <a:latin typeface="Aptos"/>
                <a:ea typeface="Aptos"/>
                <a:cs typeface="Aptos"/>
              </a:rPr>
              <a:t>y(h,j,t) = 1 if household h buys product j in the target period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1D6E72-938A-4F88-867F-D3483747D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14700"/>
            <a:ext cx="26670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E5"/>
          </a:solidFill>
          <a:ln xmlns:a="http://schemas.openxmlformats.org/drawingml/2006/main" w="9525">
            <a:solidFill>
              <a:srgbClr val="146B4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E3A787-D91F-4C93-BD11-32667FD77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48050"/>
            <a:ext cx="2362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6B4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46B4D"/>
                </a:solidFill>
                <a:latin typeface="Aptos"/>
                <a:ea typeface="Aptos"/>
                <a:cs typeface="Aptos"/>
              </a:rPr>
              <a:t>Train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44AAAF-4AEF-4DEF-93FE-958FF3AF3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33800"/>
            <a:ext cx="2362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Weeks 1-40</a:t>
            </a:r>
          </a:p>
          <a:p xmlns:a="http://schemas.openxmlformats.org/drawingml/2006/main">
            <a:pPr algn="l">
              <a:defRPr sz="975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Fit recommenders and train-window features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972403-2430-470D-BCFE-D4330063A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314700"/>
            <a:ext cx="26670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CF8"/>
          </a:solidFill>
          <a:ln xmlns:a="http://schemas.openxmlformats.org/drawingml/2006/main" w="9525">
            <a:solidFill>
              <a:srgbClr val="2B5C9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F367BD-AFA6-451A-A9D9-5575E0916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448050"/>
            <a:ext cx="2362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B5C9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B5C9E"/>
                </a:solidFill>
                <a:latin typeface="Aptos"/>
                <a:ea typeface="Aptos"/>
                <a:cs typeface="Aptos"/>
              </a:rPr>
              <a:t>Validation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9741BF-9C4F-4AA4-B242-C4BF6342B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733800"/>
            <a:ext cx="2362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Weeks 41-46</a:t>
            </a:r>
          </a:p>
          <a:p xmlns:a="http://schemas.openxmlformats.org/drawingml/2006/main">
            <a:pPr algn="l">
              <a:defRPr sz="975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Tune ALS/BPR and reranking weights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DAA97D-A5AF-4A40-BB21-CBE480CA3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314700"/>
            <a:ext cx="26670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7D2"/>
          </a:solidFill>
          <a:ln xmlns:a="http://schemas.openxmlformats.org/drawingml/2006/main" w="9525">
            <a:solidFill>
              <a:srgbClr val="B96F1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48BD14-20DE-403D-BFD6-F7EE85D6B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448050"/>
            <a:ext cx="2362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96F1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96F13"/>
                </a:solidFill>
                <a:latin typeface="Aptos"/>
                <a:ea typeface="Aptos"/>
                <a:cs typeface="Aptos"/>
              </a:rPr>
              <a:t>Test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2A4766-3C29-4D75-93E7-DED8A8A0B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733800"/>
            <a:ext cx="2362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Weeks 47-53</a:t>
            </a:r>
          </a:p>
          <a:p xmlns:a="http://schemas.openxmlformats.org/drawingml/2006/main">
            <a:pPr algn="l">
              <a:defRPr sz="975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Final held-out reporting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305C2D-B10F-4065-8000-8938A606C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914775"/>
            <a:ext cx="1009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26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9FCBB7-10FB-422F-8E9E-2D0DA578D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914775"/>
            <a:ext cx="1009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26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7C7D14-A595-4C8C-881E-BB182D113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95875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15"/>
          </a:solidFill>
          <a:ln xmlns:a="http://schemas.openxmlformats.org/drawingml/2006/main" w="9525">
            <a:solidFill>
              <a:srgbClr val="DCEEE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492F8B-DDAE-4D89-AF24-483435C58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62550"/>
            <a:ext cx="1771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Why chronological split?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78A1E2-99D7-4758-9FCE-11F0CFACB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95875"/>
            <a:ext cx="8001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8201B"/>
                </a:solidFill>
                <a:latin typeface="Aptos"/>
                <a:ea typeface="Aptos"/>
                <a:cs typeface="Aptos"/>
              </a:rPr>
              <a:t>A deployed recommender must use the past to predict the future. Random split would leak future shopping behavior into training.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FDA0EF-F244-4812-9E52-E1EC3A35F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C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634810-1961-4F75-AD69-7D1E034D5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PromoMind Project 2 Proposal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056545B-DDE0-4420-9EB3-FF71541F3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389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45887118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746EA1B-DBFE-49CF-B865-9AB578547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1A3948-B2DF-4C1B-AC66-E893DEFD5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5C9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248CFF-66E7-47EE-A803-4AFDB7A35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09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B5C9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B5C9E"/>
                </a:solidFill>
                <a:latin typeface="Aptos"/>
                <a:ea typeface="Aptos"/>
                <a:cs typeface="Aptos"/>
              </a:rPr>
              <a:t>SYSTEM ARCHITECTURE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517F02-F400-4655-A095-A9A4407E4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8572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01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8201B"/>
                </a:solidFill>
                <a:latin typeface="Aptos Display"/>
                <a:ea typeface="Aptos Display"/>
                <a:cs typeface="Aptos Display"/>
              </a:rPr>
              <a:t>PromoMind is a two-stage recommender pipeline.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5188CD-40F1-4834-9201-7B81AB0E7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8096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The first stage predicts likely products. The second stage turns those candidates into promotion-aware retail decisions.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01F6FB-608F-466F-BA69-1324DF1B5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0"/>
            <a:ext cx="1619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D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A39291-9944-4952-8B18-96344BAC0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09850"/>
            <a:ext cx="1314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8201B"/>
                </a:solidFill>
                <a:latin typeface="Aptos"/>
                <a:ea typeface="Aptos"/>
                <a:cs typeface="Aptos"/>
              </a:rPr>
              <a:t>Raw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F22E97-770B-419C-B0D9-0C2D4090A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95600"/>
            <a:ext cx="13144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Transactions</a:t>
            </a:r>
          </a:p>
          <a:p xmlns:a="http://schemas.openxmlformats.org/drawingml/2006/main">
            <a:pPr algn="l">
              <a:defRPr sz="975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Products</a:t>
            </a:r>
          </a:p>
          <a:p xmlns:a="http://schemas.openxmlformats.org/drawingml/2006/main">
            <a:pPr algn="l">
              <a:defRPr sz="975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Promotions</a:t>
            </a:r>
          </a:p>
          <a:p xmlns:a="http://schemas.openxmlformats.org/drawingml/2006/main">
            <a:pPr algn="l">
              <a:defRPr sz="975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Coupons</a:t>
            </a:r>
          </a:p>
          <a:p xmlns:a="http://schemas.openxmlformats.org/drawingml/2006/main">
            <a:pPr algn="l">
              <a:defRPr sz="975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Campaigns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B9FDA3-C33F-4B2B-9BCC-E936C4452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476500"/>
            <a:ext cx="1619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E5"/>
          </a:solidFill>
          <a:ln xmlns:a="http://schemas.openxmlformats.org/drawingml/2006/main" w="9525">
            <a:solidFill>
              <a:srgbClr val="146B4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D8A061-E70F-4E4E-B1BF-8EF938D77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609850"/>
            <a:ext cx="1314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6B4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46B4D"/>
                </a:solidFill>
                <a:latin typeface="Aptos"/>
                <a:ea typeface="Aptos"/>
                <a:cs typeface="Aptos"/>
              </a:rPr>
              <a:t>Clean + split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34A9DE-4A51-4869-9CF7-4E24A67EE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895600"/>
            <a:ext cx="13144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Time split</a:t>
            </a:r>
          </a:p>
          <a:p xmlns:a="http://schemas.openxmlformats.org/drawingml/2006/main">
            <a:pPr algn="l">
              <a:defRPr sz="975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Features</a:t>
            </a:r>
          </a:p>
          <a:p xmlns:a="http://schemas.openxmlformats.org/drawingml/2006/main">
            <a:pPr algn="l">
              <a:defRPr sz="975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Leakage checks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1F4696-D074-4930-B628-7EF277A8B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476500"/>
            <a:ext cx="1619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CF8"/>
          </a:solidFill>
          <a:ln xmlns:a="http://schemas.openxmlformats.org/drawingml/2006/main" w="9525">
            <a:solidFill>
              <a:srgbClr val="2B5C9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A17E66-ECDF-49CD-B2C1-2C269ACE9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609850"/>
            <a:ext cx="1314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B5C9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B5C9E"/>
                </a:solidFill>
                <a:latin typeface="Aptos"/>
                <a:ea typeface="Aptos"/>
                <a:cs typeface="Aptos"/>
              </a:rPr>
              <a:t>Candidates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F8706F-C959-461F-BE63-BCF6E6B58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895600"/>
            <a:ext cx="13144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Popularity</a:t>
            </a:r>
          </a:p>
          <a:p xmlns:a="http://schemas.openxmlformats.org/drawingml/2006/main">
            <a:pPr algn="l">
              <a:defRPr sz="975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ItemKNN</a:t>
            </a:r>
          </a:p>
          <a:p xmlns:a="http://schemas.openxmlformats.org/drawingml/2006/main">
            <a:pPr algn="l">
              <a:defRPr sz="975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ALS/BPR</a:t>
            </a:r>
          </a:p>
          <a:p xmlns:a="http://schemas.openxmlformats.org/drawingml/2006/main">
            <a:pPr algn="l">
              <a:defRPr sz="975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LightGCN bonus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AA9AD2-0100-474A-B875-C9EF993A3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476500"/>
            <a:ext cx="1619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7D2"/>
          </a:solidFill>
          <a:ln xmlns:a="http://schemas.openxmlformats.org/drawingml/2006/main" w="9525">
            <a:solidFill>
              <a:srgbClr val="B96F1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E3CF27-D199-4CCA-9D8E-EF43AAAF2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609850"/>
            <a:ext cx="1314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96F1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96F13"/>
                </a:solidFill>
                <a:latin typeface="Aptos"/>
                <a:ea typeface="Aptos"/>
                <a:cs typeface="Aptos"/>
              </a:rPr>
              <a:t>Reranking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214B8A-F26A-4680-A218-F2338A029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95600"/>
            <a:ext cx="13144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Promotion</a:t>
            </a:r>
          </a:p>
          <a:p xmlns:a="http://schemas.openxmlformats.org/drawingml/2006/main">
            <a:pPr algn="l">
              <a:defRPr sz="975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Coupon</a:t>
            </a:r>
          </a:p>
          <a:p xmlns:a="http://schemas.openxmlformats.org/drawingml/2006/main">
            <a:pPr algn="l">
              <a:defRPr sz="975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Discount cost</a:t>
            </a:r>
          </a:p>
          <a:p xmlns:a="http://schemas.openxmlformats.org/drawingml/2006/main">
            <a:pPr algn="l">
              <a:defRPr sz="975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Diversity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48135F-8773-48A6-8B08-6C6902579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476500"/>
            <a:ext cx="1619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DDB"/>
          </a:solidFill>
          <a:ln xmlns:a="http://schemas.openxmlformats.org/drawingml/2006/main" w="9525">
            <a:solidFill>
              <a:srgbClr val="9C3B3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5CBE8D-18DA-4513-BD52-575636078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609850"/>
            <a:ext cx="1314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C3B3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9C3B38"/>
                </a:solidFill>
                <a:latin typeface="Aptos"/>
                <a:ea typeface="Aptos"/>
                <a:cs typeface="Aptos"/>
              </a:rPr>
              <a:t>Evaluation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F4A862-270D-4C66-8523-518019A3D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95600"/>
            <a:ext cx="13144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Recall/NDCG</a:t>
            </a:r>
          </a:p>
          <a:p xmlns:a="http://schemas.openxmlformats.org/drawingml/2006/main">
            <a:pPr algn="l">
              <a:defRPr sz="975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Coverage</a:t>
            </a:r>
          </a:p>
          <a:p xmlns:a="http://schemas.openxmlformats.org/drawingml/2006/main">
            <a:pPr algn="l">
              <a:defRPr sz="975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Business Utility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FFDCE6-6B3B-4E47-9B2C-4E4471CB8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2476500"/>
            <a:ext cx="13906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D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FAC466-C4BE-43A0-9CA7-8A450B699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609850"/>
            <a:ext cx="1085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8201B"/>
                </a:solidFill>
                <a:latin typeface="Aptos"/>
                <a:ea typeface="Aptos"/>
                <a:cs typeface="Aptos"/>
              </a:rPr>
              <a:t>Demo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432254-0E42-4548-A41F-6B6111296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895600"/>
            <a:ext cx="1085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Household view</a:t>
            </a:r>
          </a:p>
          <a:p xmlns:a="http://schemas.openxmlformats.org/drawingml/2006/main">
            <a:pPr algn="l">
              <a:defRPr sz="975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Top-10 products</a:t>
            </a:r>
          </a:p>
          <a:p xmlns:a="http://schemas.openxmlformats.org/drawingml/2006/main">
            <a:pPr algn="l">
              <a:defRPr sz="975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Budget slider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CB559CD-1797-45EF-AD83-7BE05BD56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238500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26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31EB411-4141-41F8-A2B4-8842B66F1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238500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26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8B77A86-B5C3-45D9-A4FA-121E3A94F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238500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26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68B3E79-62AD-4CAD-962D-B062C042D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238500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26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1F8DCD0-DA33-489F-8424-8F98BC04A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238500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26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C4ED8B6-5D4E-4F6B-83E3-E908B7A4F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76800"/>
            <a:ext cx="9906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8201B"/>
                </a:solidFill>
                <a:latin typeface="Aptos"/>
                <a:ea typeface="Aptos"/>
                <a:cs typeface="Aptos"/>
              </a:rPr>
              <a:t>Shared contract: every model emits raw household_id, product_id, base_score, model_name, and base_rank so downstream reranking and demo code stay stable.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2590819-D6F0-4914-B49B-CC338BC1A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C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3B33639-5F3A-48FC-9395-A7AA5A297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PromoMind Project 2 Proposal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8F83BEB-3905-49D8-A1B9-C09ED3537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389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75728844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2935A65-5459-4619-8ACF-CCFA6A28A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4BC47C-1F6D-4F52-A357-8CDF51377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5C9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EB37EF-881F-4C18-A0A7-260D1ABDA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09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B5C9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B5C9E"/>
                </a:solidFill>
                <a:latin typeface="Aptos"/>
                <a:ea typeface="Aptos"/>
                <a:cs typeface="Aptos"/>
              </a:rPr>
              <a:t>ALGORITHMS TO IMPLEMENT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631DA9-2096-4E14-A656-EB964C8E7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8572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01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8201B"/>
                </a:solidFill>
                <a:latin typeface="Aptos Display"/>
                <a:ea typeface="Aptos Display"/>
                <a:cs typeface="Aptos Display"/>
              </a:rPr>
              <a:t>We will compare grocery baselines against implicit-feedback recommenders.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92B2AD-9406-4F25-8715-B5EDC40C2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8096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The model ladder keeps the project complete even if bonus deep models take longer.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117C2F-8BAB-4689-BBCF-60FD03F35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33625"/>
            <a:ext cx="3048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E5"/>
          </a:solidFill>
          <a:ln xmlns:a="http://schemas.openxmlformats.org/drawingml/2006/main" w="9525">
            <a:solidFill>
              <a:srgbClr val="146B4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C54EBE-993A-4DDD-855D-0DF3B105F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24125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4D"/>
          </a:solidFill>
          <a:ln xmlns:a="http://schemas.openxmlformats.org/drawingml/2006/main" w="9525">
            <a:solidFill>
              <a:srgbClr val="DCEE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B41F19-ACEE-4277-892D-88EB7F32F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90800"/>
            <a:ext cx="819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Required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44D071-0B12-4244-B71A-0D6AC0EF1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00375"/>
            <a:ext cx="2476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01B"/>
                </a:solidFill>
                <a:latin typeface="Aptos"/>
                <a:ea typeface="Aptos"/>
                <a:cs typeface="Aptos"/>
              </a:rPr>
              <a:t>Popularity</a:t>
            </a:r>
          </a:p>
          <a:p xmlns:a="http://schemas.openxmlformats.org/drawingml/2006/main">
            <a:pPr algn="l">
              <a:defRPr sz="1575" b="1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01B"/>
                </a:solidFill>
                <a:latin typeface="Aptos"/>
                <a:ea typeface="Aptos"/>
                <a:cs typeface="Aptos"/>
              </a:rPr>
              <a:t>Category Popularity</a:t>
            </a:r>
          </a:p>
          <a:p xmlns:a="http://schemas.openxmlformats.org/drawingml/2006/main">
            <a:pPr algn="l">
              <a:defRPr sz="1575" b="1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01B"/>
                </a:solidFill>
                <a:latin typeface="Aptos"/>
                <a:ea typeface="Aptos"/>
                <a:cs typeface="Aptos"/>
              </a:rPr>
              <a:t>Implicit ALS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1DFE71-9D5D-4E98-BC76-27A86C1EB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333625"/>
            <a:ext cx="3048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CF8"/>
          </a:solidFill>
          <a:ln xmlns:a="http://schemas.openxmlformats.org/drawingml/2006/main" w="9525">
            <a:solidFill>
              <a:srgbClr val="2B5C9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B3ADDA-2D67-4591-99E2-C7FE12690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524125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5C9E"/>
          </a:solidFill>
          <a:ln xmlns:a="http://schemas.openxmlformats.org/drawingml/2006/main" w="9525">
            <a:solidFill>
              <a:srgbClr val="DCEE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3A93B0-30EA-4467-BF45-52DFBCB9D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590800"/>
            <a:ext cx="819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Standard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A13560-AA96-4E7E-A7AD-746BBE14D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000375"/>
            <a:ext cx="2476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01B"/>
                </a:solidFill>
                <a:latin typeface="Aptos"/>
                <a:ea typeface="Aptos"/>
                <a:cs typeface="Aptos"/>
              </a:rPr>
              <a:t>ItemKNN</a:t>
            </a:r>
          </a:p>
          <a:p xmlns:a="http://schemas.openxmlformats.org/drawingml/2006/main">
            <a:pPr algn="l">
              <a:defRPr sz="1575" b="1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01B"/>
                </a:solidFill>
                <a:latin typeface="Aptos"/>
                <a:ea typeface="Aptos"/>
                <a:cs typeface="Aptos"/>
              </a:rPr>
              <a:t>BPR matrix factorization</a:t>
            </a:r>
          </a:p>
          <a:p xmlns:a="http://schemas.openxmlformats.org/drawingml/2006/main">
            <a:pPr algn="l">
              <a:defRPr sz="1575" b="1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01B"/>
                </a:solidFill>
                <a:latin typeface="Aptos"/>
                <a:ea typeface="Aptos"/>
                <a:cs typeface="Aptos"/>
              </a:rPr>
              <a:t>ALS tuning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20F471-6736-4465-9D37-8E5A0AEA5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33625"/>
            <a:ext cx="3048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7D2"/>
          </a:solidFill>
          <a:ln xmlns:a="http://schemas.openxmlformats.org/drawingml/2006/main" w="9525">
            <a:solidFill>
              <a:srgbClr val="B96F1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4D6216-D486-4030-ADBC-C31A3F70C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524125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F13"/>
          </a:solidFill>
          <a:ln xmlns:a="http://schemas.openxmlformats.org/drawingml/2006/main" w="9525">
            <a:solidFill>
              <a:srgbClr val="DCEEE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37C9C4-256F-4A7D-BA26-2498906C3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590800"/>
            <a:ext cx="819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Bonus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F54011-761A-4993-86C9-514938C93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000375"/>
            <a:ext cx="2476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01B"/>
                </a:solidFill>
                <a:latin typeface="Aptos"/>
                <a:ea typeface="Aptos"/>
                <a:cs typeface="Aptos"/>
              </a:rPr>
              <a:t>LightGCN via RecBole</a:t>
            </a:r>
          </a:p>
          <a:p xmlns:a="http://schemas.openxmlformats.org/drawingml/2006/main">
            <a:pPr algn="l">
              <a:defRPr sz="1575" b="1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01B"/>
                </a:solidFill>
                <a:latin typeface="Aptos"/>
                <a:ea typeface="Aptos"/>
                <a:cs typeface="Aptos"/>
              </a:rPr>
              <a:t>Graph-based candidates</a:t>
            </a:r>
          </a:p>
          <a:p xmlns:a="http://schemas.openxmlformats.org/drawingml/2006/main">
            <a:pPr algn="l">
              <a:defRPr sz="1575" b="1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01B"/>
                </a:solidFill>
                <a:latin typeface="Aptos"/>
                <a:ea typeface="Aptos"/>
                <a:cs typeface="Aptos"/>
              </a:rPr>
              <a:t>Sensitivity curves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BB72EF-C3BF-4DC4-94F1-2E99992C1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29150"/>
            <a:ext cx="98869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D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A7A856-0FF5-4A1B-A2CA-D50A3D9C4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857750"/>
            <a:ext cx="228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8201B"/>
                </a:solidFill>
                <a:latin typeface="Aptos"/>
                <a:ea typeface="Aptos"/>
                <a:cs typeface="Aptos"/>
              </a:rPr>
              <a:t>Library acknowledgements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4315AC-979E-4F55-82A9-F30424951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8577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5C9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C929CB-90F5-4003-87E1-DA2EAE299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781550"/>
            <a:ext cx="6686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8201B"/>
                </a:solidFill>
                <a:latin typeface="Aptos"/>
                <a:ea typeface="Aptos"/>
                <a:cs typeface="Aptos"/>
              </a:rPr>
              <a:t>implicit for implicit-feedback ALS/BPR-style models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875229-0008-44B7-B717-478CC451C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50958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5C9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885DFD3-F31B-47EA-8981-DD5066BE2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019675"/>
            <a:ext cx="6686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8201B"/>
                </a:solidFill>
                <a:latin typeface="Aptos"/>
                <a:ea typeface="Aptos"/>
                <a:cs typeface="Aptos"/>
              </a:rPr>
              <a:t>RecBole if LightGCN is attempted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84384F-C621-4550-AB9F-DBB92885A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53340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5C9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E33B27-C57F-49B6-9759-52D74B5E4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257800"/>
            <a:ext cx="6686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8201B"/>
                </a:solidFill>
                <a:latin typeface="Aptos"/>
                <a:ea typeface="Aptos"/>
                <a:cs typeface="Aptos"/>
              </a:rPr>
              <a:t>Cornac as an optional course-aligned experiment framework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0307A64-96DB-41AE-8425-314E1BA08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C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F7CAB13-605A-4D8D-94A6-7096B1A41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PromoMind Project 2 Proposal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D57FC04-5C36-4310-8351-1B2C99B13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389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26804940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2CC259D-786A-4CEA-B167-68BDCB781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FE7047-C434-4DC2-8F3F-38EC7A31F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F1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6C29C4-CB17-45CC-85A4-558F7640B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09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96F1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96F13"/>
                </a:solidFill>
                <a:latin typeface="Aptos"/>
                <a:ea typeface="Aptos"/>
                <a:cs typeface="Aptos"/>
              </a:rPr>
              <a:t>X-FACTOR: PROMOTION-AWARE RERANKING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2450CB-82C0-4AF2-AFB9-C1F8D33A2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8572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01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8201B"/>
                </a:solidFill>
                <a:latin typeface="Aptos Display"/>
                <a:ea typeface="Aptos Display"/>
                <a:cs typeface="Aptos Display"/>
              </a:rPr>
              <a:t>The second stage decides what is worth pushing.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DAA70F-CFEC-465A-8642-1642C772A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8096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Base relevance stays central, but marketing signals and estimated discount cost shape the final order.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C387BE-3E50-44DB-8E3C-323522941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90750"/>
            <a:ext cx="10382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15"/>
          </a:solidFill>
          <a:ln xmlns:a="http://schemas.openxmlformats.org/drawingml/2006/main" w="9525">
            <a:solidFill>
              <a:srgbClr val="11181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7130BA-99F1-4958-A3A8-E0E991CAE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90775"/>
            <a:ext cx="981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final_score = alpha * base + beta * promotion + gamma * coupon - lambda * discount_cost + rho * diversity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DA6F34-59E3-46D6-97ED-CD52B0E67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76625"/>
            <a:ext cx="1952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D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CB61DB-3CB7-45AE-93AC-61573381F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09975"/>
            <a:ext cx="16478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B5C9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B5C9E"/>
                </a:solidFill>
                <a:latin typeface="Aptos"/>
                <a:ea typeface="Aptos"/>
                <a:cs typeface="Aptos"/>
              </a:rPr>
              <a:t>Base score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606EBC-F862-4AE8-9C4C-1293F35FC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95725"/>
            <a:ext cx="16478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Candidate relevance from ALS/BPR/other model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392E1D-B00B-4B74-8D0F-4E74D64F0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476625"/>
            <a:ext cx="1952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CF8"/>
          </a:solidFill>
          <a:ln xmlns:a="http://schemas.openxmlformats.org/drawingml/2006/main" w="9525">
            <a:solidFill>
              <a:srgbClr val="2B5C9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B4193A-A6C9-4572-8EB6-C37F9FD95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609975"/>
            <a:ext cx="16478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B5C9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B5C9E"/>
                </a:solidFill>
                <a:latin typeface="Aptos"/>
                <a:ea typeface="Aptos"/>
                <a:cs typeface="Aptos"/>
              </a:rPr>
              <a:t>Promotion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91608B-BBF7-4150-B81B-40107B42E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895725"/>
            <a:ext cx="16478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Target-week product exposure signal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B15B13-C76B-4972-B6A5-1F580A807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476625"/>
            <a:ext cx="1952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E5"/>
          </a:solidFill>
          <a:ln xmlns:a="http://schemas.openxmlformats.org/drawingml/2006/main" w="9525">
            <a:solidFill>
              <a:srgbClr val="146B4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9F68C7-CBFF-4C7D-A2FE-98CAF1124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609975"/>
            <a:ext cx="16478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6B4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46B4D"/>
                </a:solidFill>
                <a:latin typeface="Aptos"/>
                <a:ea typeface="Aptos"/>
                <a:cs typeface="Aptos"/>
              </a:rPr>
              <a:t>Coupon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FAAE6E-40AB-4967-AA8D-E54195C6C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895725"/>
            <a:ext cx="16478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Household/product campaign eligibility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8D6525-388B-4970-9DCB-8040E5C0A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476625"/>
            <a:ext cx="1952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DDB"/>
          </a:solidFill>
          <a:ln xmlns:a="http://schemas.openxmlformats.org/drawingml/2006/main" w="9525">
            <a:solidFill>
              <a:srgbClr val="9C3B3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186859-133D-47D3-9661-90999DFF0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609975"/>
            <a:ext cx="16478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C3B3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9C3B38"/>
                </a:solidFill>
                <a:latin typeface="Aptos"/>
                <a:ea typeface="Aptos"/>
                <a:cs typeface="Aptos"/>
              </a:rPr>
              <a:t>Discount cost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436874-406C-4DED-A6FB-CCCE83DEB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895725"/>
            <a:ext cx="16478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Proxy from retail and coupon discounts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AA6BBF-BA0C-41B3-87E2-D72849546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476625"/>
            <a:ext cx="1809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7D2"/>
          </a:solidFill>
          <a:ln xmlns:a="http://schemas.openxmlformats.org/drawingml/2006/main" w="9525">
            <a:solidFill>
              <a:srgbClr val="B96F1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AE2550-D5EF-4B4F-95A6-4F22BC127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609975"/>
            <a:ext cx="1504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96F1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96F13"/>
                </a:solidFill>
                <a:latin typeface="Aptos"/>
                <a:ea typeface="Aptos"/>
                <a:cs typeface="Aptos"/>
              </a:rPr>
              <a:t>Diversity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97B38E-E0DB-4191-AF42-09519C203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895725"/>
            <a:ext cx="15049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Avoid one-category recommendation lists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B2CDEB-BF5E-4958-881E-B7E088492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124200"/>
            <a:ext cx="2857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26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D08DCCF-C88D-4814-95BE-DDDC380FB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124200"/>
            <a:ext cx="2857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26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17C28E1-E4B5-44BC-BA7C-4AC1FFFFE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124200"/>
            <a:ext cx="2857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26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AEDCF9B-0496-4D14-91E8-992E4A3E2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124200"/>
            <a:ext cx="2857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26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5A37675-50D4-4E86-A720-128C5D5C7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124200"/>
            <a:ext cx="2857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26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9CF3A3F-84D8-4286-AB05-BC81D85C9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0"/>
            <a:ext cx="161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3B38"/>
          </a:solidFill>
          <a:ln xmlns:a="http://schemas.openxmlformats.org/drawingml/2006/main" w="9525">
            <a:solidFill>
              <a:srgbClr val="DCEEE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FC10990-C1AE-4818-9085-E7B122152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10175"/>
            <a:ext cx="1390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Important wording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CF864B8-6A7D-47D5-9043-1E815DD0F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143500"/>
            <a:ext cx="857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8201B"/>
                </a:solidFill>
                <a:latin typeface="Aptos"/>
                <a:ea typeface="Aptos"/>
                <a:cs typeface="Aptos"/>
              </a:rPr>
              <a:t>This is an observational decision proxy, not causal coupon uplift or true profit, because margin and randomized treatment labels are unavailable.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1300793-98F8-460F-8FBC-B63BC0D77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C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B568958-856B-4F8A-B397-2F9ACFC3A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PromoMind Project 2 Proposal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F988DD7-1D0A-42B6-AB02-4237076DD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389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84470427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56A67DA-990A-43AB-ABDB-F4EF744C6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CCBF45-F654-4A41-847D-CCAE52580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3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8A818F-01DE-49BF-86D9-3753AC41D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09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C3B3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C3B38"/>
                </a:solidFill>
                <a:latin typeface="Aptos"/>
                <a:ea typeface="Aptos"/>
                <a:cs typeface="Aptos"/>
              </a:rPr>
              <a:t>RESEARCH QUESTIONS AND EXPERIMENTS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4266AE-25B0-4F33-BD36-DD98ACBEA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8572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01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8201B"/>
                </a:solidFill>
                <a:latin typeface="Aptos Display"/>
                <a:ea typeface="Aptos Display"/>
                <a:cs typeface="Aptos Display"/>
              </a:rPr>
              <a:t>We evaluate PromoMind as a recommender systems study.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D5C6E5-A198-4C80-92AF-992CF6998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8096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The demo is the artifact; the research value comes from controlled model comparisons and reranking ablations.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E83DBC-9FAE-404F-8E96-F533E3178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09800"/>
            <a:ext cx="333375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D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C1CD15-0F52-4669-9FCF-D7A4F2685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38400"/>
            <a:ext cx="17621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CF8"/>
          </a:solidFill>
          <a:ln xmlns:a="http://schemas.openxmlformats.org/drawingml/2006/main" w="9525">
            <a:solidFill>
              <a:srgbClr val="DCEE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097E43-5CF5-4D07-BED6-3056D1F34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05075"/>
            <a:ext cx="15335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B5C9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B5C9E"/>
                </a:solidFill>
                <a:latin typeface="Aptos"/>
                <a:ea typeface="Aptos"/>
                <a:cs typeface="Aptos"/>
              </a:rPr>
              <a:t>Research questions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956282-34AF-4D2D-9114-D00E51487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289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5C9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D340D5-A1EC-4759-898A-B88D9BBEA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52750"/>
            <a:ext cx="2686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8201B"/>
                </a:solidFill>
                <a:latin typeface="Aptos"/>
                <a:ea typeface="Aptos"/>
                <a:cs typeface="Aptos"/>
              </a:rPr>
              <a:t>RQ1: best grocery candidate model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DD5E3D-D383-4507-ACB6-4A881A887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432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5C9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A6077D-C22A-48AB-8D9F-DEC53B9DC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67075"/>
            <a:ext cx="2686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8201B"/>
                </a:solidFill>
                <a:latin typeface="Aptos"/>
                <a:ea typeface="Aptos"/>
                <a:cs typeface="Aptos"/>
              </a:rPr>
              <a:t>RQ2: promotion/coupon signal value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CFFF85-A24D-4677-B0A5-FE5FF7DCF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576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5C9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EEA47D-689E-4D64-AFAE-AA4CC5A3B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581400"/>
            <a:ext cx="2686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8201B"/>
                </a:solidFill>
                <a:latin typeface="Aptos"/>
                <a:ea typeface="Aptos"/>
                <a:cs typeface="Aptos"/>
              </a:rPr>
              <a:t>RQ3: discount-cost trade-off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C8A124-B4A8-43B4-8EC4-DC19AF7EA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719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5C9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4EF314-F031-40BF-9900-011C41DE8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95725"/>
            <a:ext cx="2686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8201B"/>
                </a:solidFill>
                <a:latin typeface="Aptos"/>
                <a:ea typeface="Aptos"/>
                <a:cs typeface="Aptos"/>
              </a:rPr>
              <a:t>RQ4: diversity vs accuracy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1E31F1-FDF4-4873-A0ED-945B0E5CD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209800"/>
            <a:ext cx="333375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D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B059EE-2CAF-4ABB-A139-71E099DFF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43840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E5"/>
          </a:solidFill>
          <a:ln xmlns:a="http://schemas.openxmlformats.org/drawingml/2006/main" w="9525">
            <a:solidFill>
              <a:srgbClr val="DCEEE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AB2AA1-9811-4CEB-9727-15C191760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505075"/>
            <a:ext cx="819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46B4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46B4D"/>
                </a:solidFill>
                <a:latin typeface="Aptos"/>
                <a:ea typeface="Aptos"/>
                <a:cs typeface="Aptos"/>
              </a:rPr>
              <a:t>Metrics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A9587E-0911-4952-A0A8-C4DB53E73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0289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B59DAA-D0E9-461E-8B9E-37AA99447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2952750"/>
            <a:ext cx="26860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01B"/>
                </a:solidFill>
                <a:latin typeface="Aptos"/>
                <a:ea typeface="Aptos"/>
                <a:cs typeface="Aptos"/>
              </a:rPr>
              <a:t>Recall@10 / Recall@20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5891DA-4171-45D0-AA08-C1D148DDE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3147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766C9A-72A7-4D46-A202-CEB620299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3238500"/>
            <a:ext cx="26860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01B"/>
                </a:solidFill>
                <a:latin typeface="Aptos"/>
                <a:ea typeface="Aptos"/>
                <a:cs typeface="Aptos"/>
              </a:rPr>
              <a:t>NDCG@10 / NDCG@20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C4E855-B9CB-416D-9E0B-85CE2ADC9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6004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08AD74B-5816-4C14-9FDC-97B57D6A9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3524250"/>
            <a:ext cx="26860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01B"/>
                </a:solidFill>
                <a:latin typeface="Aptos"/>
                <a:ea typeface="Aptos"/>
                <a:cs typeface="Aptos"/>
              </a:rPr>
              <a:t>Coverage, diversity, novelty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AFCEE9D-4195-4273-AF85-13C9E7A0E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8862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0C02783-006F-4214-983E-24AA8DD06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3810000"/>
            <a:ext cx="26860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01B"/>
                </a:solidFill>
                <a:latin typeface="Aptos"/>
                <a:ea typeface="Aptos"/>
                <a:cs typeface="Aptos"/>
              </a:rPr>
              <a:t>Business Utility@K proxy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451A94D-AE22-4066-A151-D45CB3DBF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09800"/>
            <a:ext cx="333375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D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AE14DE5-0DA4-403B-BCDB-949ED88F3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43840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7D2"/>
          </a:solidFill>
          <a:ln xmlns:a="http://schemas.openxmlformats.org/drawingml/2006/main" w="9525">
            <a:solidFill>
              <a:srgbClr val="DCEEE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F407CB3-5E20-4F03-AB8D-248287B43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505075"/>
            <a:ext cx="91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B96F1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B96F13"/>
                </a:solidFill>
                <a:latin typeface="Aptos"/>
                <a:ea typeface="Aptos"/>
                <a:cs typeface="Aptos"/>
              </a:rPr>
              <a:t>Ablations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C8EE669-A063-4C6F-BEED-7B85943F0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0289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F1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94F119E-1562-4AA7-A6DE-CBB6C48E4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952750"/>
            <a:ext cx="26860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01B"/>
                </a:solidFill>
                <a:latin typeface="Aptos"/>
                <a:ea typeface="Aptos"/>
                <a:cs typeface="Aptos"/>
              </a:rPr>
              <a:t>Base only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D12524C-AC7E-48B6-8367-FD38E7F3D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3147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F1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7D8EAEE-8D85-453D-905E-4E57E8DEF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238500"/>
            <a:ext cx="26860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01B"/>
                </a:solidFill>
                <a:latin typeface="Aptos"/>
                <a:ea typeface="Aptos"/>
                <a:cs typeface="Aptos"/>
              </a:rPr>
              <a:t>+ Promotion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58744CF-9B84-49CF-A6F1-668C00E74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6004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F1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153B82C-4009-44F0-9130-A4B1A4B5A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524250"/>
            <a:ext cx="26860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01B"/>
                </a:solidFill>
                <a:latin typeface="Aptos"/>
                <a:ea typeface="Aptos"/>
                <a:cs typeface="Aptos"/>
              </a:rPr>
              <a:t>+ Coupon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084B440-4656-46B9-A720-218D778C6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8862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F1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EE6CF29-E486-4E27-B2CD-BADDC7148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810000"/>
            <a:ext cx="26860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01B"/>
                </a:solidFill>
                <a:latin typeface="Aptos"/>
                <a:ea typeface="Aptos"/>
                <a:cs typeface="Aptos"/>
              </a:rPr>
              <a:t>- Discount cost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878E7E8-174B-4FB1-86CD-35171A17B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1719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F1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2FDA3B8-002F-4D9B-BAED-4AC0708C4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095750"/>
            <a:ext cx="26860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01B"/>
                </a:solidFill>
                <a:latin typeface="Aptos"/>
                <a:ea typeface="Aptos"/>
                <a:cs typeface="Aptos"/>
              </a:rPr>
              <a:t>+ Diversity full rerank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9BA7950-18D2-47D7-92E6-3BE4A637C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72050"/>
            <a:ext cx="108394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DDB"/>
          </a:solidFill>
          <a:ln xmlns:a="http://schemas.openxmlformats.org/drawingml/2006/main" w="9525">
            <a:solidFill>
              <a:srgbClr val="9C3B3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D351420-414A-4AC9-99FF-14353797E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244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01B"/>
                </a:solidFill>
                <a:latin typeface="Aptos"/>
                <a:ea typeface="Aptos"/>
                <a:cs typeface="Aptos"/>
              </a:rPr>
              <a:t>Guardrail: select reranking weights on validation with Business Utility@K, but keep Recall/NDCG degradation visible.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21A702E-8C5F-431C-8727-247D711EC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C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6FCADE9-2910-4C3B-84FE-759EF41D4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PromoMind Project 2 Proposal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53F800D-EEDB-40C3-9240-40AD641FB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389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29898107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3DA76B1-C997-4BE7-9DE7-57ED9CD57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81FC7B-DD44-4C44-8CE3-7CA580E2D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CED97B-791B-43BE-B118-C919E901D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09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46B4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46B4D"/>
                </a:solidFill>
                <a:latin typeface="Aptos"/>
                <a:ea typeface="Aptos"/>
                <a:cs typeface="Aptos"/>
              </a:rPr>
              <a:t>RESEARCH CONTRIBUTION AND DEMO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129661-D7A3-41A4-B06C-8B6A1F764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8572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01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8201B"/>
                </a:solidFill>
                <a:latin typeface="Aptos Display"/>
                <a:ea typeface="Aptos Display"/>
                <a:cs typeface="Aptos Display"/>
              </a:rPr>
              <a:t>The demo visualizes the recommendation trade-offs.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E64548-633B-4BA6-8339-E75AC6122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8096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Streamlit will show household context, ranked products, coupon flags, explanations, and budget behavior; evidence still comes from offline evaluation.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DB69A8-D37C-48FE-9E04-87EBCDD0F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2476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15"/>
          </a:solidFill>
          <a:ln xmlns:a="http://schemas.openxmlformats.org/drawingml/2006/main" w="9525">
            <a:solidFill>
              <a:srgbClr val="11181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EB27E6-B7C3-49D1-B002-4D99AECF8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1935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Controls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53EC91-EB92-4299-B862-2DC561DE4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05125"/>
            <a:ext cx="2000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D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2E535A-15D8-40D1-BFFE-678E9AB72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38475"/>
            <a:ext cx="1695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8201B"/>
                </a:solidFill>
                <a:latin typeface="Aptos"/>
                <a:ea typeface="Aptos"/>
                <a:cs typeface="Aptos"/>
              </a:rPr>
              <a:t>Household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624ABF-E512-49FD-AAF6-A91C69B38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24225"/>
            <a:ext cx="1695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Select household_id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CFB64F-3629-4085-ACDF-A4FB9E388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14750"/>
            <a:ext cx="2000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D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A28578-972F-47A1-8505-0EF12E3B2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48100"/>
            <a:ext cx="1695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8201B"/>
                </a:solidFill>
                <a:latin typeface="Aptos"/>
                <a:ea typeface="Aptos"/>
                <a:cs typeface="Aptos"/>
              </a:rPr>
              <a:t>Model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D38A39-D2D3-4214-BB1C-3B8D05B6A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33850"/>
            <a:ext cx="1695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ALS vs reranked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FFBE34-A1C8-469F-A0C9-C49827D51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24375"/>
            <a:ext cx="2000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E5"/>
          </a:solidFill>
          <a:ln xmlns:a="http://schemas.openxmlformats.org/drawingml/2006/main" w="9525">
            <a:solidFill>
              <a:srgbClr val="146B4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52D765-A3AD-4D17-AE22-85B7110F4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57725"/>
            <a:ext cx="1695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6B4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46B4D"/>
                </a:solidFill>
                <a:latin typeface="Aptos"/>
                <a:ea typeface="Aptos"/>
                <a:cs typeface="Aptos"/>
              </a:rPr>
              <a:t>Budget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1DE06B-32B8-4AE5-ABE1-709D2D3B4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43475"/>
            <a:ext cx="1695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Coupon count or discount-cost limit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00A8DF-11FC-4176-861A-28B9FD7F2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190750"/>
            <a:ext cx="7620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D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AABCA2-AB3B-4904-BB52-F266B4DAA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438400"/>
            <a:ext cx="2190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CF8"/>
          </a:solidFill>
          <a:ln xmlns:a="http://schemas.openxmlformats.org/drawingml/2006/main" w="9525">
            <a:solidFill>
              <a:srgbClr val="DCEEE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5DE5EE-5181-4574-B778-D0A30F2E0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505075"/>
            <a:ext cx="1962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B5C9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B5C9E"/>
                </a:solidFill>
                <a:latin typeface="Aptos"/>
                <a:ea typeface="Aptos"/>
                <a:cs typeface="Aptos"/>
              </a:rPr>
              <a:t>Top-10 recommendation table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4E0C1E-882C-47A7-994C-819D31309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971800"/>
            <a:ext cx="57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267"/>
                </a:solidFill>
                <a:latin typeface="Aptos"/>
                <a:ea typeface="Aptos"/>
                <a:cs typeface="Aptos"/>
              </a:rPr>
              <a:t>Rank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BA8BCA-445C-4B6B-A3A0-73BED4E1D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971800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267"/>
                </a:solidFill>
                <a:latin typeface="Aptos"/>
                <a:ea typeface="Aptos"/>
                <a:cs typeface="Aptos"/>
              </a:rPr>
              <a:t>Product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E5E2DBE-C71B-43CD-87B7-ACA011039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971800"/>
            <a:ext cx="1381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267"/>
                </a:solidFill>
                <a:latin typeface="Aptos"/>
                <a:ea typeface="Aptos"/>
                <a:cs typeface="Aptos"/>
              </a:rPr>
              <a:t>Category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5D36D4-AF72-4852-82A8-FEB573FC6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971800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267"/>
                </a:solidFill>
                <a:latin typeface="Aptos"/>
                <a:ea typeface="Aptos"/>
                <a:cs typeface="Aptos"/>
              </a:rPr>
              <a:t>Coupon?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CE1769-6291-4F4C-9DBA-C6581F091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97180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267"/>
                </a:solidFill>
                <a:latin typeface="Aptos"/>
                <a:ea typeface="Aptos"/>
                <a:cs typeface="Aptos"/>
              </a:rPr>
              <a:t>Reason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28B13B3-F91D-46E3-9CBB-C160E1169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257550"/>
            <a:ext cx="1028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C79B791-B6DC-4C04-B77B-BFBBC3CD6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31470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8201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0FDA41C-7FDF-4181-B8E6-96D5023DB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31470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8201B"/>
                </a:solidFill>
                <a:latin typeface="Aptos"/>
                <a:ea typeface="Aptos"/>
                <a:cs typeface="Aptos"/>
              </a:rPr>
              <a:t>Candidate product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412C794-67ED-4B78-A379-D0792E50E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314700"/>
            <a:ext cx="13811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8201B"/>
                </a:solidFill>
                <a:latin typeface="Aptos"/>
                <a:ea typeface="Aptos"/>
                <a:cs typeface="Aptos"/>
              </a:rPr>
              <a:t>Frequent category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BBE4E6B-5377-4E8E-A038-349288339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31470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6B4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46B4D"/>
                </a:solidFill>
                <a:latin typeface="Aptos"/>
                <a:ea typeface="Aptos"/>
                <a:cs typeface="Aptos"/>
              </a:rPr>
              <a:t>Yes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099C5D4-F685-463C-B55D-7CC0A86DF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31470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Coupon eligible; high ALS score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0FBB684-F8C7-4BBA-83C4-79D8CCE8D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657600"/>
            <a:ext cx="1028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5E37655-6DCB-45A6-AF9D-29FBAAD22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7147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8201B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2566290-B0C3-46F0-A83D-BEF30A0E4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71475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8201B"/>
                </a:solidFill>
                <a:latin typeface="Aptos"/>
                <a:ea typeface="Aptos"/>
                <a:cs typeface="Aptos"/>
              </a:rPr>
              <a:t>Product option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2E0D3DB-A07E-4A23-9E28-775EDCE1C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714750"/>
            <a:ext cx="13811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8201B"/>
                </a:solidFill>
                <a:latin typeface="Aptos"/>
                <a:ea typeface="Aptos"/>
                <a:cs typeface="Aptos"/>
              </a:rPr>
              <a:t>Household category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7944900-3315-486F-8DC7-A9D337996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71475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6B4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46B4D"/>
                </a:solidFill>
                <a:latin typeface="Aptos"/>
                <a:ea typeface="Aptos"/>
                <a:cs typeface="Aptos"/>
              </a:rPr>
              <a:t>Yes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128ED4C-A6E2-41ED-BFBC-3397467AE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71475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Matches prior basket pattern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E9C617E-256A-463D-87C0-4F73AE611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057650"/>
            <a:ext cx="1028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F12C315-0CD7-4A98-97E1-A20BC83CD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11480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8201B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34FC113-41A1-46F8-89C7-723C7A708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11480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8201B"/>
                </a:solidFill>
                <a:latin typeface="Aptos"/>
                <a:ea typeface="Aptos"/>
                <a:cs typeface="Aptos"/>
              </a:rPr>
              <a:t>Product option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473957E-021F-43A3-9D22-A942C8AEC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114800"/>
            <a:ext cx="13811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8201B"/>
                </a:solidFill>
                <a:latin typeface="Aptos"/>
                <a:ea typeface="Aptos"/>
                <a:cs typeface="Aptos"/>
              </a:rPr>
              <a:t>Frequent category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B180815-1D29-4C09-8C9D-E7CB46CF1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11480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96F1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B96F13"/>
                </a:solidFill>
                <a:latin typeface="Aptos"/>
                <a:ea typeface="Aptos"/>
                <a:cs typeface="Aptos"/>
              </a:rPr>
              <a:t>Budget limited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7693DF9-E585-4A34-8D4E-5AEA7E94E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11480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Matches prior basket pattern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D386358-972C-4381-8B69-FC300C37D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457700"/>
            <a:ext cx="1028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A97A71C-0AB8-463C-A36C-66712B91A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5148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8201B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0EAE1BE-3D6C-4F4A-B993-E6A1F31C4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51485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8201B"/>
                </a:solidFill>
                <a:latin typeface="Aptos"/>
                <a:ea typeface="Aptos"/>
                <a:cs typeface="Aptos"/>
              </a:rPr>
              <a:t>Product option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07C9CD3-BAFA-4E09-8650-BFC206477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514850"/>
            <a:ext cx="13811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8201B"/>
                </a:solidFill>
                <a:latin typeface="Aptos"/>
                <a:ea typeface="Aptos"/>
                <a:cs typeface="Aptos"/>
              </a:rPr>
              <a:t>Frequent category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03275BB-B870-4D35-8221-7C2153ED0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51485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96F1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B96F13"/>
                </a:solidFill>
                <a:latin typeface="Aptos"/>
                <a:ea typeface="Aptos"/>
                <a:cs typeface="Aptos"/>
              </a:rPr>
              <a:t>Budget limited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C557798-3A18-4DF3-B3B7-CEDF7633B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51485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Matches prior basket pattern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E82516D-A801-453A-8D50-B503EEF6E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914900"/>
            <a:ext cx="742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8201B"/>
                </a:solidFill>
                <a:latin typeface="Aptos"/>
                <a:ea typeface="Aptos"/>
                <a:cs typeface="Aptos"/>
              </a:rPr>
              <a:t>The budget slider changes coupon assignment, not the underlying Top-K relevance list unless clearly labeled.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C30AB1E-283E-412D-8C21-F9D97F194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C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C20572C-1E65-4439-9517-2771D8E93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PromoMind Project 2 Proposal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3387F38-32ED-4057-A4C0-F1D50A1EC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389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32914863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A625E70-C3B9-4154-985A-A09B4B9F7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1E9DDB-A0EC-4560-9127-03DF4055C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1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19F32F-B189-4139-B582-C3673005A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09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81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1815"/>
                </a:solidFill>
                <a:latin typeface="Aptos"/>
                <a:ea typeface="Aptos"/>
                <a:cs typeface="Aptos"/>
              </a:rPr>
              <a:t>PLAN AND OWNERSHIP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DB30B3-1D3A-485C-B175-A647314A0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8572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01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8201B"/>
                </a:solidFill>
                <a:latin typeface="Aptos Display"/>
                <a:ea typeface="Aptos Display"/>
                <a:cs typeface="Aptos Display"/>
              </a:rPr>
              <a:t>The main line is feasible; bonus models do not block project completeness.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72BF84-AF16-47A5-98EB-7D1208709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8096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Each workstream owns both future implementation and its proposal section.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EFD9F0-DD2B-4909-A247-9A8350FEB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2476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E5"/>
          </a:solidFill>
          <a:ln xmlns:a="http://schemas.openxmlformats.org/drawingml/2006/main" w="9525">
            <a:solidFill>
              <a:srgbClr val="146B4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09579F-382D-4710-A823-ED5203117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7650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6B4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6B4D"/>
                </a:solidFill>
                <a:latin typeface="Aptos"/>
                <a:ea typeface="Aptos"/>
                <a:cs typeface="Aptos"/>
              </a:rPr>
              <a:t>A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6A1D44-64F7-4290-8EAC-192C0D5F4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14650"/>
            <a:ext cx="2095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8201B"/>
                </a:solidFill>
                <a:latin typeface="Aptos"/>
                <a:ea typeface="Aptos"/>
                <a:cs typeface="Aptos"/>
              </a:rPr>
              <a:t>Dataset, collection, split, EDA, leakage checks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6C87D7-2EC5-439F-A719-D7F9B77FC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266950"/>
            <a:ext cx="2476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CF8"/>
          </a:solidFill>
          <a:ln xmlns:a="http://schemas.openxmlformats.org/drawingml/2006/main" w="9525">
            <a:solidFill>
              <a:srgbClr val="2B5C9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84F7A8-7505-462D-8EA6-D65E2659A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47650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5C9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B5C9E"/>
                </a:solidFill>
                <a:latin typeface="Aptos"/>
                <a:ea typeface="Aptos"/>
                <a:cs typeface="Aptos"/>
              </a:rPr>
              <a:t>B Models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196DD1-96C7-46E9-9F47-52DAC4109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914650"/>
            <a:ext cx="2095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8201B"/>
                </a:solidFill>
                <a:latin typeface="Aptos"/>
                <a:ea typeface="Aptos"/>
                <a:cs typeface="Aptos"/>
              </a:rPr>
              <a:t>Popularity, Category Popularity, ItemKNN, ALS, BPR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9BE37B-166E-481C-A375-C71430DDC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66950"/>
            <a:ext cx="2476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7D2"/>
          </a:solidFill>
          <a:ln xmlns:a="http://schemas.openxmlformats.org/drawingml/2006/main" w="9525">
            <a:solidFill>
              <a:srgbClr val="B96F1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5BDD51-B826-45FD-96D2-2B738F49A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47650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96F1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96F13"/>
                </a:solidFill>
                <a:latin typeface="Aptos"/>
                <a:ea typeface="Aptos"/>
                <a:cs typeface="Aptos"/>
              </a:rPr>
              <a:t>C Reranking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201CAB-4356-4DAA-BFA5-F7AD8E8B6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914650"/>
            <a:ext cx="2095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8201B"/>
                </a:solidFill>
                <a:latin typeface="Aptos"/>
                <a:ea typeface="Aptos"/>
                <a:cs typeface="Aptos"/>
              </a:rPr>
              <a:t>Promotion/coupon features, discount proxy, Business Utility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C493A7-90E5-4A5D-A4A1-35A23E575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266950"/>
            <a:ext cx="2476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DDB"/>
          </a:solidFill>
          <a:ln xmlns:a="http://schemas.openxmlformats.org/drawingml/2006/main" w="9525">
            <a:solidFill>
              <a:srgbClr val="9C3B3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698401-077E-42B6-8796-B54CC969E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47650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C3B3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9C3B38"/>
                </a:solidFill>
                <a:latin typeface="Aptos"/>
                <a:ea typeface="Aptos"/>
                <a:cs typeface="Aptos"/>
              </a:rPr>
              <a:t>D Integration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02603A-3869-4391-8FFC-DBD9DCB0E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914650"/>
            <a:ext cx="2095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8201B"/>
                </a:solidFill>
                <a:latin typeface="Aptos"/>
                <a:ea typeface="Aptos"/>
                <a:cs typeface="Aptos"/>
              </a:rPr>
              <a:t>Architecture, Streamlit demo, optional LightGCN, final deck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C09FDA-C40D-44D0-82E3-7CB572154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57625"/>
            <a:ext cx="514350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D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29A086-F473-415E-896E-8FCFBCB00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86225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15"/>
          </a:solidFill>
          <a:ln xmlns:a="http://schemas.openxmlformats.org/drawingml/2006/main" w="9525">
            <a:solidFill>
              <a:srgbClr val="DCEEE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ECF618-8F76-47A2-86FC-97FAFA786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52900"/>
            <a:ext cx="1581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Minimum delivery line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0F9702-2202-45CA-8AC7-CDB8DE29F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101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A16282-517F-4C95-9A38-6FEB1A540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33900"/>
            <a:ext cx="42100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8201B"/>
                </a:solidFill>
                <a:latin typeface="Aptos"/>
                <a:ea typeface="Aptos"/>
                <a:cs typeface="Aptos"/>
              </a:rPr>
              <a:t>Chronological data split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85F0FA-60CB-411F-BB04-7F027B49F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387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683E769-BE0D-495E-8568-3453C12BC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62500"/>
            <a:ext cx="42100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8201B"/>
                </a:solidFill>
                <a:latin typeface="Aptos"/>
                <a:ea typeface="Aptos"/>
                <a:cs typeface="Aptos"/>
              </a:rPr>
              <a:t>Popularity + ALS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093DEA5-1777-4D7C-9757-29CA3D17D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673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1E81C82-2D37-4B17-8F71-ED9E03830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991100"/>
            <a:ext cx="42100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8201B"/>
                </a:solidFill>
                <a:latin typeface="Aptos"/>
                <a:ea typeface="Aptos"/>
                <a:cs typeface="Aptos"/>
              </a:rPr>
              <a:t>Promotion-aware reranking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94AC61C-A9AA-4EE0-8E06-48BB561D2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959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81F3B8A-4781-453B-AAEB-DD4D124F0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219700"/>
            <a:ext cx="42100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8201B"/>
                </a:solidFill>
                <a:latin typeface="Aptos"/>
                <a:ea typeface="Aptos"/>
                <a:cs typeface="Aptos"/>
              </a:rPr>
              <a:t>Business Utility@K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F5575FA-70ED-40CC-91A9-7F46F5E6C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245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C3C15CD-B3A2-42F5-B460-1E8692CC8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448300"/>
            <a:ext cx="42100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8201B"/>
                </a:solidFill>
                <a:latin typeface="Aptos"/>
                <a:ea typeface="Aptos"/>
                <a:cs typeface="Aptos"/>
              </a:rPr>
              <a:t>Streamlit demo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35541A9-F325-4FFF-8E8A-0C51EDDF4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57625"/>
            <a:ext cx="514350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D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5EA8141-4DA3-45DC-946C-EDE133498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086225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3B38"/>
          </a:solidFill>
          <a:ln xmlns:a="http://schemas.openxmlformats.org/drawingml/2006/main" w="9525">
            <a:solidFill>
              <a:srgbClr val="DCEEE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5B4D08C-AE48-4C14-8423-02D75C45E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152900"/>
            <a:ext cx="1200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Risks controlled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2B40D2D-92F5-4330-9959-5B6AFB8EF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6101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3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11C35E0-F144-4A40-AB23-6DCD9026A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533900"/>
            <a:ext cx="43053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8201B"/>
                </a:solidFill>
                <a:latin typeface="Aptos"/>
                <a:ea typeface="Aptos"/>
                <a:cs typeface="Aptos"/>
              </a:rPr>
              <a:t>Coupon redemption is sparse: auxiliary signal only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02AB968-31A4-4901-951F-6AAC0EAF2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8387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3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BCC5D15-2A0E-4874-BD8D-E4EFD80AD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762500"/>
            <a:ext cx="43053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8201B"/>
                </a:solidFill>
                <a:latin typeface="Aptos"/>
                <a:ea typeface="Aptos"/>
                <a:cs typeface="Aptos"/>
              </a:rPr>
              <a:t>Demographics are partial: optional analysis/demo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44CC54B-2CCC-4922-A551-C269D26D6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0673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3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D5855EA-9EAC-463A-A48C-E159E62BA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991100"/>
            <a:ext cx="43053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8201B"/>
                </a:solidFill>
                <a:latin typeface="Aptos"/>
                <a:ea typeface="Aptos"/>
                <a:cs typeface="Aptos"/>
              </a:rPr>
              <a:t>No margin data: use proxy, not profit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2B3AE49-7E7C-4245-B9E3-9F47CEC0B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2959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3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93DAB6C-1D6B-4225-9D8E-73938FD0A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219700"/>
            <a:ext cx="43053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8201B"/>
                </a:solidFill>
                <a:latin typeface="Aptos"/>
                <a:ea typeface="Aptos"/>
                <a:cs typeface="Aptos"/>
              </a:rPr>
              <a:t>LightGCN is bonus, not blocker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8A0FB85-9122-486B-8482-8F77388A4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62650"/>
            <a:ext cx="952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01B"/>
                </a:solidFill>
                <a:latin typeface="Aptos"/>
                <a:ea typeface="Aptos"/>
                <a:cs typeface="Aptos"/>
              </a:rPr>
              <a:t>Feedback wanted: chronological split, reranking proxy, and evaluation scope.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0A1C26A-9FFE-485D-BF9F-0CC60853B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C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F581494-8807-425B-AB96-269F238E6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PromoMind Project 2 Proposal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328DBCA-7404-4C61-9216-E3690883D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389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7332125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2026-06-02T08:41:52.4780000Z</dcterms:created>
  <dcterms:modified xsi:type="dcterms:W3CDTF">2026-06-02T08:41:52.4780000Z</dcterms:modified>
</coreProperties>
</file>