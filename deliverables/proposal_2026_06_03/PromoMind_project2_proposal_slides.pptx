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ed07707cee4bc2" /><Relationship Type="http://schemas.openxmlformats.org/officeDocument/2006/relationships/extended-properties" Target="/docProps/app.xml" Id="R0d0615b1548548cf" /><Relationship Type="http://schemas.openxmlformats.org/officeDocument/2006/relationships/officeDocument" Target="/ppt/presentation.xml" Id="Rcfa2215de6704a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60d014e22a4562"/>
  </p:sldMasterIdLst>
  <p:notesMasterIdLst>
    <p:notesMasterId xmlns:r="http://schemas.openxmlformats.org/officeDocument/2006/relationships" r:id="Rd2e43cd3831b499a"/>
  </p:notesMasterIdLst>
  <p:sldIdLst>
    <p:sldId xmlns:r="http://schemas.openxmlformats.org/officeDocument/2006/relationships" id="256" r:id="Raf837e43db51409b"/>
    <p:sldId xmlns:r="http://schemas.openxmlformats.org/officeDocument/2006/relationships" id="257" r:id="Rad72e6a366d447f1"/>
    <p:sldId xmlns:r="http://schemas.openxmlformats.org/officeDocument/2006/relationships" id="258" r:id="Re0202f85da964bd4"/>
    <p:sldId xmlns:r="http://schemas.openxmlformats.org/officeDocument/2006/relationships" id="259" r:id="R84d6e6faad9048eb"/>
    <p:sldId xmlns:r="http://schemas.openxmlformats.org/officeDocument/2006/relationships" id="260" r:id="Rad799f77a3ab420d"/>
    <p:sldId xmlns:r="http://schemas.openxmlformats.org/officeDocument/2006/relationships" id="261" r:id="R690ab79f4837429e"/>
    <p:sldId xmlns:r="http://schemas.openxmlformats.org/officeDocument/2006/relationships" id="262" r:id="R04f12c217319425f"/>
    <p:sldId xmlns:r="http://schemas.openxmlformats.org/officeDocument/2006/relationships" id="263" r:id="Rcc1a44470a5b406c"/>
    <p:sldId xmlns:r="http://schemas.openxmlformats.org/officeDocument/2006/relationships" id="264" r:id="Rf6206406375f4922"/>
    <p:sldId xmlns:r="http://schemas.openxmlformats.org/officeDocument/2006/relationships" id="265" r:id="R2e323ab93fcc4e1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6220c67a2844d0" /><Relationship Type="http://schemas.openxmlformats.org/officeDocument/2006/relationships/slideMaster" Target="/ppt/slideMasters/slideMaster1.xml" Id="Ra160d014e22a4562" /><Relationship Type="http://schemas.openxmlformats.org/officeDocument/2006/relationships/notesMaster" Target="/ppt/notesMasters/notesMaster1.xml" Id="Rd2e43cd3831b499a" /><Relationship Type="http://schemas.openxmlformats.org/officeDocument/2006/relationships/presProps" Target="/ppt/presProps.xml" Id="R01ae12015fb74703" /><Relationship Type="http://schemas.openxmlformats.org/officeDocument/2006/relationships/viewProps" Target="/ppt/viewProps.xml" Id="Ra842f985eb324e2f" /><Relationship Type="http://schemas.openxmlformats.org/officeDocument/2006/relationships/tableStyles" Target="/ppt/tableStyles.xml" Id="R51f9e2de11a44578" /><Relationship Type="http://schemas.openxmlformats.org/officeDocument/2006/relationships/slide" Target="/ppt/slides/slide1.xml" Id="Raf837e43db51409b" /><Relationship Type="http://schemas.openxmlformats.org/officeDocument/2006/relationships/slide" Target="/ppt/slides/slide2.xml" Id="Rad72e6a366d447f1" /><Relationship Type="http://schemas.openxmlformats.org/officeDocument/2006/relationships/slide" Target="/ppt/slides/slide3.xml" Id="Re0202f85da964bd4" /><Relationship Type="http://schemas.openxmlformats.org/officeDocument/2006/relationships/slide" Target="/ppt/slides/slide4.xml" Id="R84d6e6faad9048eb" /><Relationship Type="http://schemas.openxmlformats.org/officeDocument/2006/relationships/slide" Target="/ppt/slides/slide5.xml" Id="Rad799f77a3ab420d" /><Relationship Type="http://schemas.openxmlformats.org/officeDocument/2006/relationships/slide" Target="/ppt/slides/slide6.xml" Id="R690ab79f4837429e" /><Relationship Type="http://schemas.openxmlformats.org/officeDocument/2006/relationships/slide" Target="/ppt/slides/slide7.xml" Id="R04f12c217319425f" /><Relationship Type="http://schemas.openxmlformats.org/officeDocument/2006/relationships/slide" Target="/ppt/slides/slide8.xml" Id="Rcc1a44470a5b406c" /><Relationship Type="http://schemas.openxmlformats.org/officeDocument/2006/relationships/slide" Target="/ppt/slides/slide9.xml" Id="Rf6206406375f4922" /><Relationship Type="http://schemas.openxmlformats.org/officeDocument/2006/relationships/slide" Target="/ppt/slides/slide10.xml" Id="R2e323ab93fcc4e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c947db51644a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0b8ed61732452e" /><Relationship Type="http://schemas.openxmlformats.org/officeDocument/2006/relationships/notesMaster" Target="/ppt/notesMasters/notesMaster1.xml" Id="R3a3013d901a149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23c4e324864fd5" /><Relationship Type="http://schemas.openxmlformats.org/officeDocument/2006/relationships/notesMaster" Target="/ppt/notesMasters/notesMaster1.xml" Id="Re1f1b67f148b49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ab37e607e34f3e" /><Relationship Type="http://schemas.openxmlformats.org/officeDocument/2006/relationships/notesMaster" Target="/ppt/notesMasters/notesMaster1.xml" Id="R09a33c248a674e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462e0016594562" /><Relationship Type="http://schemas.openxmlformats.org/officeDocument/2006/relationships/notesMaster" Target="/ppt/notesMasters/notesMaster1.xml" Id="Rfb064314509241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17915d84fd4153" /><Relationship Type="http://schemas.openxmlformats.org/officeDocument/2006/relationships/notesMaster" Target="/ppt/notesMasters/notesMaster1.xml" Id="R25765b260a6a42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718e04fc0040da" /><Relationship Type="http://schemas.openxmlformats.org/officeDocument/2006/relationships/notesMaster" Target="/ppt/notesMasters/notesMaster1.xml" Id="Rb8377a77360649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ffdcc18c5040d3" /><Relationship Type="http://schemas.openxmlformats.org/officeDocument/2006/relationships/notesMaster" Target="/ppt/notesMasters/notesMaster1.xml" Id="Ra0c618365c8243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f110206920439c" /><Relationship Type="http://schemas.openxmlformats.org/officeDocument/2006/relationships/notesMaster" Target="/ppt/notesMasters/notesMaster1.xml" Id="Ra27d8ad4289745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895739d0dd4ae1" /><Relationship Type="http://schemas.openxmlformats.org/officeDocument/2006/relationships/notesMaster" Target="/ppt/notesMasters/notesMaster1.xml" Id="R760b0df89379480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5de602d7ff4783" /><Relationship Type="http://schemas.openxmlformats.org/officeDocument/2006/relationships/notesMaster" Target="/ppt/notesMasters/notesMaster1.xml" Id="R2550ae461cb14e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6fe9c67c1047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61733042534343" /><Relationship Type="http://schemas.openxmlformats.org/officeDocument/2006/relationships/slideLayout" Target="/ppt/slideLayouts/slideLayout1.xml" Id="R32a0f5e3a50544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a0f5e3a50544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856efc7644ef6" /><Relationship Type="http://schemas.openxmlformats.org/officeDocument/2006/relationships/notesSlide" Target="/ppt/notesSlides/notesSlide1.xml" Id="Rdc819c4e08cc48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5425d7ab54ff0" /><Relationship Type="http://schemas.openxmlformats.org/officeDocument/2006/relationships/notesSlide" Target="/ppt/notesSlides/notesSlide2.xml" Id="Rf1f0e6f0f5d1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79e6ee5d74973" /><Relationship Type="http://schemas.openxmlformats.org/officeDocument/2006/relationships/notesSlide" Target="/ppt/notesSlides/notesSlide3.xml" Id="R1be6f41a00ae4b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db53a823d4632" /><Relationship Type="http://schemas.openxmlformats.org/officeDocument/2006/relationships/notesSlide" Target="/ppt/notesSlides/notesSlide4.xml" Id="R5bf55da9a71e4b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958a970514bad" /><Relationship Type="http://schemas.openxmlformats.org/officeDocument/2006/relationships/notesSlide" Target="/ppt/notesSlides/notesSlide5.xml" Id="Ra4834bcc87eb4c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8e28c73f842a0" /><Relationship Type="http://schemas.openxmlformats.org/officeDocument/2006/relationships/notesSlide" Target="/ppt/notesSlides/notesSlide6.xml" Id="Rb4d76406cc8c41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827c509c14d3b" /><Relationship Type="http://schemas.openxmlformats.org/officeDocument/2006/relationships/notesSlide" Target="/ppt/notesSlides/notesSlide7.xml" Id="R51b4e4c1371844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7eac0de754b07" /><Relationship Type="http://schemas.openxmlformats.org/officeDocument/2006/relationships/notesSlide" Target="/ppt/notesSlides/notesSlide8.xml" Id="R4e6043ae0c0e4d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805c24fc64a7b" /><Relationship Type="http://schemas.openxmlformats.org/officeDocument/2006/relationships/notesSlide" Target="/ppt/notesSlides/notesSlide9.xml" Id="Rf889a1d70f8640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4f5179f8b4404" /><Relationship Type="http://schemas.openxmlformats.org/officeDocument/2006/relationships/notesSlide" Target="/ppt/notesSlides/notesSlide10.xml" Id="Rb94a0c63335e49c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228D71-BF96-4C79-A7EC-3BB680B2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23D58-0C7E-4360-A78E-2720E1AD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DF595-826A-413F-BAEA-24B1E34C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BD5E1-2F74-4EEE-9CF4-659AEC8A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2724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CS608 Project 2 Proposal | June 3,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65388E-38B7-46DD-9F56-A0FCBDC9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B8913-8AF3-45E1-AD94-231E83A2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23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 promotion-aware grocery basket recommender for retail marketing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718B4-BB83-4141-AEE5-AE87D91B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Predict next-basket products, then decide which recommendations deserve promotion or coupon support.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A6FDF-F950-420D-9045-31ECD5BC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81BC2-BB88-45C0-BB51-A78EF64A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F3845-8574-4D34-8F55-C02160D9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28599-45A4-4503-9389-FBE59AFB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household-level shopping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820CA-6637-42D8-8D60-315B37B5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9E70EE-5D34-4BB7-AEC0-4EF236D5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71A8F3-04B5-4C69-9B74-2A52FB60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13443A-C5A5-4459-B774-A4C0ED81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rows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06B60B-F55B-410F-AE1A-0F822071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75B99C-088E-4F9F-B192-38E6A446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4E936A-FDB4-493F-ACCC-3B3A03BF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BB19F-D032-47BF-BFBE-71DFBBC5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large grocery catalog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412F3-61E6-424E-9822-A2D714EB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8441C8-8826-4866-9294-88A13452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Re-rank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9CD0FF-9DCA-402C-A0B2-6069CE49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X-factor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1AF767-3FE2-4D43-B392-36E7F2D7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 + coupon + cost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41C7F7-AB59-43BE-8F64-74A1F821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Presenter split: P1 dataset/problem/system setup | P2 methods/reranking/experiments/demo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5A8B93-41CD-439F-A697-66782F01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A5E908-D6D5-4A32-A924-6FA401F5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BA6D3D-6FA8-4C51-8A2B-C06190C2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215925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46DC3D-556E-443C-82E8-3870F264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559D6-5D8C-4049-A0EC-86C82778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39C43-BED8-4E51-8009-1E2BD830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RESEARCH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60A9C-D4EB-4CF2-9869-E39D3285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Can marketing context improve grocery recommendation trade-offs?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0C643-EA77-4C89-B35F-084E5E2E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 study whether promotion and coupon signals change relevance, utility proxy, and diversity under sparse observational retail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6E32C-04B5-47D0-92B9-A9FD611E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BD196-CCD8-4828-B2EE-66202FDA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Retail pain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5137A-059B-4679-87DA-95D66134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Couponing is often broad: discounts may be sent to households that would buy anyway, while high-potential items are missed.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93590-CF83-4697-9A05-242FF00F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B76E2-18CB-46FD-B70E-2EAA1CA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Recommendation task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E96BE2-9C30-4EE6-A152-F15FA3A5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Predict the next products each household is likely to buy from historical baskets and product metadata.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D62F86-48C0-44A2-86DC-84520597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C8E83A-C593-4A2A-8D8E-A4B440C4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Business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E0F59-0D0B-40BE-A486-974FE1CB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Re-rank candidates using promotion exposure, coupon eligibility, discount cost, and list diversity.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0FB52-4EB4-401F-A94E-1119142F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67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A9F5C0-F8D2-4A6F-94AC-E633DDC7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838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1B4804-C4FE-47EA-B843-4B8B7DAF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3B82C-D797-4F43-963A-A2F7465B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6722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thesis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B1E109-ED9F-4F86-9E67-F4C6F710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005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We will test whether a promotion-aware second stage improves business-oriented utility without unacceptable ranking loss.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09FCC9-5DF3-4C04-A394-E692F170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620D86-11E9-42DB-A6ED-E9DA45EF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C367CD-D5A5-4F00-875C-B200E5EE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11813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04F595-9BDC-4466-832A-B2B14B2C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12E53-6B24-403C-81E5-1C2A089A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72E91-0D17-4C62-8DCF-8CE81FEE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DATASET AND COLLECTION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2A5AE-5725-484C-A453-BCAEF295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Complete Journey gives us purchases plus marketing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7556F-76B8-416F-B580-6971F555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 will use public completejourney RDS/RDA artifacts already stored in the repository; the R extraction script documents reproducible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E4BC3-6F0D-4EB6-A13B-03EF8432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A0D9D-FCDC-4B89-BE1B-C6618B7D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C6E56-20AC-485C-BC4F-7C8C227A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80FA8-EA82-4DE0-85EF-79DC34BD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tracked for one year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62B5D-5334-4A0F-A51A-E55B1AD2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12413-6AEB-4F5D-999F-0C7063B0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0968B-4E17-47DA-A036-433781F7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A26669-E744-44FC-BEFE-853B9005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rows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4FB20D-CAE4-42A6-B6B9-7E0D4D8F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640F05-B070-4074-963C-5847BD18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92,331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C8E99-0C9F-4CBB-B081-8CBC9DFC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207E6-1852-4AFB-9EF3-E0926616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grocery catalog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5D126-9D90-4B46-B8C3-FAD73BC0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705DF-6B79-4B42-9A00-640AC57A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2,102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F3129E-D853-43A9-AA7C-7D68C4AF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redemptions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5F8B31-5B95-4A05-B164-49C7A3C3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sparse coupon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36084F-E8B1-4025-B25B-2E4A8AA2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65DF55-F614-4A27-992F-D1748A3B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rPr>
              <a:t>801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4A6E5F-75D5-49A4-99FA-58FC50C7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49F235-8F37-4670-BF96-99830445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partial profile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54C151-4E52-4833-AE6F-3F24FC35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0965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AC585E-DC6C-448C-BC9A-44FBFC3C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1094E8-50D1-40EA-8AD5-5ADDC31C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Core raw tables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F24849-5647-4817-858E-8A8A1275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 -&gt; products -&gt; promotions -&gt; campaigns -&gt; coupons -&gt; coupon_redemptions -&gt; demographics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EC69B2-85A6-4BC0-8A68-245A6DD8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Feature examples: household_id, basket_id, product_id, week, quantity, sales_value, retail/coupon discounts, department, category, brand, promotion exposure, campaign/coupon mapping, income/age/household size.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5C37B9-6266-4994-8D20-B9031A0C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This lets us explain what the dataset looks like before introducing recommendation models.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A2739C-DA63-4450-90D4-7972A0EA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668B05-225A-40EB-B0FA-962CB85C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F9F3AC-E5F9-40FD-9C4B-F19A6B09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5762354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208EF8-4144-4192-977A-7AC4323C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507A11-8F15-4989-9E2C-D41232D0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352E78-601D-4393-B7EB-FB143A17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PROBLEM DEFINITION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1FD34-7A26-4B7C-9725-914B26DD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Use past household behavior to predict future grocery products.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C20DB-27E4-4405-A2A0-52EDC26A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target is implicit feedback: a product is positive if a household buys it in the target period.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B8C4A-9E7E-4498-9EE9-3DF6323C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09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y(h,j,t) = 1 if household h buys product j in the target period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3B9AB-4130-4F5C-BCE5-9982F5C4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49F8C-A3FB-486A-9367-678E2AA9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12FC5-8D5A-4976-9E8C-538F85E3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1-40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Fit recommenders and train-window features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3A3E2-261F-49B3-AA45-6AA31BFB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E328A5-2C73-4FDC-B599-26E7B9C7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7D612-817F-4D9F-8744-54D6EE2D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41-46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Tune ALS/BPR and reranking weights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ADB0E-EEAE-48B2-8CB0-9214DF12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91977D-C8DF-401E-8736-514C3D2E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35BC06-9408-4C87-A25B-46E479EC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47-53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Final held-out reporting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F07EF-9ABE-4415-8180-E5CA7051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14775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91956D-6E58-4C7F-A22D-0CF30DEE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14775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555AC-DC5F-4263-AB8E-4BED1945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958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C73EB0-F044-49BD-9758-0E91A716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62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chronological split?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37526F-7376-4DB4-9AA5-0D371929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95875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 deployed recommender must use the past to predict the future. Random split would leak future shopping behavior into training.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B7FB05-7307-4003-ADA1-013E3D70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237FF6-2294-44FC-A391-D0ED2C61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7F3E59-7541-43E3-B2CE-DBD1FFC2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212326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A4DC4B-73E1-4F50-A1F3-B323392D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2E701-E0B3-4000-B1B2-75C1D3A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80F7C-E008-4C12-9988-108E9CD1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28798-78D3-431C-8408-6F1D3C4D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 is a two-stage recommender pipeline.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6DD029-B455-4D6D-ABAA-EE4DA098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first stage predicts likely products. The second stage turns those candidates into promotion-aware retail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A445EC-0D9C-4A8F-926B-C0936BEE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990B3-052E-4BF8-8370-F87A2221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Raw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C9134-2B7B-4F78-ABC4-BDB023A0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Transactions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Campaigns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151759-A21E-405A-A600-C662B7F2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E5516-EC7C-42A7-9206-32930940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Clean + split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24EA8-EB2F-40B3-A9C1-9A112F0A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Time split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Features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Leakage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C629D8-A67E-48A0-9528-530296DC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4AF593-679D-4B66-B578-0838D4FA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AB8156-AED5-4986-BF51-46635E6C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ALS/BPR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LightGCN bonus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D6188-51C5-49BD-BE25-006E6174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9A013-DFB9-4EA7-9232-43BBF798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Reranking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8B0E78-1218-4D9D-8FF1-D2B316B0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Discount cost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9F5182-0BC1-4909-A73D-8533C472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63145D-B6AB-4EEE-B4DF-6FAAEE11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9FBA6C-4917-4BBE-B164-EA87021C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Recall/NDCG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Coverage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Business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CDC748-439B-4916-842B-BD6F5C99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476500"/>
            <a:ext cx="13906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DFBCE7-6D68-49AB-836A-87D5C3B8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098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6918D4-8C57-4A90-9341-389DF3FD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95600"/>
            <a:ext cx="10858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 view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Top-10 products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Budget slider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5F3FF0-24A2-4A1F-B216-DA0876C4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1E9F16-EA26-408F-8831-5D849333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9DED3-AB64-4E01-992B-086C85B3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7A6E3-EF41-4844-BF79-27FFCBAF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5009F5-FAF8-46B1-B302-051E24FF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19E37A-9EDC-4BC3-A312-9108F396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990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Shared contract: every model emits raw household_id, product_id, base_score, model_name, and base_rank so downstream reranking and demo code stay stable.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E99F29-00DB-4ADD-85B0-521FA519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8A5087-0004-4D82-A11A-3DCAC9D0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A27DD9-8144-44E9-82D8-063AA018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454233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49701-39C7-4CAF-8FC3-F011BADB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FB1EA-BC01-4937-9810-1D461794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B5076-4514-4642-AA9A-28342F48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ALGORITHMS TO IMPLEMENT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C20CE-033E-41E5-A3BE-70BC23A9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We will compare grocery baselines against implicit-feedback recommenders.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4FC9F-7847-489E-AEB6-6835AB22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model ladder keeps the project complete even if bonus deep models take longer.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A2EA3-8719-42E4-8B63-68091AC0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97CD6-9D30-4861-ACB5-89BF5351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6703B-320E-43B1-B94B-AAB0EB15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ABFCC-340E-4A8F-82C5-EC165078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Category Popularity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F4D0B-65F8-45C1-BEF4-56C9C418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94F6A-7363-4D48-9924-A939E66F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A86B8-4793-46BC-BA8A-8B851223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Standard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2C04A2-E659-4575-AA2E-379C0CE5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BPR matrix factorization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ALS tuning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E9A49-D707-4D0B-A4A5-7D1CDDF7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1C5ABF-47E7-4EB0-873C-5F7D398A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68CE2F-5658-47B6-AB6A-3943FED6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56735B-748B-478C-B3E4-7F98D1A87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LightGCN via RecBole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Graph-based candidates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Sensitivity curves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3B750-1812-4DC0-B770-7CCF564B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98869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CA6E21-54C7-48ED-8889-46F3DD41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577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Library acknowledgements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D73313-AA49-442A-AB1A-37F4F317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BD148-BE6F-4B04-861B-C84D54EF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81550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for implicit-feedback ALS/BPR-style models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51DF7D-537F-4C82-8FB8-5AD17BD9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409DDC-6755-4069-B83E-D8BB9366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19675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if LightGCN is attempted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825086-E0B2-4ECE-93EF-57C8DF21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340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A2C88D-FB53-4525-A98A-2EC947BA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257800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Cornac as an optional course-aligned experiment framework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D4FCC5-DBD9-4383-8E53-53F3F0AA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E912F6-B843-45FB-A7FD-BAFCF993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759BE0-D340-4882-A987-561EBA05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859073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32975E-AFC1-4ECD-B9FA-E00E745B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9F940C-6FBC-4B6E-8830-DFFAFED7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A9ACA-616F-4AA7-9C87-3FB9B433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X-FACTOR: PROMOTION-AWARE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21238-2833-4E3E-A212-1F6FFC0E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second stage decides what is worth pushing.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CA290-B158-4C2D-829D-0BC12B8A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Base relevance stays central, but marketing signals and estimated discount cost shape the final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CDFAA-DC41-4767-9229-AD04A33F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1038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932FF1-D842-4D24-9EE7-77A3B8DE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90775"/>
            <a:ext cx="981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final_score = alpha * base + beta * promotion + gamma * coupon - lambda * discount_cost + rho * diversity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6A1B3-7D02-4F5F-A1C3-4C3E4943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7044F6-CA66-4342-B4CE-C321EC68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Base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FD259-0987-4D55-AA74-D79C8D45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Candidate relevance from ALS/BPR/other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5E7F2-BA1A-45B4-BE42-46F4F3F5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F51CE-4ECB-4245-B702-1EA8C53F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Promotion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35E1D-984A-4501-8794-668EDB77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Target-week product exposure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EFCB1-3EBF-45A2-A181-941C495F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547D1-E2A2-4EBE-BDB6-B3BE0A93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Coupon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91BF9-C521-4F84-9EA7-8CE2C084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Household/product campaign eligibility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B6CBE6-D4D2-4BA1-B4AC-965E118F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8D3C41-01EA-4656-876E-8046CC85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Discount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24CF7-DF46-4244-A43F-3C5DE974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Proxy from retail and coupon discounts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AA2843-671C-4F4F-BC5C-30FF28D3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76625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A6CABE-397E-4DD0-BED0-F737CC08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997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0CE06E-3114-4EC4-A3E6-7BEE0626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95725"/>
            <a:ext cx="1504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Avoid one-category recommendation lists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FD4B32-4E71-4FA8-B871-17376E7B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F2DBEF-697F-450A-BCEC-CC304611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7A9306-2A96-4467-9E96-1C50DDF5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EC9156-EB60-45DA-B11E-6178BEB8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BBDB97-0044-487D-BB78-A77DD6E0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76073F-7837-4025-9905-CB905768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A275C8-62AE-46C2-BD3D-E6A5382B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0175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Important wording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E9E7EE-94D5-42B1-AAE9-44AA832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43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This is an observational decision proxy, not causal coupon uplift or true profit, because margin and randomized treatment labels are unavailable.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575BD5-7CDE-43DD-92F3-4BF79D44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723241-6A4C-48F3-AFD0-2929F5CC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A414B2-294B-4905-A198-9C6495D5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178099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1EC17C-1211-4FD4-8FAF-AC2B9602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DFF7A-1006-487F-B1D1-88DC6149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805E3-7B8D-4F90-BA9A-0F27CFB9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RESEARCH QUESTIONS AND EXPERIMENTS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0E4F4E-7252-46F4-A373-1F0E6A24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We evaluate PromoMind as a recommender systems study.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353B6-51DC-454F-BD7A-F42C2E59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demo is the artifact; the research value comes from controlled model comparisons and reranking ablations.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C91E3-544B-4E69-A82B-D505A138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454B4-8ADA-488E-A0DB-E8648118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384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C79F3-0DB9-4D39-9B61-B9866CAD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05075"/>
            <a:ext cx="1533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E68CF-F2D8-466B-8C25-3E5E9529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86F26-A9BC-452A-94FE-558E2E11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RQ1: best grocery candidate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FF42-8225-41A6-9F88-D2FAD10A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43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978AF-2EA2-480E-8411-78DD5667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67075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RQ2: promotion/coupon signal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CBE6AA-DF00-491C-825B-E9FCE0F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576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C7CD0-A74F-4210-AD0F-C232E3A2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814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RQ3: discount-cost trade-off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21123-D8CE-4780-8895-E29EE200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719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E13A5C-298A-46CD-A382-57EADC54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95725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RQ4: diversity vs accuracy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D2E453-FA79-4A35-A88B-CAB59FD2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A42E4F-5127-4C6F-90B7-271BD351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384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CCC8AE-3447-4919-88D4-B60A0C24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5050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5C04DF-3185-48C6-99E9-F599F00C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9A140E-ABDD-44AE-BAEE-38996F31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952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Recall@10 / Recall@20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DA279B-AE60-46E7-935E-C247D20F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53A80F-EB3B-434C-A03A-7683BAD0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2385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NDCG@10 / NDCG@20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3D9672-795F-4797-A61E-D7B1137C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254298-74E7-4A6C-8B44-9C967822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5242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Coverage, diversity, novelty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5DBF0C-2F78-4443-B187-A43F7DCF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886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57603D-B9B9-4276-8C98-E0A87E19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100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405140-3228-4A1B-BEAD-EBFC0F94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9FBAC-8B94-4A00-A131-777CFB6A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384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305BBE-C174-45C1-9510-E7CBC26D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050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Ablations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3CFFE3-1304-41A2-B12C-EB340682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82B0C6-B408-486B-A0B9-58C6EF8A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52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Base only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6A5FF0-B02A-42C1-B6E1-4C642FFC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3A539B-E40A-485F-A618-73B932A6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385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Promotion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81C2AD-1CF3-4BE4-8644-08452C96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075EDF-C0AB-42C7-9C7E-5D3F40AF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242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Coupon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748FC8-6A9C-46EF-85B6-C4F28199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86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10328B-BCE3-4AEC-90C4-3FCE16B4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- Discount cost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2360C3-10C6-45FF-94CC-5D68F635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71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E73E61-D33A-4171-A4BD-78D7B40E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95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Diversity full rerank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E6ECF2-78DE-43E5-9CAC-97C9800B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10839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8A6CFEC-3652-41F1-812F-D0B70259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244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Guardrail: select reranking weights on validation with Business Utility@K, but keep Recall/NDCG degradation visible.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9B75AC-2C6D-4937-9146-8126BDC1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3145B5-522C-47D9-91FB-405841C6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723F98-C420-4B32-95C6-7E21B1F9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240066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E3B2ED-F52F-4A32-BC87-8C0F12F5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4982E-96A1-4C28-B42C-E034CDB9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A79FA-DD6C-49B8-A777-5307861B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RESEARCH CONTRIBUTION AND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8B4D3-09D6-463C-8E40-B4E5EAFA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demo visualizes the recommendation trade-offs.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F87E4-1221-42B3-9B8F-2108C68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Streamlit will show household context, ranked products, coupon flags, explanations, and budget behavior; evidence still comes from offline evaluation.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07F2-C300-4D59-9DBD-95A9B895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476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120CF-4E59-4725-8BBF-1D49229E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C698B-C712-42A2-8D9E-572A812C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0512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689FF-86F1-4A60-A4ED-8F0F928D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3847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EFE6D-78D8-4807-BE3E-CA3F78E5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24225"/>
            <a:ext cx="1695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Select household_id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74E003-6E42-4AEA-BE89-E71846C5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AF4CF-896C-4965-B636-B3001AF9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027416-C8D9-41C1-832B-31A647C4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33850"/>
            <a:ext cx="1695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 vs reranked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BB22CA-03EA-45EA-A4B8-F3A55E70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2437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E2F89-2EF4-41C8-B206-CE8EC83B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577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0A3162-03F2-4B76-99E1-11AA329F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43475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count or discount-cost limit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B81BE8-77B5-4597-B3ED-2333CC40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90750"/>
            <a:ext cx="7620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F4296-12A9-4AD6-9F96-E5190126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4A2F6-153F-491E-8B4A-4DE60240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05075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Top-10 recommendation 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37052-4B97-435E-8822-B86394E8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718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2EB29C-E73D-4933-B715-905419C0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72EBEB-DB41-4E8B-B258-F7FF448B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7180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7D52E2-62EF-4AE0-B079-D26B0352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718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DDC0FC-9C30-48CD-8203-9EE0A6C3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71800"/>
            <a:ext cx="1619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Reason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D774DF-7462-4FD8-814E-2136201E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575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5BACA9-E11F-4109-8AB4-811B30C0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147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DC952C-F8E7-4AD7-905D-7FE9B038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Candidate product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474642-EC90-467F-9408-6D7EC9EA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764B83-E6DD-492B-84A3-01021AFB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A0E9E8-E96E-4CC4-9FD2-31ACA61A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147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eligible; high ALS score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69EB41-FA74-4437-994F-D1B08741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6576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9585D7-4E95-47D3-97F5-F8C2B78A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B9620B-AAFB-4EDD-B1A1-25BD7936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B783CC-4F73-4D5B-A7AC-6133571E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147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 category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6874F3-9A6E-4589-928A-73E05B4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7DFF84-798A-405B-A2AE-FA7E144D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147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36350E-D2E6-4F20-AFB1-DFC3122F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0576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69399D-9273-4EC8-9ABA-F579DD86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148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66165F-0A5A-4B7A-9744-E4350D6D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BAEFFF-6AFB-4106-8367-293675E6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148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1760AB-FEB8-4881-BF94-16680E25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1480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14BBC6-A349-4AD1-A541-4DB96566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148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6EF5C3-CC13-4885-A57D-AE202233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28C15B-AD16-4509-A78D-1B120118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148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A43FCC-E0A5-48C1-A41D-71C4B209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148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E0790F-2C7A-4390-8568-EE2C19F6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148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840DFE-5137-4163-A431-FF5EC87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148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66530A-7C64-4408-8644-56B5AA5A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148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EC95E5-2BA2-40F6-AF95-6A2A7E08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1490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The budget slider changes coupon assignment, not the underlying Top-K relevance list unless clearly labeled.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5CD0944-7295-4537-A05F-C62EFD33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C4961C-A083-4A25-BA4E-CBB42D27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543243-CD11-49AC-8E16-940E80E6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147913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65BDD2-742B-406B-90BE-5691923A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72E72-E651-4185-9EC1-891621FB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CBCF3-7D9A-49DF-BA2B-D343EFBD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1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15"/>
                </a:solidFill>
                <a:latin typeface="Aptos"/>
                <a:ea typeface="Aptos"/>
                <a:cs typeface="Aptos"/>
              </a:rPr>
              <a:t>PLAN AND OWNERSHIP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C3D57-14A3-436F-9517-C8764CBB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main line is feasible; bonus models do not block project completeness.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A66AF-C3FF-4A41-AB3C-B4D22FFD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proposal is split between two presenters so the meeting can focus on questions.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6A577-0C30-4230-9DB7-D252A850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5143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68C7E-8A0E-4C87-BB5C-5742033E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Presenter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C021C-B2B9-473A-8930-7C12228A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4476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Slides 1-5: motivation, dataset choice, feature examples, recommendation task, time split, system setup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54B80-C53A-4C60-9782-D7C4B981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5143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1650A1-0A34-4705-92F4-0B3A0D26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76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Presenter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67B62-EDC9-4CD3-9988-0361993A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14650"/>
            <a:ext cx="4476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Slides 6-10: models, library acknowledgements, reranking design, experiments, demo, 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4F81C-C710-40DB-B1A2-ACC83233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5143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E60AA0-D84D-4344-8D4C-2223DFC9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6225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09C248-15B7-482F-B2BD-7D9F3612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529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Minimum delivery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49B9EC-2E08-4FE6-9888-F1CD7F93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15056A-F3E8-466B-AA7E-2D22FEDA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339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Chronological data split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CB4C94-5006-479A-8C2B-80463E9B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1036E-F452-4B84-A028-57048900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 + ALS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50B171-59A2-42BA-BAE9-90855359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9EBAD8-99E8-4B63-82E4-78DB2F22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911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Promotion-aware reranking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4982E1-D59E-4BA7-BA3D-F454CCEF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959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97E024-FE24-4D5A-A999-46590D19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97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FCBC0B-A861-4744-A585-819F0610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245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F5C008-A670-404F-BA36-DE61AA60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48300"/>
            <a:ext cx="4210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Streamlit demo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03E89-66A0-4CD1-BAA0-0C3D8AA8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5143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8B7187-32F6-432B-8AE0-9B66AED6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86225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2CC481-E70C-454E-82EE-D5195648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529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Risks controlled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69FC0D-DE65-4547-AF87-05253691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101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81FEFB-0147-428D-ABE8-F9036B40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339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Coupon redemption is sparse: auxiliary signal 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9F06DD-B908-4562-84A1-59D01DAF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38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44C147-469D-4475-A673-B055D385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7625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 are partial: optional analysis/demo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9511B3-0D40-46ED-9675-06BC78C7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67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9E88CD-5411-4021-A395-28F4C70C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911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No margin data: use proxy, not profit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545360-9984-487F-A310-488FF229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959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0A917F-8FD4-40DF-AB3A-02F7D144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19700"/>
            <a:ext cx="43053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LightGCN is bonus, not blocker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45C1A-63A9-4BCB-B51D-B509C257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6265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Feedback wanted: chronological split, reranking proxy, and evaluation scope.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71E1F3-F375-41DE-B355-B08DE036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FAE73A-C0EC-4E86-ACD6-D37E85C7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A700AB-C3BC-4270-8F54-852F5CC6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4380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2026-06-02T08:52:19.6730000Z</dcterms:created>
  <dcterms:modified xsi:type="dcterms:W3CDTF">2026-06-02T08:52:19.6730000Z</dcterms:modified>
</coreProperties>
</file>